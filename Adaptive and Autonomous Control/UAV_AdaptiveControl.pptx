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355" r:id="rId6"/>
    <p:sldId id="257" r:id="rId7"/>
    <p:sldId id="294" r:id="rId8"/>
    <p:sldId id="295" r:id="rId9"/>
    <p:sldId id="296" r:id="rId10"/>
    <p:sldId id="258" r:id="rId11"/>
    <p:sldId id="259" r:id="rId12"/>
    <p:sldId id="311" r:id="rId13"/>
    <p:sldId id="312" r:id="rId14"/>
    <p:sldId id="354" r:id="rId15"/>
    <p:sldId id="313" r:id="rId16"/>
    <p:sldId id="314" r:id="rId17"/>
    <p:sldId id="316" r:id="rId18"/>
    <p:sldId id="317" r:id="rId19"/>
    <p:sldId id="321" r:id="rId20"/>
    <p:sldId id="320" r:id="rId21"/>
    <p:sldId id="318" r:id="rId22"/>
    <p:sldId id="323" r:id="rId23"/>
    <p:sldId id="322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4" r:id="rId34"/>
    <p:sldId id="335" r:id="rId35"/>
    <p:sldId id="336" r:id="rId36"/>
    <p:sldId id="333" r:id="rId37"/>
    <p:sldId id="315" r:id="rId38"/>
    <p:sldId id="338" r:id="rId39"/>
    <p:sldId id="337" r:id="rId40"/>
    <p:sldId id="340" r:id="rId41"/>
    <p:sldId id="339" r:id="rId42"/>
    <p:sldId id="341" r:id="rId43"/>
    <p:sldId id="342" r:id="rId44"/>
    <p:sldId id="352" r:id="rId45"/>
    <p:sldId id="347" r:id="rId46"/>
    <p:sldId id="344" r:id="rId47"/>
    <p:sldId id="346" r:id="rId48"/>
    <p:sldId id="348" r:id="rId49"/>
    <p:sldId id="343" r:id="rId50"/>
    <p:sldId id="349" r:id="rId51"/>
    <p:sldId id="350" r:id="rId52"/>
    <p:sldId id="351" r:id="rId53"/>
    <p:sldId id="284" r:id="rId54"/>
  </p:sldIdLst>
  <p:sldSz cx="12192000" cy="6858000"/>
  <p:notesSz cx="6858000" cy="9144000"/>
  <p:embeddedFontLst>
    <p:embeddedFont>
      <p:font typeface="Aptos Narrow" panose="020B0004020202020204" pitchFamily="34" charset="0"/>
      <p:regular r:id="rId56"/>
      <p:bold r:id="rId57"/>
      <p:italic r:id="rId58"/>
      <p:boldItalic r:id="rId59"/>
    </p:embeddedFont>
    <p:embeddedFont>
      <p:font typeface="Arial Black" panose="020B0A04020102020204" pitchFamily="34" charset="0"/>
      <p:regular r:id="rId60"/>
      <p:bold r:id="rId61"/>
    </p:embeddedFont>
    <p:embeddedFont>
      <p:font typeface="Cambria Math" panose="02040503050406030204" pitchFamily="18" charset="0"/>
      <p:regular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hQ1xXRAqFcrv9UOBD5WSIIojR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2A3D8-1A35-4604-B48B-970832C88DA9}" v="5827" dt="2026-02-11T18:12:32.152"/>
  </p1510:revLst>
</p1510:revInfo>
</file>

<file path=ppt/tableStyles.xml><?xml version="1.0" encoding="utf-8"?>
<a:tblStyleLst xmlns:a="http://schemas.openxmlformats.org/drawingml/2006/main" def="{646D11E4-C3FA-4688-95FB-FC74C53831E7}">
  <a:tblStyle styleId="{646D11E4-C3FA-4688-95FB-FC74C53831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3.fntdata"/><Relationship Id="rId74" Type="http://customschemas.google.com/relationships/presentationmetadata" Target="metadata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font" Target="fonts/font6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1.fntdata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7.fntdata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5.fntdata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image" Target="../media/image240.png"/><Relationship Id="rId4" Type="http://schemas.openxmlformats.org/officeDocument/2006/relationships/image" Target="../media/image2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EE271D-92FE-4198-A027-04F08A5C25A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DD88E17-8B84-4E42-9A50-0FAD57FD4932}">
          <dgm:prSet phldrT="[Texto]" phldr="0"/>
          <dgm:spPr/>
          <dgm:t>
            <a:bodyPr/>
            <a:lstStyle/>
            <a:p>
              <a:r>
                <a:rPr lang="en-US" b="1" noProof="0" dirty="0"/>
                <a:t>Attitude Control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 ≈3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−5 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</m:oMath>
                </m:oMathPara>
              </a14:m>
              <a:endParaRPr lang="en-US" noProof="0" dirty="0"/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tt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0.2 </m:t>
                    </m:r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m:oMathPara>
              </a14:m>
              <a:endParaRPr lang="en-US" noProof="0" dirty="0"/>
            </a:p>
            <a:p>
              <a:endParaRPr lang="en-US" noProof="0" dirty="0"/>
            </a:p>
          </dgm:t>
        </dgm:pt>
      </mc:Choice>
      <mc:Fallback xmlns="">
        <dgm:pt modelId="{EDD88E17-8B84-4E42-9A50-0FAD57FD4932}">
          <dgm:prSet phldrT="[Texto]" phldr="0"/>
          <dgm:spPr/>
          <dgm:t>
            <a:bodyPr/>
            <a:lstStyle/>
            <a:p>
              <a:r>
                <a:rPr lang="en-US" b="1" noProof="0" dirty="0"/>
                <a:t>Attitude Control</a:t>
              </a:r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𝜏_𝑎𝑡𝑡   ≈3〖−5 𝜏〗_𝑎𝑐𝑡</a:t>
              </a:r>
              <a:endParaRPr lang="en-US" noProof="0" dirty="0"/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𝜏_𝑎tt</a:t>
              </a:r>
              <a:r>
                <a:rPr lang="en-US" b="0" i="0" noProof="0">
                  <a:latin typeface="Cambria Math" panose="02040503050406030204" pitchFamily="18" charset="0"/>
                  <a:ea typeface="Cambria Math" panose="02040503050406030204" pitchFamily="18" charset="0"/>
                </a:rPr>
                <a:t>≈ 0.2 s</a:t>
              </a:r>
              <a:endParaRPr lang="en-US" noProof="0" dirty="0"/>
            </a:p>
            <a:p>
              <a:endParaRPr lang="en-US" noProof="0" dirty="0"/>
            </a:p>
          </dgm:t>
        </dgm:pt>
      </mc:Fallback>
    </mc:AlternateContent>
    <dgm:pt modelId="{77402F19-039A-4868-9E36-024F13AF8915}" type="parTrans" cxnId="{6B0D52EC-B242-4D5F-AA04-923B41D24521}">
      <dgm:prSet/>
      <dgm:spPr/>
      <dgm:t>
        <a:bodyPr/>
        <a:lstStyle/>
        <a:p>
          <a:endParaRPr lang="en-US"/>
        </a:p>
      </dgm:t>
    </dgm:pt>
    <dgm:pt modelId="{8730B103-F8BE-41B5-843F-E18103C00DA8}" type="sibTrans" cxnId="{6B0D52EC-B242-4D5F-AA04-923B41D24521}">
      <dgm:prSet/>
      <dgm:spPr/>
      <dgm:t>
        <a:bodyPr/>
        <a:lstStyle/>
        <a:p>
          <a:endParaRPr lang="en-US" dirty="0"/>
        </a:p>
      </dgm:t>
    </dgm:pt>
    <mc:AlternateContent xmlns:mc="http://schemas.openxmlformats.org/markup-compatibility/2006" xmlns:a14="http://schemas.microsoft.com/office/drawing/2010/main">
      <mc:Choice Requires="a14">
        <dgm:pt modelId="{E1D54395-0789-45F2-9FF4-C6C1A7D8DBAE}">
          <dgm:prSet phldrT="[Texto]" phldr="0"/>
          <dgm:spPr/>
          <dgm:t>
            <a:bodyPr/>
            <a:lstStyle/>
            <a:p>
              <a:r>
                <a:rPr lang="en-US" b="1" noProof="0" dirty="0"/>
                <a:t>Velocity Control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vel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 ≈3−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tt</m:t>
                        </m:r>
                      </m:sub>
                    </m:sSub>
                  </m:oMath>
                </m:oMathPara>
              </a14:m>
              <a:endParaRPr lang="en-US" noProof="0" dirty="0"/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vel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0.6 </m:t>
                    </m:r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m:oMathPara>
              </a14:m>
              <a:endParaRPr lang="en-US" noProof="0" dirty="0"/>
            </a:p>
            <a:p>
              <a:endParaRPr lang="en-US" noProof="0" dirty="0"/>
            </a:p>
          </dgm:t>
        </dgm:pt>
      </mc:Choice>
      <mc:Fallback xmlns="">
        <dgm:pt modelId="{E1D54395-0789-45F2-9FF4-C6C1A7D8DBAE}">
          <dgm:prSet phldrT="[Texto]" phldr="0"/>
          <dgm:spPr/>
          <dgm:t>
            <a:bodyPr/>
            <a:lstStyle/>
            <a:p>
              <a:r>
                <a:rPr lang="en-US" b="1" noProof="0" dirty="0"/>
                <a:t>Velocity Control</a:t>
              </a:r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𝜏_vel   ≈3−〖5 𝜏〗_𝑎tt</a:t>
              </a:r>
              <a:endParaRPr lang="en-US" noProof="0" dirty="0"/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𝜏_vel</a:t>
              </a:r>
              <a:r>
                <a:rPr lang="en-US" b="0" i="0" noProof="0">
                  <a:latin typeface="Cambria Math" panose="02040503050406030204" pitchFamily="18" charset="0"/>
                  <a:ea typeface="Cambria Math" panose="02040503050406030204" pitchFamily="18" charset="0"/>
                </a:rPr>
                <a:t>≈ 0.6 s</a:t>
              </a:r>
              <a:endParaRPr lang="en-US" noProof="0" dirty="0"/>
            </a:p>
            <a:p>
              <a:endParaRPr lang="en-US" noProof="0" dirty="0"/>
            </a:p>
          </dgm:t>
        </dgm:pt>
      </mc:Fallback>
    </mc:AlternateContent>
    <dgm:pt modelId="{928CE8D2-BEFA-4008-99D5-45F454870D48}" type="parTrans" cxnId="{21F73B09-6615-4624-BCCF-1887B90494C5}">
      <dgm:prSet/>
      <dgm:spPr/>
      <dgm:t>
        <a:bodyPr/>
        <a:lstStyle/>
        <a:p>
          <a:endParaRPr lang="en-US"/>
        </a:p>
      </dgm:t>
    </dgm:pt>
    <dgm:pt modelId="{417DF2BC-F546-4633-9C9A-210FC69ACC6E}" type="sibTrans" cxnId="{21F73B09-6615-4624-BCCF-1887B90494C5}">
      <dgm:prSet/>
      <dgm:spPr/>
      <dgm:t>
        <a:bodyPr/>
        <a:lstStyle/>
        <a:p>
          <a:endParaRPr lang="en-US" dirty="0"/>
        </a:p>
      </dgm:t>
    </dgm:pt>
    <mc:AlternateContent xmlns:mc="http://schemas.openxmlformats.org/markup-compatibility/2006" xmlns:a14="http://schemas.microsoft.com/office/drawing/2010/main">
      <mc:Choice Requires="a14">
        <dgm:pt modelId="{D62733B0-485C-451C-BE2B-BF25A098ED34}">
          <dgm:prSet phldrT="[Texto]" phldr="0"/>
          <dgm:spPr/>
          <dgm:t>
            <a:bodyPr/>
            <a:lstStyle/>
            <a:p>
              <a:r>
                <a:rPr lang="en-US" b="1" noProof="0" dirty="0"/>
                <a:t>Position Control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pos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 ≈3−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vel</m:t>
                        </m:r>
                      </m:sub>
                    </m:sSub>
                  </m:oMath>
                </m:oMathPara>
              </a14:m>
              <a:endParaRPr lang="en-US" noProof="0" dirty="0"/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pos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2 </m:t>
                    </m:r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m:oMathPara>
              </a14:m>
              <a:endParaRPr lang="en-US" noProof="0" dirty="0"/>
            </a:p>
            <a:p>
              <a:endParaRPr lang="en-US" noProof="0" dirty="0"/>
            </a:p>
          </dgm:t>
        </dgm:pt>
      </mc:Choice>
      <mc:Fallback xmlns="">
        <dgm:pt modelId="{D62733B0-485C-451C-BE2B-BF25A098ED34}">
          <dgm:prSet phldrT="[Texto]" phldr="0"/>
          <dgm:spPr/>
          <dgm:t>
            <a:bodyPr/>
            <a:lstStyle/>
            <a:p>
              <a:r>
                <a:rPr lang="en-US" b="1" noProof="0" dirty="0"/>
                <a:t>Position Control</a:t>
              </a:r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𝜏_pos   ≈3−〖5 𝜏〗_vel</a:t>
              </a:r>
              <a:endParaRPr lang="en-US" noProof="0" dirty="0"/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𝜏_pos</a:t>
              </a:r>
              <a:r>
                <a:rPr lang="en-US" b="0" i="0" noProof="0">
                  <a:latin typeface="Cambria Math" panose="02040503050406030204" pitchFamily="18" charset="0"/>
                  <a:ea typeface="Cambria Math" panose="02040503050406030204" pitchFamily="18" charset="0"/>
                </a:rPr>
                <a:t>≈ 2 s</a:t>
              </a:r>
              <a:endParaRPr lang="en-US" noProof="0" dirty="0"/>
            </a:p>
            <a:p>
              <a:endParaRPr lang="en-US" noProof="0" dirty="0"/>
            </a:p>
          </dgm:t>
        </dgm:pt>
      </mc:Fallback>
    </mc:AlternateContent>
    <dgm:pt modelId="{FD287101-DE98-4B4C-B37C-205923ED7932}" type="parTrans" cxnId="{ECAF9AFE-E250-4C5B-BE3C-CA80A74E55F6}">
      <dgm:prSet/>
      <dgm:spPr/>
      <dgm:t>
        <a:bodyPr/>
        <a:lstStyle/>
        <a:p>
          <a:endParaRPr lang="en-US"/>
        </a:p>
      </dgm:t>
    </dgm:pt>
    <dgm:pt modelId="{628CC52A-14AB-4E03-BDAD-BBA3BE5C5065}" type="sibTrans" cxnId="{ECAF9AFE-E250-4C5B-BE3C-CA80A74E55F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95E2440-5C17-447C-8E78-A901DD561FB0}">
          <dgm:prSet/>
          <dgm:spPr/>
          <dgm:t>
            <a:bodyPr/>
            <a:lstStyle/>
            <a:p>
              <a:r>
                <a:rPr lang="en-US" b="1" noProof="0" dirty="0"/>
                <a:t>Actuator Dynamics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m:oMathPara>
              </a14:m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</dgm:t>
        </dgm:pt>
      </mc:Choice>
      <mc:Fallback xmlns="">
        <dgm:pt modelId="{595E2440-5C17-447C-8E78-A901DD561FB0}">
          <dgm:prSet/>
          <dgm:spPr/>
          <dgm:t>
            <a:bodyPr/>
            <a:lstStyle/>
            <a:p>
              <a:r>
                <a:rPr lang="en-US" b="1" noProof="0" dirty="0"/>
                <a:t>Actuator Dynamics</a:t>
              </a:r>
            </a:p>
            <a:p>
              <a:pPr/>
              <a:r>
                <a:rPr lang="en-US" b="0" i="0" noProof="0">
                  <a:latin typeface="Cambria Math" panose="02040503050406030204" pitchFamily="18" charset="0"/>
                </a:rPr>
                <a:t>𝜏_𝑎ct</a:t>
              </a:r>
              <a:r>
                <a:rPr lang="en-US" b="0" i="0" noProof="0">
                  <a:latin typeface="Cambria Math" panose="02040503050406030204" pitchFamily="18" charset="0"/>
                  <a:ea typeface="Cambria Math" panose="02040503050406030204" pitchFamily="18" charset="0"/>
                </a:rPr>
                <a:t>=0.05𝑠</a:t>
              </a:r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</dgm:t>
        </dgm:pt>
      </mc:Fallback>
    </mc:AlternateContent>
    <dgm:pt modelId="{01AFC18A-2B47-4852-8C77-F143CEA0C1F2}" type="parTrans" cxnId="{C53C1245-C111-40BA-90DD-4CE4C5E49EF9}">
      <dgm:prSet/>
      <dgm:spPr/>
      <dgm:t>
        <a:bodyPr/>
        <a:lstStyle/>
        <a:p>
          <a:endParaRPr lang="en-US"/>
        </a:p>
      </dgm:t>
    </dgm:pt>
    <dgm:pt modelId="{64CEC80E-4B79-4475-9E1A-BD334FE50EC7}" type="sibTrans" cxnId="{C53C1245-C111-40BA-90DD-4CE4C5E49EF9}">
      <dgm:prSet/>
      <dgm:spPr/>
      <dgm:t>
        <a:bodyPr/>
        <a:lstStyle/>
        <a:p>
          <a:endParaRPr lang="en-US" dirty="0"/>
        </a:p>
      </dgm:t>
    </dgm:pt>
    <dgm:pt modelId="{AAAE5541-C628-4194-BAC0-D55CE3900C7C}" type="pres">
      <dgm:prSet presAssocID="{43EE271D-92FE-4198-A027-04F08A5C25A6}" presName="Name0" presStyleCnt="0">
        <dgm:presLayoutVars>
          <dgm:dir/>
          <dgm:resizeHandles val="exact"/>
        </dgm:presLayoutVars>
      </dgm:prSet>
      <dgm:spPr/>
    </dgm:pt>
    <dgm:pt modelId="{9E513CD0-60F0-4201-B98B-6F54DCBE569C}" type="pres">
      <dgm:prSet presAssocID="{595E2440-5C17-447C-8E78-A901DD561FB0}" presName="node" presStyleLbl="node1" presStyleIdx="0" presStyleCnt="4" custLinFactNeighborX="-93436" custLinFactNeighborY="4971">
        <dgm:presLayoutVars>
          <dgm:bulletEnabled val="1"/>
        </dgm:presLayoutVars>
      </dgm:prSet>
      <dgm:spPr/>
    </dgm:pt>
    <dgm:pt modelId="{1590FFFF-5DE1-4F53-A12D-15A20F09C535}" type="pres">
      <dgm:prSet presAssocID="{64CEC80E-4B79-4475-9E1A-BD334FE50EC7}" presName="sibTrans" presStyleLbl="sibTrans2D1" presStyleIdx="0" presStyleCnt="3"/>
      <dgm:spPr/>
    </dgm:pt>
    <dgm:pt modelId="{060657A4-DB7A-41BE-AF3F-4C3984D8D74B}" type="pres">
      <dgm:prSet presAssocID="{64CEC80E-4B79-4475-9E1A-BD334FE50EC7}" presName="connectorText" presStyleLbl="sibTrans2D1" presStyleIdx="0" presStyleCnt="3"/>
      <dgm:spPr/>
    </dgm:pt>
    <dgm:pt modelId="{2BE12F34-5FF3-4F84-8DE5-66FD680D8E88}" type="pres">
      <dgm:prSet presAssocID="{EDD88E17-8B84-4E42-9A50-0FAD57FD4932}" presName="node" presStyleLbl="node1" presStyleIdx="1" presStyleCnt="4">
        <dgm:presLayoutVars>
          <dgm:bulletEnabled val="1"/>
        </dgm:presLayoutVars>
      </dgm:prSet>
      <dgm:spPr/>
    </dgm:pt>
    <dgm:pt modelId="{30B07884-3CC1-44D3-A344-FFA81B9EAF5A}" type="pres">
      <dgm:prSet presAssocID="{8730B103-F8BE-41B5-843F-E18103C00DA8}" presName="sibTrans" presStyleLbl="sibTrans2D1" presStyleIdx="1" presStyleCnt="3"/>
      <dgm:spPr/>
    </dgm:pt>
    <dgm:pt modelId="{0B3C2C55-0E94-4B79-8010-74FEA91264DB}" type="pres">
      <dgm:prSet presAssocID="{8730B103-F8BE-41B5-843F-E18103C00DA8}" presName="connectorText" presStyleLbl="sibTrans2D1" presStyleIdx="1" presStyleCnt="3"/>
      <dgm:spPr/>
    </dgm:pt>
    <dgm:pt modelId="{A6B388A9-952D-4FE1-9ED3-D11A7044BAFA}" type="pres">
      <dgm:prSet presAssocID="{E1D54395-0789-45F2-9FF4-C6C1A7D8DBAE}" presName="node" presStyleLbl="node1" presStyleIdx="2" presStyleCnt="4">
        <dgm:presLayoutVars>
          <dgm:bulletEnabled val="1"/>
        </dgm:presLayoutVars>
      </dgm:prSet>
      <dgm:spPr/>
    </dgm:pt>
    <dgm:pt modelId="{DF0CF610-FF65-4308-94BA-C30484CB77FD}" type="pres">
      <dgm:prSet presAssocID="{417DF2BC-F546-4633-9C9A-210FC69ACC6E}" presName="sibTrans" presStyleLbl="sibTrans2D1" presStyleIdx="2" presStyleCnt="3"/>
      <dgm:spPr/>
    </dgm:pt>
    <dgm:pt modelId="{3ACD46C2-E308-4709-A79C-6A507BDF64EB}" type="pres">
      <dgm:prSet presAssocID="{417DF2BC-F546-4633-9C9A-210FC69ACC6E}" presName="connectorText" presStyleLbl="sibTrans2D1" presStyleIdx="2" presStyleCnt="3"/>
      <dgm:spPr/>
    </dgm:pt>
    <dgm:pt modelId="{3154D7AD-0164-4A9C-9E02-1F72C5F255E3}" type="pres">
      <dgm:prSet presAssocID="{D62733B0-485C-451C-BE2B-BF25A098ED34}" presName="node" presStyleLbl="node1" presStyleIdx="3" presStyleCnt="4">
        <dgm:presLayoutVars>
          <dgm:bulletEnabled val="1"/>
        </dgm:presLayoutVars>
      </dgm:prSet>
      <dgm:spPr/>
    </dgm:pt>
  </dgm:ptLst>
  <dgm:cxnLst>
    <dgm:cxn modelId="{21F73B09-6615-4624-BCCF-1887B90494C5}" srcId="{43EE271D-92FE-4198-A027-04F08A5C25A6}" destId="{E1D54395-0789-45F2-9FF4-C6C1A7D8DBAE}" srcOrd="2" destOrd="0" parTransId="{928CE8D2-BEFA-4008-99D5-45F454870D48}" sibTransId="{417DF2BC-F546-4633-9C9A-210FC69ACC6E}"/>
    <dgm:cxn modelId="{2D687024-2BF6-4708-9A7B-45DF5AA9A3BE}" type="presOf" srcId="{64CEC80E-4B79-4475-9E1A-BD334FE50EC7}" destId="{1590FFFF-5DE1-4F53-A12D-15A20F09C535}" srcOrd="0" destOrd="0" presId="urn:microsoft.com/office/officeart/2005/8/layout/process1"/>
    <dgm:cxn modelId="{06151836-06E4-4CAF-A2D9-F98F6301AB83}" type="presOf" srcId="{E1D54395-0789-45F2-9FF4-C6C1A7D8DBAE}" destId="{A6B388A9-952D-4FE1-9ED3-D11A7044BAFA}" srcOrd="0" destOrd="0" presId="urn:microsoft.com/office/officeart/2005/8/layout/process1"/>
    <dgm:cxn modelId="{4B9AB361-581B-4090-B5CD-2FC6C8091DDA}" type="presOf" srcId="{417DF2BC-F546-4633-9C9A-210FC69ACC6E}" destId="{DF0CF610-FF65-4308-94BA-C30484CB77FD}" srcOrd="0" destOrd="0" presId="urn:microsoft.com/office/officeart/2005/8/layout/process1"/>
    <dgm:cxn modelId="{C53C1245-C111-40BA-90DD-4CE4C5E49EF9}" srcId="{43EE271D-92FE-4198-A027-04F08A5C25A6}" destId="{595E2440-5C17-447C-8E78-A901DD561FB0}" srcOrd="0" destOrd="0" parTransId="{01AFC18A-2B47-4852-8C77-F143CEA0C1F2}" sibTransId="{64CEC80E-4B79-4475-9E1A-BD334FE50EC7}"/>
    <dgm:cxn modelId="{15B29368-5280-4A1E-882D-03E5B47D79DD}" type="presOf" srcId="{417DF2BC-F546-4633-9C9A-210FC69ACC6E}" destId="{3ACD46C2-E308-4709-A79C-6A507BDF64EB}" srcOrd="1" destOrd="0" presId="urn:microsoft.com/office/officeart/2005/8/layout/process1"/>
    <dgm:cxn modelId="{C7ED036B-6A58-42F4-A3DE-68A5E4024CF5}" type="presOf" srcId="{8730B103-F8BE-41B5-843F-E18103C00DA8}" destId="{0B3C2C55-0E94-4B79-8010-74FEA91264DB}" srcOrd="1" destOrd="0" presId="urn:microsoft.com/office/officeart/2005/8/layout/process1"/>
    <dgm:cxn modelId="{4073FD52-7CFA-4EA5-97B7-C56B327AA031}" type="presOf" srcId="{EDD88E17-8B84-4E42-9A50-0FAD57FD4932}" destId="{2BE12F34-5FF3-4F84-8DE5-66FD680D8E88}" srcOrd="0" destOrd="0" presId="urn:microsoft.com/office/officeart/2005/8/layout/process1"/>
    <dgm:cxn modelId="{9DA90E77-7851-4C0F-9470-FFECDAAFC36D}" type="presOf" srcId="{64CEC80E-4B79-4475-9E1A-BD334FE50EC7}" destId="{060657A4-DB7A-41BE-AF3F-4C3984D8D74B}" srcOrd="1" destOrd="0" presId="urn:microsoft.com/office/officeart/2005/8/layout/process1"/>
    <dgm:cxn modelId="{3A5994AA-1248-4ADF-8646-6ECEB4270CDC}" type="presOf" srcId="{D62733B0-485C-451C-BE2B-BF25A098ED34}" destId="{3154D7AD-0164-4A9C-9E02-1F72C5F255E3}" srcOrd="0" destOrd="0" presId="urn:microsoft.com/office/officeart/2005/8/layout/process1"/>
    <dgm:cxn modelId="{CED6E5AB-6454-4402-9639-DBC6A9B8D8D2}" type="presOf" srcId="{595E2440-5C17-447C-8E78-A901DD561FB0}" destId="{9E513CD0-60F0-4201-B98B-6F54DCBE569C}" srcOrd="0" destOrd="0" presId="urn:microsoft.com/office/officeart/2005/8/layout/process1"/>
    <dgm:cxn modelId="{9510AFC0-8915-49D8-88FC-0FD96E3ED914}" type="presOf" srcId="{8730B103-F8BE-41B5-843F-E18103C00DA8}" destId="{30B07884-3CC1-44D3-A344-FFA81B9EAF5A}" srcOrd="0" destOrd="0" presId="urn:microsoft.com/office/officeart/2005/8/layout/process1"/>
    <dgm:cxn modelId="{9F3520D4-4CB4-442F-A89F-178BF20C1ACF}" type="presOf" srcId="{43EE271D-92FE-4198-A027-04F08A5C25A6}" destId="{AAAE5541-C628-4194-BAC0-D55CE3900C7C}" srcOrd="0" destOrd="0" presId="urn:microsoft.com/office/officeart/2005/8/layout/process1"/>
    <dgm:cxn modelId="{6B0D52EC-B242-4D5F-AA04-923B41D24521}" srcId="{43EE271D-92FE-4198-A027-04F08A5C25A6}" destId="{EDD88E17-8B84-4E42-9A50-0FAD57FD4932}" srcOrd="1" destOrd="0" parTransId="{77402F19-039A-4868-9E36-024F13AF8915}" sibTransId="{8730B103-F8BE-41B5-843F-E18103C00DA8}"/>
    <dgm:cxn modelId="{ECAF9AFE-E250-4C5B-BE3C-CA80A74E55F6}" srcId="{43EE271D-92FE-4198-A027-04F08A5C25A6}" destId="{D62733B0-485C-451C-BE2B-BF25A098ED34}" srcOrd="3" destOrd="0" parTransId="{FD287101-DE98-4B4C-B37C-205923ED7932}" sibTransId="{628CC52A-14AB-4E03-BDAD-BBA3BE5C5065}"/>
    <dgm:cxn modelId="{B43CCDED-F64D-45D5-BA32-ACFF0252D1B2}" type="presParOf" srcId="{AAAE5541-C628-4194-BAC0-D55CE3900C7C}" destId="{9E513CD0-60F0-4201-B98B-6F54DCBE569C}" srcOrd="0" destOrd="0" presId="urn:microsoft.com/office/officeart/2005/8/layout/process1"/>
    <dgm:cxn modelId="{CE7AEEDD-D5D2-42CB-A8D9-BF4D383DF126}" type="presParOf" srcId="{AAAE5541-C628-4194-BAC0-D55CE3900C7C}" destId="{1590FFFF-5DE1-4F53-A12D-15A20F09C535}" srcOrd="1" destOrd="0" presId="urn:microsoft.com/office/officeart/2005/8/layout/process1"/>
    <dgm:cxn modelId="{30D369F9-E62E-48C4-AE72-CAE921B265B7}" type="presParOf" srcId="{1590FFFF-5DE1-4F53-A12D-15A20F09C535}" destId="{060657A4-DB7A-41BE-AF3F-4C3984D8D74B}" srcOrd="0" destOrd="0" presId="urn:microsoft.com/office/officeart/2005/8/layout/process1"/>
    <dgm:cxn modelId="{E7EA1F5B-6720-4FBC-BC6E-8F4FE3F28E7D}" type="presParOf" srcId="{AAAE5541-C628-4194-BAC0-D55CE3900C7C}" destId="{2BE12F34-5FF3-4F84-8DE5-66FD680D8E88}" srcOrd="2" destOrd="0" presId="urn:microsoft.com/office/officeart/2005/8/layout/process1"/>
    <dgm:cxn modelId="{B003D005-068B-42F4-8185-166D9980B3E5}" type="presParOf" srcId="{AAAE5541-C628-4194-BAC0-D55CE3900C7C}" destId="{30B07884-3CC1-44D3-A344-FFA81B9EAF5A}" srcOrd="3" destOrd="0" presId="urn:microsoft.com/office/officeart/2005/8/layout/process1"/>
    <dgm:cxn modelId="{6E35AD72-AAEE-48C0-A674-F997F9484914}" type="presParOf" srcId="{30B07884-3CC1-44D3-A344-FFA81B9EAF5A}" destId="{0B3C2C55-0E94-4B79-8010-74FEA91264DB}" srcOrd="0" destOrd="0" presId="urn:microsoft.com/office/officeart/2005/8/layout/process1"/>
    <dgm:cxn modelId="{EB46EB4D-D8F5-4474-B7E9-13F0E7FD7D1C}" type="presParOf" srcId="{AAAE5541-C628-4194-BAC0-D55CE3900C7C}" destId="{A6B388A9-952D-4FE1-9ED3-D11A7044BAFA}" srcOrd="4" destOrd="0" presId="urn:microsoft.com/office/officeart/2005/8/layout/process1"/>
    <dgm:cxn modelId="{BE8046B0-D679-4847-AACD-65F95C4B16B2}" type="presParOf" srcId="{AAAE5541-C628-4194-BAC0-D55CE3900C7C}" destId="{DF0CF610-FF65-4308-94BA-C30484CB77FD}" srcOrd="5" destOrd="0" presId="urn:microsoft.com/office/officeart/2005/8/layout/process1"/>
    <dgm:cxn modelId="{E3096927-AFBE-486E-9429-AA55F0FF03F2}" type="presParOf" srcId="{DF0CF610-FF65-4308-94BA-C30484CB77FD}" destId="{3ACD46C2-E308-4709-A79C-6A507BDF64EB}" srcOrd="0" destOrd="0" presId="urn:microsoft.com/office/officeart/2005/8/layout/process1"/>
    <dgm:cxn modelId="{D562BD9D-6136-40D1-91B6-ED11843A038D}" type="presParOf" srcId="{AAAE5541-C628-4194-BAC0-D55CE3900C7C}" destId="{3154D7AD-0164-4A9C-9E02-1F72C5F255E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EE271D-92FE-4198-A027-04F08A5C25A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88E17-8B84-4E42-9A50-0FAD57FD4932}">
      <dgm:prSet phldrT="[Texto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7402F19-039A-4868-9E36-024F13AF8915}" type="parTrans" cxnId="{6B0D52EC-B242-4D5F-AA04-923B41D24521}">
      <dgm:prSet/>
      <dgm:spPr/>
      <dgm:t>
        <a:bodyPr/>
        <a:lstStyle/>
        <a:p>
          <a:endParaRPr lang="en-US"/>
        </a:p>
      </dgm:t>
    </dgm:pt>
    <dgm:pt modelId="{8730B103-F8BE-41B5-843F-E18103C00DA8}" type="sibTrans" cxnId="{6B0D52EC-B242-4D5F-AA04-923B41D24521}">
      <dgm:prSet/>
      <dgm:spPr/>
      <dgm:t>
        <a:bodyPr/>
        <a:lstStyle/>
        <a:p>
          <a:endParaRPr lang="en-US"/>
        </a:p>
      </dgm:t>
    </dgm:pt>
    <dgm:pt modelId="{E1D54395-0789-45F2-9FF4-C6C1A7D8DBAE}">
      <dgm:prSet phldrT="[Texto]" phldr="0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28CE8D2-BEFA-4008-99D5-45F454870D48}" type="parTrans" cxnId="{21F73B09-6615-4624-BCCF-1887B90494C5}">
      <dgm:prSet/>
      <dgm:spPr/>
      <dgm:t>
        <a:bodyPr/>
        <a:lstStyle/>
        <a:p>
          <a:endParaRPr lang="en-US"/>
        </a:p>
      </dgm:t>
    </dgm:pt>
    <dgm:pt modelId="{417DF2BC-F546-4633-9C9A-210FC69ACC6E}" type="sibTrans" cxnId="{21F73B09-6615-4624-BCCF-1887B90494C5}">
      <dgm:prSet/>
      <dgm:spPr/>
      <dgm:t>
        <a:bodyPr/>
        <a:lstStyle/>
        <a:p>
          <a:endParaRPr lang="en-US"/>
        </a:p>
      </dgm:t>
    </dgm:pt>
    <dgm:pt modelId="{D62733B0-485C-451C-BE2B-BF25A098ED34}">
      <dgm:prSet phldrT="[Texto]" phldr="0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D287101-DE98-4B4C-B37C-205923ED7932}" type="parTrans" cxnId="{ECAF9AFE-E250-4C5B-BE3C-CA80A74E55F6}">
      <dgm:prSet/>
      <dgm:spPr/>
      <dgm:t>
        <a:bodyPr/>
        <a:lstStyle/>
        <a:p>
          <a:endParaRPr lang="en-US"/>
        </a:p>
      </dgm:t>
    </dgm:pt>
    <dgm:pt modelId="{628CC52A-14AB-4E03-BDAD-BBA3BE5C5065}" type="sibTrans" cxnId="{ECAF9AFE-E250-4C5B-BE3C-CA80A74E55F6}">
      <dgm:prSet/>
      <dgm:spPr/>
      <dgm:t>
        <a:bodyPr/>
        <a:lstStyle/>
        <a:p>
          <a:endParaRPr lang="en-US"/>
        </a:p>
      </dgm:t>
    </dgm:pt>
    <dgm:pt modelId="{595E2440-5C17-447C-8E78-A901DD561FB0}">
      <dgm:prSet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1AFC18A-2B47-4852-8C77-F143CEA0C1F2}" type="parTrans" cxnId="{C53C1245-C111-40BA-90DD-4CE4C5E49EF9}">
      <dgm:prSet/>
      <dgm:spPr/>
      <dgm:t>
        <a:bodyPr/>
        <a:lstStyle/>
        <a:p>
          <a:endParaRPr lang="en-US"/>
        </a:p>
      </dgm:t>
    </dgm:pt>
    <dgm:pt modelId="{64CEC80E-4B79-4475-9E1A-BD334FE50EC7}" type="sibTrans" cxnId="{C53C1245-C111-40BA-90DD-4CE4C5E49EF9}">
      <dgm:prSet/>
      <dgm:spPr/>
      <dgm:t>
        <a:bodyPr/>
        <a:lstStyle/>
        <a:p>
          <a:endParaRPr lang="en-US"/>
        </a:p>
      </dgm:t>
    </dgm:pt>
    <dgm:pt modelId="{AAAE5541-C628-4194-BAC0-D55CE3900C7C}" type="pres">
      <dgm:prSet presAssocID="{43EE271D-92FE-4198-A027-04F08A5C25A6}" presName="Name0" presStyleCnt="0">
        <dgm:presLayoutVars>
          <dgm:dir/>
          <dgm:resizeHandles val="exact"/>
        </dgm:presLayoutVars>
      </dgm:prSet>
      <dgm:spPr/>
    </dgm:pt>
    <dgm:pt modelId="{9E513CD0-60F0-4201-B98B-6F54DCBE569C}" type="pres">
      <dgm:prSet presAssocID="{595E2440-5C17-447C-8E78-A901DD561FB0}" presName="node" presStyleLbl="node1" presStyleIdx="0" presStyleCnt="4" custLinFactNeighborX="-93436" custLinFactNeighborY="4971">
        <dgm:presLayoutVars>
          <dgm:bulletEnabled val="1"/>
        </dgm:presLayoutVars>
      </dgm:prSet>
      <dgm:spPr/>
    </dgm:pt>
    <dgm:pt modelId="{1590FFFF-5DE1-4F53-A12D-15A20F09C535}" type="pres">
      <dgm:prSet presAssocID="{64CEC80E-4B79-4475-9E1A-BD334FE50EC7}" presName="sibTrans" presStyleLbl="sibTrans2D1" presStyleIdx="0" presStyleCnt="3"/>
      <dgm:spPr/>
    </dgm:pt>
    <dgm:pt modelId="{060657A4-DB7A-41BE-AF3F-4C3984D8D74B}" type="pres">
      <dgm:prSet presAssocID="{64CEC80E-4B79-4475-9E1A-BD334FE50EC7}" presName="connectorText" presStyleLbl="sibTrans2D1" presStyleIdx="0" presStyleCnt="3"/>
      <dgm:spPr/>
    </dgm:pt>
    <dgm:pt modelId="{2BE12F34-5FF3-4F84-8DE5-66FD680D8E88}" type="pres">
      <dgm:prSet presAssocID="{EDD88E17-8B84-4E42-9A50-0FAD57FD4932}" presName="node" presStyleLbl="node1" presStyleIdx="1" presStyleCnt="4">
        <dgm:presLayoutVars>
          <dgm:bulletEnabled val="1"/>
        </dgm:presLayoutVars>
      </dgm:prSet>
      <dgm:spPr/>
    </dgm:pt>
    <dgm:pt modelId="{30B07884-3CC1-44D3-A344-FFA81B9EAF5A}" type="pres">
      <dgm:prSet presAssocID="{8730B103-F8BE-41B5-843F-E18103C00DA8}" presName="sibTrans" presStyleLbl="sibTrans2D1" presStyleIdx="1" presStyleCnt="3"/>
      <dgm:spPr/>
    </dgm:pt>
    <dgm:pt modelId="{0B3C2C55-0E94-4B79-8010-74FEA91264DB}" type="pres">
      <dgm:prSet presAssocID="{8730B103-F8BE-41B5-843F-E18103C00DA8}" presName="connectorText" presStyleLbl="sibTrans2D1" presStyleIdx="1" presStyleCnt="3"/>
      <dgm:spPr/>
    </dgm:pt>
    <dgm:pt modelId="{A6B388A9-952D-4FE1-9ED3-D11A7044BAFA}" type="pres">
      <dgm:prSet presAssocID="{E1D54395-0789-45F2-9FF4-C6C1A7D8DBAE}" presName="node" presStyleLbl="node1" presStyleIdx="2" presStyleCnt="4">
        <dgm:presLayoutVars>
          <dgm:bulletEnabled val="1"/>
        </dgm:presLayoutVars>
      </dgm:prSet>
      <dgm:spPr/>
    </dgm:pt>
    <dgm:pt modelId="{DF0CF610-FF65-4308-94BA-C30484CB77FD}" type="pres">
      <dgm:prSet presAssocID="{417DF2BC-F546-4633-9C9A-210FC69ACC6E}" presName="sibTrans" presStyleLbl="sibTrans2D1" presStyleIdx="2" presStyleCnt="3"/>
      <dgm:spPr/>
    </dgm:pt>
    <dgm:pt modelId="{3ACD46C2-E308-4709-A79C-6A507BDF64EB}" type="pres">
      <dgm:prSet presAssocID="{417DF2BC-F546-4633-9C9A-210FC69ACC6E}" presName="connectorText" presStyleLbl="sibTrans2D1" presStyleIdx="2" presStyleCnt="3"/>
      <dgm:spPr/>
    </dgm:pt>
    <dgm:pt modelId="{3154D7AD-0164-4A9C-9E02-1F72C5F255E3}" type="pres">
      <dgm:prSet presAssocID="{D62733B0-485C-451C-BE2B-BF25A098ED34}" presName="node" presStyleLbl="node1" presStyleIdx="3" presStyleCnt="4">
        <dgm:presLayoutVars>
          <dgm:bulletEnabled val="1"/>
        </dgm:presLayoutVars>
      </dgm:prSet>
      <dgm:spPr/>
    </dgm:pt>
  </dgm:ptLst>
  <dgm:cxnLst>
    <dgm:cxn modelId="{21F73B09-6615-4624-BCCF-1887B90494C5}" srcId="{43EE271D-92FE-4198-A027-04F08A5C25A6}" destId="{E1D54395-0789-45F2-9FF4-C6C1A7D8DBAE}" srcOrd="2" destOrd="0" parTransId="{928CE8D2-BEFA-4008-99D5-45F454870D48}" sibTransId="{417DF2BC-F546-4633-9C9A-210FC69ACC6E}"/>
    <dgm:cxn modelId="{2D687024-2BF6-4708-9A7B-45DF5AA9A3BE}" type="presOf" srcId="{64CEC80E-4B79-4475-9E1A-BD334FE50EC7}" destId="{1590FFFF-5DE1-4F53-A12D-15A20F09C535}" srcOrd="0" destOrd="0" presId="urn:microsoft.com/office/officeart/2005/8/layout/process1"/>
    <dgm:cxn modelId="{06151836-06E4-4CAF-A2D9-F98F6301AB83}" type="presOf" srcId="{E1D54395-0789-45F2-9FF4-C6C1A7D8DBAE}" destId="{A6B388A9-952D-4FE1-9ED3-D11A7044BAFA}" srcOrd="0" destOrd="0" presId="urn:microsoft.com/office/officeart/2005/8/layout/process1"/>
    <dgm:cxn modelId="{4B9AB361-581B-4090-B5CD-2FC6C8091DDA}" type="presOf" srcId="{417DF2BC-F546-4633-9C9A-210FC69ACC6E}" destId="{DF0CF610-FF65-4308-94BA-C30484CB77FD}" srcOrd="0" destOrd="0" presId="urn:microsoft.com/office/officeart/2005/8/layout/process1"/>
    <dgm:cxn modelId="{C53C1245-C111-40BA-90DD-4CE4C5E49EF9}" srcId="{43EE271D-92FE-4198-A027-04F08A5C25A6}" destId="{595E2440-5C17-447C-8E78-A901DD561FB0}" srcOrd="0" destOrd="0" parTransId="{01AFC18A-2B47-4852-8C77-F143CEA0C1F2}" sibTransId="{64CEC80E-4B79-4475-9E1A-BD334FE50EC7}"/>
    <dgm:cxn modelId="{15B29368-5280-4A1E-882D-03E5B47D79DD}" type="presOf" srcId="{417DF2BC-F546-4633-9C9A-210FC69ACC6E}" destId="{3ACD46C2-E308-4709-A79C-6A507BDF64EB}" srcOrd="1" destOrd="0" presId="urn:microsoft.com/office/officeart/2005/8/layout/process1"/>
    <dgm:cxn modelId="{C7ED036B-6A58-42F4-A3DE-68A5E4024CF5}" type="presOf" srcId="{8730B103-F8BE-41B5-843F-E18103C00DA8}" destId="{0B3C2C55-0E94-4B79-8010-74FEA91264DB}" srcOrd="1" destOrd="0" presId="urn:microsoft.com/office/officeart/2005/8/layout/process1"/>
    <dgm:cxn modelId="{4073FD52-7CFA-4EA5-97B7-C56B327AA031}" type="presOf" srcId="{EDD88E17-8B84-4E42-9A50-0FAD57FD4932}" destId="{2BE12F34-5FF3-4F84-8DE5-66FD680D8E88}" srcOrd="0" destOrd="0" presId="urn:microsoft.com/office/officeart/2005/8/layout/process1"/>
    <dgm:cxn modelId="{9DA90E77-7851-4C0F-9470-FFECDAAFC36D}" type="presOf" srcId="{64CEC80E-4B79-4475-9E1A-BD334FE50EC7}" destId="{060657A4-DB7A-41BE-AF3F-4C3984D8D74B}" srcOrd="1" destOrd="0" presId="urn:microsoft.com/office/officeart/2005/8/layout/process1"/>
    <dgm:cxn modelId="{3A5994AA-1248-4ADF-8646-6ECEB4270CDC}" type="presOf" srcId="{D62733B0-485C-451C-BE2B-BF25A098ED34}" destId="{3154D7AD-0164-4A9C-9E02-1F72C5F255E3}" srcOrd="0" destOrd="0" presId="urn:microsoft.com/office/officeart/2005/8/layout/process1"/>
    <dgm:cxn modelId="{CED6E5AB-6454-4402-9639-DBC6A9B8D8D2}" type="presOf" srcId="{595E2440-5C17-447C-8E78-A901DD561FB0}" destId="{9E513CD0-60F0-4201-B98B-6F54DCBE569C}" srcOrd="0" destOrd="0" presId="urn:microsoft.com/office/officeart/2005/8/layout/process1"/>
    <dgm:cxn modelId="{9510AFC0-8915-49D8-88FC-0FD96E3ED914}" type="presOf" srcId="{8730B103-F8BE-41B5-843F-E18103C00DA8}" destId="{30B07884-3CC1-44D3-A344-FFA81B9EAF5A}" srcOrd="0" destOrd="0" presId="urn:microsoft.com/office/officeart/2005/8/layout/process1"/>
    <dgm:cxn modelId="{9F3520D4-4CB4-442F-A89F-178BF20C1ACF}" type="presOf" srcId="{43EE271D-92FE-4198-A027-04F08A5C25A6}" destId="{AAAE5541-C628-4194-BAC0-D55CE3900C7C}" srcOrd="0" destOrd="0" presId="urn:microsoft.com/office/officeart/2005/8/layout/process1"/>
    <dgm:cxn modelId="{6B0D52EC-B242-4D5F-AA04-923B41D24521}" srcId="{43EE271D-92FE-4198-A027-04F08A5C25A6}" destId="{EDD88E17-8B84-4E42-9A50-0FAD57FD4932}" srcOrd="1" destOrd="0" parTransId="{77402F19-039A-4868-9E36-024F13AF8915}" sibTransId="{8730B103-F8BE-41B5-843F-E18103C00DA8}"/>
    <dgm:cxn modelId="{ECAF9AFE-E250-4C5B-BE3C-CA80A74E55F6}" srcId="{43EE271D-92FE-4198-A027-04F08A5C25A6}" destId="{D62733B0-485C-451C-BE2B-BF25A098ED34}" srcOrd="3" destOrd="0" parTransId="{FD287101-DE98-4B4C-B37C-205923ED7932}" sibTransId="{628CC52A-14AB-4E03-BDAD-BBA3BE5C5065}"/>
    <dgm:cxn modelId="{B43CCDED-F64D-45D5-BA32-ACFF0252D1B2}" type="presParOf" srcId="{AAAE5541-C628-4194-BAC0-D55CE3900C7C}" destId="{9E513CD0-60F0-4201-B98B-6F54DCBE569C}" srcOrd="0" destOrd="0" presId="urn:microsoft.com/office/officeart/2005/8/layout/process1"/>
    <dgm:cxn modelId="{CE7AEEDD-D5D2-42CB-A8D9-BF4D383DF126}" type="presParOf" srcId="{AAAE5541-C628-4194-BAC0-D55CE3900C7C}" destId="{1590FFFF-5DE1-4F53-A12D-15A20F09C535}" srcOrd="1" destOrd="0" presId="urn:microsoft.com/office/officeart/2005/8/layout/process1"/>
    <dgm:cxn modelId="{30D369F9-E62E-48C4-AE72-CAE921B265B7}" type="presParOf" srcId="{1590FFFF-5DE1-4F53-A12D-15A20F09C535}" destId="{060657A4-DB7A-41BE-AF3F-4C3984D8D74B}" srcOrd="0" destOrd="0" presId="urn:microsoft.com/office/officeart/2005/8/layout/process1"/>
    <dgm:cxn modelId="{E7EA1F5B-6720-4FBC-BC6E-8F4FE3F28E7D}" type="presParOf" srcId="{AAAE5541-C628-4194-BAC0-D55CE3900C7C}" destId="{2BE12F34-5FF3-4F84-8DE5-66FD680D8E88}" srcOrd="2" destOrd="0" presId="urn:microsoft.com/office/officeart/2005/8/layout/process1"/>
    <dgm:cxn modelId="{B003D005-068B-42F4-8185-166D9980B3E5}" type="presParOf" srcId="{AAAE5541-C628-4194-BAC0-D55CE3900C7C}" destId="{30B07884-3CC1-44D3-A344-FFA81B9EAF5A}" srcOrd="3" destOrd="0" presId="urn:microsoft.com/office/officeart/2005/8/layout/process1"/>
    <dgm:cxn modelId="{6E35AD72-AAEE-48C0-A674-F997F9484914}" type="presParOf" srcId="{30B07884-3CC1-44D3-A344-FFA81B9EAF5A}" destId="{0B3C2C55-0E94-4B79-8010-74FEA91264DB}" srcOrd="0" destOrd="0" presId="urn:microsoft.com/office/officeart/2005/8/layout/process1"/>
    <dgm:cxn modelId="{EB46EB4D-D8F5-4474-B7E9-13F0E7FD7D1C}" type="presParOf" srcId="{AAAE5541-C628-4194-BAC0-D55CE3900C7C}" destId="{A6B388A9-952D-4FE1-9ED3-D11A7044BAFA}" srcOrd="4" destOrd="0" presId="urn:microsoft.com/office/officeart/2005/8/layout/process1"/>
    <dgm:cxn modelId="{BE8046B0-D679-4847-AACD-65F95C4B16B2}" type="presParOf" srcId="{AAAE5541-C628-4194-BAC0-D55CE3900C7C}" destId="{DF0CF610-FF65-4308-94BA-C30484CB77FD}" srcOrd="5" destOrd="0" presId="urn:microsoft.com/office/officeart/2005/8/layout/process1"/>
    <dgm:cxn modelId="{E3096927-AFBE-486E-9429-AA55F0FF03F2}" type="presParOf" srcId="{DF0CF610-FF65-4308-94BA-C30484CB77FD}" destId="{3ACD46C2-E308-4709-A79C-6A507BDF64EB}" srcOrd="0" destOrd="0" presId="urn:microsoft.com/office/officeart/2005/8/layout/process1"/>
    <dgm:cxn modelId="{D562BD9D-6136-40D1-91B6-ED11843A038D}" type="presParOf" srcId="{AAAE5541-C628-4194-BAC0-D55CE3900C7C}" destId="{3154D7AD-0164-4A9C-9E02-1F72C5F255E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13CD0-60F0-4201-B98B-6F54DCBE569C}">
      <dsp:nvSpPr>
        <dsp:cNvPr id="0" name=""/>
        <dsp:cNvSpPr/>
      </dsp:nvSpPr>
      <dsp:spPr>
        <a:xfrm>
          <a:off x="0" y="1326942"/>
          <a:ext cx="1808803" cy="2028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Actuator Dynamics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ct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=0.05</m:t>
                </m:r>
                <m: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𝑠</m:t>
                </m:r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noProof="0" dirty="0"/>
        </a:p>
      </dsp:txBody>
      <dsp:txXfrm>
        <a:off x="52978" y="1379920"/>
        <a:ext cx="1702847" cy="1922903"/>
      </dsp:txXfrm>
    </dsp:sp>
    <dsp:sp modelId="{1590FFFF-5DE1-4F53-A12D-15A20F09C535}">
      <dsp:nvSpPr>
        <dsp:cNvPr id="0" name=""/>
        <dsp:cNvSpPr/>
      </dsp:nvSpPr>
      <dsp:spPr>
        <a:xfrm rot="21463381">
          <a:off x="1990565" y="2066218"/>
          <a:ext cx="385963" cy="448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90611" y="2158235"/>
        <a:ext cx="270174" cy="269149"/>
      </dsp:txXfrm>
    </dsp:sp>
    <dsp:sp modelId="{2BE12F34-5FF3-4F84-8DE5-66FD680D8E88}">
      <dsp:nvSpPr>
        <dsp:cNvPr id="0" name=""/>
        <dsp:cNvSpPr/>
      </dsp:nvSpPr>
      <dsp:spPr>
        <a:xfrm>
          <a:off x="2536461" y="1226087"/>
          <a:ext cx="1808803" cy="2028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Attitude Control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𝑎𝑡𝑡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</a:rPr>
                  <m:t>  ≈3</m:t>
                </m:r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−5 </m:t>
                    </m:r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𝑎𝑐𝑡</m:t>
                    </m:r>
                  </m:sub>
                </m:sSub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tt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≈ 0.2 </m:t>
                </m:r>
                <m:r>
                  <m:rPr>
                    <m:sty m:val="p"/>
                  </m:rP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s</m:t>
                </m:r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noProof="0" dirty="0"/>
        </a:p>
      </dsp:txBody>
      <dsp:txXfrm>
        <a:off x="2589439" y="1279065"/>
        <a:ext cx="1702847" cy="1922903"/>
      </dsp:txXfrm>
    </dsp:sp>
    <dsp:sp modelId="{30B07884-3CC1-44D3-A344-FFA81B9EAF5A}">
      <dsp:nvSpPr>
        <dsp:cNvPr id="0" name=""/>
        <dsp:cNvSpPr/>
      </dsp:nvSpPr>
      <dsp:spPr>
        <a:xfrm>
          <a:off x="4526144" y="2016225"/>
          <a:ext cx="383466" cy="448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526144" y="2105942"/>
        <a:ext cx="268426" cy="269149"/>
      </dsp:txXfrm>
    </dsp:sp>
    <dsp:sp modelId="{A6B388A9-952D-4FE1-9ED3-D11A7044BAFA}">
      <dsp:nvSpPr>
        <dsp:cNvPr id="0" name=""/>
        <dsp:cNvSpPr/>
      </dsp:nvSpPr>
      <dsp:spPr>
        <a:xfrm>
          <a:off x="5068785" y="1226087"/>
          <a:ext cx="1808803" cy="2028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Velocity Control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vel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</a:rPr>
                  <m:t>  ≈3−</m:t>
                </m:r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tt</m:t>
                    </m:r>
                  </m:sub>
                </m:sSub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vel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≈ 0.6 </m:t>
                </m:r>
                <m:r>
                  <m:rPr>
                    <m:sty m:val="p"/>
                  </m:rP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s</m:t>
                </m:r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noProof="0" dirty="0"/>
        </a:p>
      </dsp:txBody>
      <dsp:txXfrm>
        <a:off x="5121763" y="1279065"/>
        <a:ext cx="1702847" cy="1922903"/>
      </dsp:txXfrm>
    </dsp:sp>
    <dsp:sp modelId="{DF0CF610-FF65-4308-94BA-C30484CB77FD}">
      <dsp:nvSpPr>
        <dsp:cNvPr id="0" name=""/>
        <dsp:cNvSpPr/>
      </dsp:nvSpPr>
      <dsp:spPr>
        <a:xfrm>
          <a:off x="7058468" y="2016225"/>
          <a:ext cx="383466" cy="448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7058468" y="2105942"/>
        <a:ext cx="268426" cy="269149"/>
      </dsp:txXfrm>
    </dsp:sp>
    <dsp:sp modelId="{3154D7AD-0164-4A9C-9E02-1F72C5F255E3}">
      <dsp:nvSpPr>
        <dsp:cNvPr id="0" name=""/>
        <dsp:cNvSpPr/>
      </dsp:nvSpPr>
      <dsp:spPr>
        <a:xfrm>
          <a:off x="7601109" y="1226087"/>
          <a:ext cx="1808803" cy="2028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Position Control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pos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</a:rPr>
                  <m:t>  ≈3−</m:t>
                </m:r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vel</m:t>
                    </m:r>
                  </m:sub>
                </m:sSub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noProof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𝜏</m:t>
                    </m:r>
                  </m:e>
                  <m:sub>
                    <m:r>
                      <m:rPr>
                        <m:sty m:val="p"/>
                      </m:rPr>
                      <a:rPr lang="en-US" sz="1800" b="0" i="1" kern="1200" noProof="0" smtClean="0">
                        <a:latin typeface="Cambria Math" panose="02040503050406030204" pitchFamily="18" charset="0"/>
                      </a:rPr>
                      <m:t>pos</m:t>
                    </m:r>
                  </m:sub>
                </m:sSub>
                <m: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≈ 2 </m:t>
                </m:r>
                <m:r>
                  <m:rPr>
                    <m:sty m:val="p"/>
                  </m:rPr>
                  <a:rPr lang="en-US" sz="1800" b="0" i="1" kern="1200" noProof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s</m:t>
                </m:r>
              </m:oMath>
            </m:oMathPara>
          </a14:m>
          <a:endParaRPr lang="en-US" sz="1800" kern="1200" noProof="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noProof="0" dirty="0"/>
        </a:p>
      </dsp:txBody>
      <dsp:txXfrm>
        <a:off x="7654087" y="1279065"/>
        <a:ext cx="1702847" cy="1922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918A162B-9B1E-7386-5E89-38DE29617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>
            <a:extLst>
              <a:ext uri="{FF2B5EF4-FFF2-40B4-BE49-F238E27FC236}">
                <a16:creationId xmlns:a16="http://schemas.microsoft.com/office/drawing/2014/main" id="{BE3A0413-DFFD-439C-00AE-4A5ECF340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0:notes">
            <a:extLst>
              <a:ext uri="{FF2B5EF4-FFF2-40B4-BE49-F238E27FC236}">
                <a16:creationId xmlns:a16="http://schemas.microsoft.com/office/drawing/2014/main" id="{AE0B2C9E-DF45-F113-BA2B-48511A1AE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164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50783161-08A5-AA03-74E3-172A8C82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31793ABC-1CC6-BD66-0609-03F925427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F0CEBE0-6342-99F3-9172-7DAE3DA99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90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F0E72806-F851-F189-A3E7-13C437D5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2961902D-7DEA-60F8-704A-2F860FF99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93120D66-2372-297B-93FD-3610360F1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4696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A9B7E92-DE2A-5733-9B35-1FE10547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4B5F55A8-2583-1E59-339A-77644B4C4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03A50F50-8F24-4CF4-0960-3444B9D89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656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B3F3C3D-7648-8E06-131D-4467F5FD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C1DA298-8637-4385-BCB4-DD98F6840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94EEE908-3859-1E5A-C933-8A87CEBCF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584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6438C10-2C38-63FF-9B3F-C3302770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F32C0124-9B56-FCDC-C98C-E50C5EB50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0341DBC6-A3AC-3646-88DC-07B7A9314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3051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B24EA14-E104-FF56-7F47-777FA335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3BDC2000-9B1C-A8CE-14D7-B4F1FB6BC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687FDF4-DE48-3F84-CD7F-A09E8830B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0600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2D98778-B001-859D-9963-743F6668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714905F9-AC4D-1C43-1E07-683DB3349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8EE5F73F-47CC-889E-5D8C-565E152E0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4893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8752AC8-9274-0BF1-18A9-5073189B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FF3A4860-7D9D-AC37-9D1A-679856A96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5E5DA6EE-4629-1668-C8DB-A46D2716C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6792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5E110A85-DA97-D946-6419-C973180A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160C7037-7067-D347-A417-1E301D67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5A10D8F-F13A-1BA6-9C7C-2B3DBF9E9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448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0815DFD-F2F5-07EC-9179-4054BC9D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5816012-D266-CE71-E220-400675C2E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1756D67-96B5-D709-2318-4E32DA7A1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0437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CD896CB0-395F-8EEC-6C2A-48D3A4FB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252860FF-992D-EA3F-2471-4EBBBD479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DB12043-E98C-4127-926C-934CA5389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854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448C5C4-1E07-3405-3269-827BD450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96050F7-D2E2-CAA8-C17D-60C615A3F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EC73C280-9965-C85A-63FF-022A7F339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498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9C308583-46A1-D11F-DECD-19101FE3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9F1083BA-D0A7-D1F4-5DF5-3337D60F9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09CC8DB-56A5-015D-AC90-9157F13EA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7059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A61E279-D135-C486-0580-38B597FC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6E7A8D4E-2E2B-CC24-9FBE-B2EB8C97C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BC04F42-600B-51F6-5951-3CBE35EB6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1407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923EFA5-EDED-A3DC-C847-EB5A78E4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1621A2AB-725E-7D32-2638-DB4182E7C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D2D3106E-67AE-DC5A-037E-E425AAD69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584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3862EF83-3316-7BAA-81F8-6952E6DF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0548A55-A2B0-B897-82B0-356969B91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2A12602D-4E5A-5563-D7A1-095DF4E25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001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CC2E99D3-8398-FFF0-34B8-B6BFA2A6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E435169-649A-EB0D-04DD-40DBFA27A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5463DD39-003D-ED9F-7E16-DB6645887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423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C1934ABD-4355-AFCB-1318-27D0F6C0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6F5CDFD2-6E9A-19AE-92B0-B2606B750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967C04D-AACF-63BC-BF08-F85409674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0401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2C020097-1537-7455-CEA6-8A814865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75EAF0BA-FB9E-F520-6236-32C7F9325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ABA4E118-B776-C794-EDDA-A98D2BD8D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3603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94516BD0-12E8-7E5A-CDAB-56019E03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46834920-320F-F395-7F3A-B1DA97C21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78323D0D-59B9-6071-2C31-7A41F9157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22776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21050CC8-472B-36BC-A0C4-3B2AF536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CE17345-993E-B221-3AD6-C5031CD58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EA837CB6-AB84-1978-069A-72FAF79B2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6852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F64A315-634C-777A-17A8-6D9328DD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A437906-F1F3-A9E7-A7BB-22C91CAE6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7AC4653E-DD97-44C3-E21F-8D85DFA5A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643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3A47FDAA-A2CC-4002-40E0-BE78A55F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996A95FC-3386-79D2-BF62-6CF91FAFE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889074AC-6239-7EF5-CC06-54841D4FA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38653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549B886-EF3F-4079-C8E3-9CBA66DD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EC961AE-9499-D9D8-8F02-5498E9F0D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83C60615-6890-7BE8-F8A6-8F0DE56DF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1563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2630BD9-FD72-3445-8AD1-D7F885A9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0CC38EB9-8EDA-96C4-58D6-F47E05044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A992707-58B0-9491-F459-A949AA6F2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95607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CAD2AE35-252F-5318-B17D-FCA56E7E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60919026-0681-6449-8837-D57C8840D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B8AED2C6-7D4B-6FB4-C393-43E9473CE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3215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2327F79D-43A6-BFFD-28DA-10402625A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7FCEE473-55D5-8C9C-E6D3-8379B305C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C4EE4BB8-8A1E-35AA-41AB-38E97C2E4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3985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F3C0D84-6E29-6F21-0D95-B80FDC88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01EB16E1-5822-759C-446F-50CC1D4D3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74571BD3-B716-975F-5562-3A55ADDC2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37106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77B3FB5-6490-06B0-185F-01D3A5EF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F7BBBB8-B597-5BDB-BCC6-56657A462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6CB40DB-3154-2453-6CB3-D93B37D7E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79919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508319BC-5B69-635E-34D1-E5E215A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056E2A11-136A-E018-BEB3-0CAAFAB93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D76EF305-D0FB-E31F-3E09-52B7563C4B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48297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F185042B-A9C4-C928-63D4-3555E20E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45CF01D5-97C1-60D3-6C5F-1580A3252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D2C5B54-CA9B-E6DE-76DE-EDF116350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257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C7EE6A1E-A43D-E332-EC8F-4BB24D41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0F998237-D03F-E26E-EA36-99E11C623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070F731C-F1ED-560F-E2AC-59A3EEB9F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321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EE8A6E2D-05B8-C108-09DD-2DB9D2F6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72F4465-4994-CB53-DD23-BC68E059F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8E6C29B-C65F-FB5B-AB02-71D7F359C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8301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70DFF68-4605-611E-C7A3-BBEA7F22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3A858704-AF45-DA25-97D4-1438BD1E3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614F2324-813A-5230-ADFA-CA9DAA4A0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74481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B2C9728A-9A90-A843-4BD7-BE9F041C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9FB334CC-92F1-5439-8D29-8801603F27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D688FD4E-907A-213D-4F8F-224440480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67255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24B51BB4-FCBA-B2DE-DFFB-90D2E0B4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>
            <a:extLst>
              <a:ext uri="{FF2B5EF4-FFF2-40B4-BE49-F238E27FC236}">
                <a16:creationId xmlns:a16="http://schemas.microsoft.com/office/drawing/2014/main" id="{FF8BFA17-388D-584C-A48A-0C0D5976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0:notes">
            <a:extLst>
              <a:ext uri="{FF2B5EF4-FFF2-40B4-BE49-F238E27FC236}">
                <a16:creationId xmlns:a16="http://schemas.microsoft.com/office/drawing/2014/main" id="{5DC34AB8-0EF1-F65A-49CC-43971234D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83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titolo">
  <p:cSld name="1_Diapositiva tito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2192000" cy="1847850"/>
          </a:xfrm>
          <a:prstGeom prst="rect">
            <a:avLst/>
          </a:prstGeom>
          <a:solidFill>
            <a:srgbClr val="1A4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14;p13"/>
          <p:cNvGrpSpPr/>
          <p:nvPr/>
        </p:nvGrpSpPr>
        <p:grpSpPr>
          <a:xfrm>
            <a:off x="64010" y="1654176"/>
            <a:ext cx="12048863" cy="180000"/>
            <a:chOff x="1218340" y="275867"/>
            <a:chExt cx="17715122" cy="567843"/>
          </a:xfrm>
        </p:grpSpPr>
        <p:cxnSp>
          <p:nvCxnSpPr>
            <p:cNvPr id="15" name="Google Shape;15;p13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13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13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13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3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3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13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3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3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3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13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13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3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13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13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13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3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13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13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1;p13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2;p13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3;p13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13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13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3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3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13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13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13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13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3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3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13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13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13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3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3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3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3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3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3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3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3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3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3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3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3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3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3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13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13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13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3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3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13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13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13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3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13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3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13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5" name="Google Shape;135;p13" descr="Y:\IMMAGINE _COORDINATA_2014\PPT\loghi_PNG\01_polimi_centrato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6345" y="274003"/>
            <a:ext cx="1442830" cy="110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272715" y="6008488"/>
            <a:ext cx="8418095" cy="61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057233 – Aerodynamics of Transport Vehicles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062181 – Vehicle Aerodynamics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400"/>
              <a:buFont typeface="Arial Black"/>
              <a:buNone/>
            </a:pPr>
            <a:r>
              <a:rPr lang="it-IT" sz="1400" b="0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	Prof. Zanotti – Prof. Schito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272717" y="6426200"/>
            <a:ext cx="11646568" cy="3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it-IT" sz="1400" b="1" i="0" u="none" strike="noStrike" cap="smal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Year 2024/2025</a:t>
            </a:r>
            <a:endParaRPr sz="11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contenuto">
  <p:cSld name="1_Titolo e contenuto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10983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0" y="6229351"/>
            <a:ext cx="12192000" cy="638175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161506" y="6511432"/>
            <a:ext cx="3664580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Name</a:t>
            </a:r>
            <a:endParaRPr dirty="0"/>
          </a:p>
        </p:txBody>
      </p:sp>
      <p:sp>
        <p:nvSpPr>
          <p:cNvPr id="143" name="Google Shape;143;p14"/>
          <p:cNvSpPr txBox="1"/>
          <p:nvPr/>
        </p:nvSpPr>
        <p:spPr>
          <a:xfrm>
            <a:off x="4393324" y="6236938"/>
            <a:ext cx="3405352" cy="6232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Aerodynamics of Transport Vehicles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Vehicle Aerodynamics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it-IT" sz="105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2024/2025</a:t>
            </a:r>
            <a:endParaRPr dirty="0"/>
          </a:p>
        </p:txBody>
      </p:sp>
      <p:sp>
        <p:nvSpPr>
          <p:cNvPr id="144" name="Google Shape;144;p14"/>
          <p:cNvSpPr txBox="1"/>
          <p:nvPr/>
        </p:nvSpPr>
        <p:spPr>
          <a:xfrm>
            <a:off x="11041653" y="35979"/>
            <a:ext cx="1102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fld id="{00000000-1234-1234-1234-123412341234}" type="slidenum"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600" b="0" i="0" u="none" strike="noStrike" cap="none" dirty="0">
              <a:solidFill>
                <a:srgbClr val="00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 descr="Y:\IMMAGINE _COORDINATA_2014\PPT\loghi_PNG\03_Polimi_bandiera-1riga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42" y="6294425"/>
            <a:ext cx="2715128" cy="51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47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45.png"/><Relationship Id="rId5" Type="http://schemas.openxmlformats.org/officeDocument/2006/relationships/image" Target="../media/image54.png"/><Relationship Id="rId10" Type="http://schemas.openxmlformats.org/officeDocument/2006/relationships/image" Target="../media/image44.png"/><Relationship Id="rId4" Type="http://schemas.openxmlformats.org/officeDocument/2006/relationships/image" Target="../media/image42.png"/><Relationship Id="rId9" Type="http://schemas.openxmlformats.org/officeDocument/2006/relationships/image" Target="../media/image58.png"/><Relationship Id="rId1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60.png"/><Relationship Id="rId5" Type="http://schemas.openxmlformats.org/officeDocument/2006/relationships/image" Target="../media/image500.png"/><Relationship Id="rId10" Type="http://schemas.openxmlformats.org/officeDocument/2006/relationships/image" Target="../media/image59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3" Type="http://schemas.openxmlformats.org/officeDocument/2006/relationships/image" Target="../media/image65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81.png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1.png"/><Relationship Id="rId4" Type="http://schemas.openxmlformats.org/officeDocument/2006/relationships/image" Target="../media/image1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21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2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/>
        </p:nvSpPr>
        <p:spPr>
          <a:xfrm>
            <a:off x="272725" y="2286804"/>
            <a:ext cx="11646600" cy="1278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Adaptative and Nonlinear Control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UAV 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E57E00-F026-F8F5-CAA0-18880DD3062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CD727E-F924-0E96-A343-E78B31EB54C0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88FB3EAD-4F16-3C63-F0AD-1A25095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">
            <a:extLst>
              <a:ext uri="{FF2B5EF4-FFF2-40B4-BE49-F238E27FC236}">
                <a16:creationId xmlns:a16="http://schemas.microsoft.com/office/drawing/2014/main" id="{B48F7607-3D61-F170-E33F-6B55E3B47826}"/>
              </a:ext>
            </a:extLst>
          </p:cNvPr>
          <p:cNvSpPr txBox="1"/>
          <p:nvPr/>
        </p:nvSpPr>
        <p:spPr>
          <a:xfrm>
            <a:off x="272715" y="2286796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1. Model introduction</a:t>
            </a:r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230434-FBEC-2827-59B3-95E6A7E4EE0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740E70-BC5B-B228-0A14-A79AFD002CF3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820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F99AE9-FCB3-F2D0-181F-218FF78E599B}"/>
              </a:ext>
            </a:extLst>
          </p:cNvPr>
          <p:cNvSpPr txBox="1"/>
          <p:nvPr/>
        </p:nvSpPr>
        <p:spPr>
          <a:xfrm>
            <a:off x="707922" y="2475166"/>
            <a:ext cx="409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bg2"/>
                </a:solidFill>
                <a:latin typeface="Arial Black" panose="020B0A04020102020204" pitchFamily="34" charset="0"/>
              </a:rPr>
              <a:t>UAV Dynamics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03BE12-809E-5C84-AC21-F7EFE275E0BE}"/>
              </a:ext>
            </a:extLst>
          </p:cNvPr>
          <p:cNvSpPr txBox="1"/>
          <p:nvPr/>
        </p:nvSpPr>
        <p:spPr>
          <a:xfrm>
            <a:off x="4562168" y="2475166"/>
            <a:ext cx="409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bg2"/>
                </a:solidFill>
                <a:latin typeface="Arial Black" panose="020B0A04020102020204" pitchFamily="34" charset="0"/>
              </a:rPr>
              <a:t>Propeller Dynamics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84AABA-8FF6-FBA9-2315-E76E99881E5E}"/>
              </a:ext>
            </a:extLst>
          </p:cNvPr>
          <p:cNvSpPr txBox="1"/>
          <p:nvPr/>
        </p:nvSpPr>
        <p:spPr>
          <a:xfrm>
            <a:off x="9040761" y="2475166"/>
            <a:ext cx="4090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bg2"/>
                </a:solidFill>
                <a:latin typeface="Arial Black" panose="020B0A04020102020204" pitchFamily="34" charset="0"/>
              </a:rPr>
              <a:t>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A2BA0BC-30F9-8A07-DB93-694234B72C36}"/>
                  </a:ext>
                </a:extLst>
              </p:cNvPr>
              <p:cNvSpPr txBox="1"/>
              <p:nvPr/>
            </p:nvSpPr>
            <p:spPr>
              <a:xfrm>
                <a:off x="235973" y="3079358"/>
                <a:ext cx="3805272" cy="332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s-E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s-ES" sz="20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</m:acc>
                        </m:e>
                        <m:sub>
                          <m:r>
                            <a:rPr lang="es-ES" sz="20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sup>
                      </m:sSubSup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𝐹𝑢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A2BA0BC-30F9-8A07-DB93-694234B72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3" y="3079358"/>
                <a:ext cx="3805272" cy="332720"/>
              </a:xfrm>
              <a:prstGeom prst="rect">
                <a:avLst/>
              </a:prstGeom>
              <a:blipFill>
                <a:blip r:embed="rId2"/>
                <a:stretch>
                  <a:fillRect l="-962" r="-80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28BC2739-B2CE-C207-F1D6-CC936900FC2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7B14695-0EE8-260B-843E-8FBFBB805B67}"/>
                  </a:ext>
                </a:extLst>
              </p:cNvPr>
              <p:cNvSpPr txBox="1"/>
              <p:nvPr/>
            </p:nvSpPr>
            <p:spPr>
              <a:xfrm>
                <a:off x="4343138" y="3007730"/>
                <a:ext cx="4174028" cy="608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s-E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18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=1,…,6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7B14695-0EE8-260B-843E-8FBFBB805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138" y="3007730"/>
                <a:ext cx="4174028" cy="608821"/>
              </a:xfrm>
              <a:prstGeom prst="rect">
                <a:avLst/>
              </a:prstGeom>
              <a:blipFill>
                <a:blip r:embed="rId3"/>
                <a:stretch>
                  <a:fillRect l="-3358" t="-8000" r="-292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21A2B19-2B64-270C-8128-9E5B2C16F9C3}"/>
                  </a:ext>
                </a:extLst>
              </p:cNvPr>
              <p:cNvSpPr txBox="1"/>
              <p:nvPr/>
            </p:nvSpPr>
            <p:spPr>
              <a:xfrm>
                <a:off x="4963770" y="3855078"/>
                <a:ext cx="2055434" cy="3654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sat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p>
                      </m:sSubSup>
                      <m:d>
                        <m:d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21A2B19-2B64-270C-8128-9E5B2C16F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770" y="3855078"/>
                <a:ext cx="2055434" cy="365485"/>
              </a:xfrm>
              <a:prstGeom prst="rect">
                <a:avLst/>
              </a:prstGeom>
              <a:blipFill>
                <a:blip r:embed="rId4"/>
                <a:stretch>
                  <a:fillRect l="-178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AB77188-57E6-B360-D743-0BF82188719C}"/>
                  </a:ext>
                </a:extLst>
              </p:cNvPr>
              <p:cNvSpPr txBox="1"/>
              <p:nvPr/>
            </p:nvSpPr>
            <p:spPr>
              <a:xfrm>
                <a:off x="4916129" y="3429000"/>
                <a:ext cx="2150717" cy="587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 [</m:t>
                      </m:r>
                      <m:sSub>
                        <m:sSubPr>
                          <m:ctrlP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… </m:t>
                      </m:r>
                      <m:sSub>
                        <m:sSubPr>
                          <m:ctrlP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  <a:p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AB77188-57E6-B360-D743-0BF82188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129" y="3429000"/>
                <a:ext cx="2150717" cy="587790"/>
              </a:xfrm>
              <a:prstGeom prst="rect">
                <a:avLst/>
              </a:prstGeom>
              <a:blipFill>
                <a:blip r:embed="rId5"/>
                <a:stretch>
                  <a:fillRect t="-8333" r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23D758E-A129-1CDB-C092-B035C0CC1DAD}"/>
                  </a:ext>
                </a:extLst>
              </p:cNvPr>
              <p:cNvSpPr txBox="1"/>
              <p:nvPr/>
            </p:nvSpPr>
            <p:spPr>
              <a:xfrm>
                <a:off x="9448801" y="2977527"/>
                <a:ext cx="1283492" cy="5631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sz="20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s-ES" sz="20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" sz="20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s-ES" sz="2000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s-E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s-E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Fu</m:t>
                      </m:r>
                      <m:r>
                        <a:rPr lang="es-E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23D758E-A129-1CDB-C092-B035C0CC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1" y="2977527"/>
                <a:ext cx="1283492" cy="563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76C62836-1CE2-1DED-0BB3-C7946ED228FC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9EA278B-74F3-708D-EB81-DE4063D9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C1F99E3C-9B86-2329-C6CE-4A6F2351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95" y="1103172"/>
            <a:ext cx="11259955" cy="4329151"/>
          </a:xfrm>
          <a:prstGeom prst="rect">
            <a:avLst/>
          </a:prstGeom>
        </p:spPr>
      </p:pic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4C8E10ED-1565-599B-AD46-92FF07C74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1.1. Simulink Model</a:t>
            </a: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90756"/>
              <a:buFont typeface="Calibri"/>
              <a:buNone/>
            </a:pP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F7122F5C-9F06-1718-6FAD-C53BEC227A08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4C51BA44-B34B-31D1-4E6B-412F0D3B115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BA49A62-CA65-5593-381A-1B531F884808}"/>
                  </a:ext>
                </a:extLst>
              </p:cNvPr>
              <p:cNvSpPr txBox="1"/>
              <p:nvPr/>
            </p:nvSpPr>
            <p:spPr>
              <a:xfrm>
                <a:off x="2750102" y="2384321"/>
                <a:ext cx="5879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≡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control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efectiveness</m:t>
                      </m:r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BA49A62-CA65-5593-381A-1B531F884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102" y="2384321"/>
                <a:ext cx="58796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D27A6A6C-E00A-E04B-973E-CADD117F8B94}"/>
              </a:ext>
            </a:extLst>
          </p:cNvPr>
          <p:cNvSpPr/>
          <p:nvPr/>
        </p:nvSpPr>
        <p:spPr>
          <a:xfrm>
            <a:off x="402407" y="1425677"/>
            <a:ext cx="665235" cy="963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C2775-D5EE-D950-7BFD-AC4A22136746}"/>
              </a:ext>
            </a:extLst>
          </p:cNvPr>
          <p:cNvSpPr txBox="1"/>
          <p:nvPr/>
        </p:nvSpPr>
        <p:spPr>
          <a:xfrm>
            <a:off x="443918" y="2418716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Input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BACCB78-740C-5D66-971D-71F9719ED553}"/>
              </a:ext>
            </a:extLst>
          </p:cNvPr>
          <p:cNvSpPr/>
          <p:nvPr/>
        </p:nvSpPr>
        <p:spPr>
          <a:xfrm>
            <a:off x="10872300" y="1484670"/>
            <a:ext cx="831575" cy="179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uadroTexto 9">
            <a:extLst>
              <a:ext uri="{FF2B5EF4-FFF2-40B4-BE49-F238E27FC236}">
                <a16:creationId xmlns:a16="http://schemas.microsoft.com/office/drawing/2014/main" id="{270C2775-D5EE-D950-7BFD-AC4A22136746}"/>
              </a:ext>
            </a:extLst>
          </p:cNvPr>
          <p:cNvSpPr txBox="1"/>
          <p:nvPr/>
        </p:nvSpPr>
        <p:spPr>
          <a:xfrm>
            <a:off x="10872300" y="3340508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noProof="0" dirty="0"/>
              <a:t>Outputs</a:t>
            </a:r>
          </a:p>
        </p:txBody>
      </p:sp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64E09705-A969-75F1-B384-543C678A6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50" y="3653481"/>
            <a:ext cx="6193702" cy="1647800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3A4E461-4614-8EA1-AF18-65FFBEF3A342}"/>
              </a:ext>
            </a:extLst>
          </p:cNvPr>
          <p:cNvCxnSpPr/>
          <p:nvPr/>
        </p:nvCxnSpPr>
        <p:spPr>
          <a:xfrm flipH="1">
            <a:off x="6626942" y="2172929"/>
            <a:ext cx="2123768" cy="12560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6BAA21F-1AE9-E244-F8CD-14AA3BE2A9DE}"/>
              </a:ext>
            </a:extLst>
          </p:cNvPr>
          <p:cNvSpPr txBox="1"/>
          <p:nvPr/>
        </p:nvSpPr>
        <p:spPr>
          <a:xfrm>
            <a:off x="547350" y="5461800"/>
            <a:ext cx="6334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bg2"/>
                </a:solidFill>
              </a:rPr>
              <a:t>Use of quaternions and rotation matrices to avoid Euler angles singularities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ABD1A9-E74D-B9C0-68E1-317254869F23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0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1BCF9FD-72AB-62D6-3410-9D3ADD28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E4D329B-5C6D-9AFF-418E-DD18EE1DF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indent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1.2. Model Trim</a:t>
            </a:r>
          </a:p>
          <a:p>
            <a:pPr>
              <a:buSzPct val="90756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	Static Position Trim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2E52CB10-6A60-2018-299E-C71CA91824AC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2ABE8DD2-2139-7F89-74D0-9E976DE6E23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BF137A-2F3D-B054-F11A-1BEA74E2631B}"/>
                  </a:ext>
                </a:extLst>
              </p:cNvPr>
              <p:cNvSpPr txBox="1"/>
              <p:nvPr/>
            </p:nvSpPr>
            <p:spPr>
              <a:xfrm>
                <a:off x="2604041" y="3808307"/>
                <a:ext cx="9052440" cy="36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0,0,1</m:t>
                              </m:r>
                            </m:e>
                          </m:d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lit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//   </m:t>
                      </m:r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100" b="1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BF137A-2F3D-B054-F11A-1BEA74E2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041" y="3808307"/>
                <a:ext cx="9052440" cy="369909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 descr="Avión de guerra volando&#10;&#10;El contenido generado por IA puede ser incorrecto.">
            <a:extLst>
              <a:ext uri="{FF2B5EF4-FFF2-40B4-BE49-F238E27FC236}">
                <a16:creationId xmlns:a16="http://schemas.microsoft.com/office/drawing/2014/main" id="{071DBDD2-23CA-78C4-CB1C-4332C1D23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52" y="2380263"/>
            <a:ext cx="2376093" cy="1584062"/>
          </a:xfrm>
          <a:prstGeom prst="rect">
            <a:avLst/>
          </a:prstGeom>
        </p:spPr>
      </p:pic>
      <p:sp>
        <p:nvSpPr>
          <p:cNvPr id="5" name="Flecha: hacia arriba 4">
            <a:extLst>
              <a:ext uri="{FF2B5EF4-FFF2-40B4-BE49-F238E27FC236}">
                <a16:creationId xmlns:a16="http://schemas.microsoft.com/office/drawing/2014/main" id="{CEFA2A36-0D52-AD16-5A59-1CB2927D0567}"/>
              </a:ext>
            </a:extLst>
          </p:cNvPr>
          <p:cNvSpPr/>
          <p:nvPr/>
        </p:nvSpPr>
        <p:spPr>
          <a:xfrm>
            <a:off x="1437316" y="2216598"/>
            <a:ext cx="173368" cy="5604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2FA7B1-CBB3-5E4E-09FA-04DBC9C4471B}"/>
              </a:ext>
            </a:extLst>
          </p:cNvPr>
          <p:cNvSpPr txBox="1"/>
          <p:nvPr/>
        </p:nvSpPr>
        <p:spPr>
          <a:xfrm>
            <a:off x="1340800" y="1709255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T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75BA8F68-D9E4-3C93-93AC-DBAC8D3202E8}"/>
              </a:ext>
            </a:extLst>
          </p:cNvPr>
          <p:cNvSpPr/>
          <p:nvPr/>
        </p:nvSpPr>
        <p:spPr>
          <a:xfrm>
            <a:off x="1437316" y="3520525"/>
            <a:ext cx="173368" cy="560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366BE9-E6C6-E582-2089-D8F59DA67130}"/>
              </a:ext>
            </a:extLst>
          </p:cNvPr>
          <p:cNvSpPr txBox="1"/>
          <p:nvPr/>
        </p:nvSpPr>
        <p:spPr>
          <a:xfrm>
            <a:off x="1258528" y="4246148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A9257A4-1A01-4677-7FA1-B0A94A2D2ED3}"/>
                  </a:ext>
                </a:extLst>
              </p:cNvPr>
              <p:cNvSpPr txBox="1"/>
              <p:nvPr/>
            </p:nvSpPr>
            <p:spPr>
              <a:xfrm>
                <a:off x="2848898" y="1090231"/>
                <a:ext cx="8935402" cy="2702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noProof="0" dirty="0">
                    <a:solidFill>
                      <a:schemeClr val="bg2"/>
                    </a:solidFill>
                    <a:latin typeface="Arial Black" panose="020B0A04020102020204" pitchFamily="34" charset="0"/>
                  </a:rPr>
                  <a:t>Trim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  <a:latin typeface="Arial Black" panose="020B0A040201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endParaRPr lang="en-US" sz="18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endParaRPr lang="en-US" sz="18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800" b="0" noProof="0" dirty="0">
                    <a:solidFill>
                      <a:schemeClr val="bg2"/>
                    </a:solidFill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</m:e>
                    </m:d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  <a:p>
                <a:r>
                  <a:rPr lang="en-US" sz="1800" noProof="0" dirty="0">
                    <a:solidFill>
                      <a:schemeClr val="bg2"/>
                    </a:solidFill>
                    <a:latin typeface="Arial Black" panose="020B0A040201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80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1800" b="1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</m:sub>
                    </m:sSub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 ; 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80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sz="180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1800" b="1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𝒕𝒓𝒊𝒎</m:t>
                            </m:r>
                          </m:sub>
                        </m:sSub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̇"/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𝑩𝒖</m:t>
                    </m:r>
                  </m:oMath>
                </a14:m>
                <a:endParaRPr lang="en-US" sz="1800" b="1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  <a:p>
                <a:r>
                  <a:rPr lang="en-US" sz="1800" noProof="0" dirty="0">
                    <a:solidFill>
                      <a:schemeClr val="bg2"/>
                    </a:solidFill>
                    <a:latin typeface="Arial Black" panose="020B0A04020102020204" pitchFamily="34" charset="0"/>
                  </a:rPr>
                  <a:t>	</a:t>
                </a:r>
                <a:endParaRPr lang="en-US" sz="1800" b="0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  <a:p>
                <a:endParaRPr lang="en-US" sz="2400" noProof="0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A9257A4-1A01-4677-7FA1-B0A94A2D2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898" y="1090231"/>
                <a:ext cx="8935402" cy="2702856"/>
              </a:xfrm>
              <a:prstGeom prst="rect">
                <a:avLst/>
              </a:prstGeom>
              <a:blipFill>
                <a:blip r:embed="rId5"/>
                <a:stretch>
                  <a:fillRect l="-682" t="-1354" b="-17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6F8A963A-10EA-5EFE-3643-D1B639B52E1E}"/>
              </a:ext>
            </a:extLst>
          </p:cNvPr>
          <p:cNvSpPr txBox="1"/>
          <p:nvPr/>
        </p:nvSpPr>
        <p:spPr>
          <a:xfrm>
            <a:off x="2848898" y="3370362"/>
            <a:ext cx="8807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2"/>
                </a:solidFill>
                <a:latin typeface="Arial Black" panose="020B0A04020102020204" pitchFamily="34" charset="0"/>
              </a:rPr>
              <a:t>Simple trim case</a:t>
            </a:r>
          </a:p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DF2C697-3091-44C7-A8B7-E69C20C53CA7}"/>
                  </a:ext>
                </a:extLst>
              </p:cNvPr>
              <p:cNvSpPr txBox="1"/>
              <p:nvPr/>
            </p:nvSpPr>
            <p:spPr>
              <a:xfrm>
                <a:off x="4646092" y="4306917"/>
                <a:ext cx="5341014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 → </m:t>
                      </m:r>
                      <m:r>
                        <m:rPr>
                          <m:sty m:val="p"/>
                        </m:rPr>
                        <a:rPr lang="en-US" sz="180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𝑚𝑔</m:t>
                              </m:r>
                            </m:num>
                            <m:den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= 733.16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DF2C697-3091-44C7-A8B7-E69C20C53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092" y="4306917"/>
                <a:ext cx="5341014" cy="818366"/>
              </a:xfrm>
              <a:prstGeom prst="rect">
                <a:avLst/>
              </a:prstGeom>
              <a:blipFill>
                <a:blip r:embed="rId6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97776D08-338D-A9EE-DC4D-E2D91C52CFC3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3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32FAAAF-B602-B741-753F-739BA430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9E7556A-FDF5-6F66-FC0A-840D839BA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1.2. Model Trim</a:t>
            </a:r>
            <a:br>
              <a:rPr lang="en-US" sz="2400" dirty="0">
                <a:latin typeface="Arial Black" panose="020B0A04020102020204" pitchFamily="34" charset="0"/>
                <a:sym typeface="Calibri"/>
              </a:rPr>
            </a:br>
            <a:r>
              <a:rPr lang="en-US" sz="2400" dirty="0">
                <a:latin typeface="Arial Black" panose="020B0A04020102020204" pitchFamily="34" charset="0"/>
                <a:sym typeface="Calibri"/>
              </a:rPr>
              <a:t>	Constant x velocity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C7E4E6AE-F673-5298-F322-FFA12816B0E5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72065BF-6CFC-9C13-4D7E-5976026FD01A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8B322E0-865F-474F-1D89-7F0CEA1BCC39}"/>
                  </a:ext>
                </a:extLst>
              </p:cNvPr>
              <p:cNvSpPr txBox="1"/>
              <p:nvPr/>
            </p:nvSpPr>
            <p:spPr>
              <a:xfrm>
                <a:off x="4903875" y="1347020"/>
                <a:ext cx="2403029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1,0,0</m:t>
                              </m:r>
                            </m:e>
                          </m:d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//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8B322E0-865F-474F-1D89-7F0CEA1BC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875" y="1347020"/>
                <a:ext cx="2403029" cy="369909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 descr="Avión de guerra volando&#10;&#10;El contenido generado por IA puede ser incorrecto.">
            <a:extLst>
              <a:ext uri="{FF2B5EF4-FFF2-40B4-BE49-F238E27FC236}">
                <a16:creationId xmlns:a16="http://schemas.microsoft.com/office/drawing/2014/main" id="{49FC3E3B-D508-80F3-C4EE-942D205A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32" y="2250969"/>
            <a:ext cx="2417903" cy="1611935"/>
          </a:xfrm>
          <a:prstGeom prst="rect">
            <a:avLst/>
          </a:prstGeom>
        </p:spPr>
      </p:pic>
      <p:sp>
        <p:nvSpPr>
          <p:cNvPr id="5" name="Flecha: hacia arriba 4">
            <a:extLst>
              <a:ext uri="{FF2B5EF4-FFF2-40B4-BE49-F238E27FC236}">
                <a16:creationId xmlns:a16="http://schemas.microsoft.com/office/drawing/2014/main" id="{B7D4DB49-2C03-8902-378C-784BB60A82DF}"/>
              </a:ext>
            </a:extLst>
          </p:cNvPr>
          <p:cNvSpPr/>
          <p:nvPr/>
        </p:nvSpPr>
        <p:spPr>
          <a:xfrm rot="19993277">
            <a:off x="1320361" y="2179718"/>
            <a:ext cx="173368" cy="56043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603C2E-9E93-2592-6A2B-C3DF25F947B3}"/>
              </a:ext>
            </a:extLst>
          </p:cNvPr>
          <p:cNvSpPr txBox="1"/>
          <p:nvPr/>
        </p:nvSpPr>
        <p:spPr>
          <a:xfrm>
            <a:off x="1004696" y="1794410"/>
            <a:ext cx="865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/>
              <a:t>T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F7DD79D1-C9CB-6930-81B6-6266DAD2458B}"/>
              </a:ext>
            </a:extLst>
          </p:cNvPr>
          <p:cNvSpPr/>
          <p:nvPr/>
        </p:nvSpPr>
        <p:spPr>
          <a:xfrm>
            <a:off x="1437316" y="3429000"/>
            <a:ext cx="173368" cy="560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13A73F-A1E5-064B-9A50-BDE4682B1431}"/>
              </a:ext>
            </a:extLst>
          </p:cNvPr>
          <p:cNvSpPr txBox="1"/>
          <p:nvPr/>
        </p:nvSpPr>
        <p:spPr>
          <a:xfrm>
            <a:off x="1304564" y="3989439"/>
            <a:ext cx="865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/>
              <a:t>W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56D2778-BBE3-08BA-99AA-EC34287F8620}"/>
              </a:ext>
            </a:extLst>
          </p:cNvPr>
          <p:cNvCxnSpPr/>
          <p:nvPr/>
        </p:nvCxnSpPr>
        <p:spPr>
          <a:xfrm flipH="1">
            <a:off x="235974" y="3045542"/>
            <a:ext cx="304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22C36-37DA-09D9-C8F0-A1F17F7C990C}"/>
              </a:ext>
            </a:extLst>
          </p:cNvPr>
          <p:cNvSpPr txBox="1"/>
          <p:nvPr/>
        </p:nvSpPr>
        <p:spPr>
          <a:xfrm>
            <a:off x="243397" y="2662301"/>
            <a:ext cx="231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/>
              <a:t>v</a:t>
            </a:r>
            <a:endParaRPr lang="en-US" noProof="0" dirty="0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3EB46991-99EA-F602-2700-BC1651F43EE0}"/>
              </a:ext>
            </a:extLst>
          </p:cNvPr>
          <p:cNvSpPr/>
          <p:nvPr/>
        </p:nvSpPr>
        <p:spPr>
          <a:xfrm>
            <a:off x="2622604" y="3064311"/>
            <a:ext cx="779698" cy="875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104648-57AA-657C-2276-B7A3BD53DC74}"/>
              </a:ext>
            </a:extLst>
          </p:cNvPr>
          <p:cNvSpPr txBox="1"/>
          <p:nvPr/>
        </p:nvSpPr>
        <p:spPr>
          <a:xfrm>
            <a:off x="2874545" y="2684884"/>
            <a:ext cx="502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/>
              <a:t>D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FC16881-69BD-BE7D-EE6A-C9E8BD8E4060}"/>
              </a:ext>
            </a:extLst>
          </p:cNvPr>
          <p:cNvCxnSpPr/>
          <p:nvPr/>
        </p:nvCxnSpPr>
        <p:spPr>
          <a:xfrm>
            <a:off x="1563483" y="1317523"/>
            <a:ext cx="0" cy="1790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o 16">
            <a:extLst>
              <a:ext uri="{FF2B5EF4-FFF2-40B4-BE49-F238E27FC236}">
                <a16:creationId xmlns:a16="http://schemas.microsoft.com/office/drawing/2014/main" id="{DCD3BA93-83E7-0EC3-D015-0E41A982E505}"/>
              </a:ext>
            </a:extLst>
          </p:cNvPr>
          <p:cNvSpPr/>
          <p:nvPr/>
        </p:nvSpPr>
        <p:spPr>
          <a:xfrm rot="18156772">
            <a:off x="1247262" y="2355608"/>
            <a:ext cx="439348" cy="34460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D093210-DEDE-9627-A5F1-209CD744A42D}"/>
                  </a:ext>
                </a:extLst>
              </p:cNvPr>
              <p:cNvSpPr txBox="1"/>
              <p:nvPr/>
            </p:nvSpPr>
            <p:spPr>
              <a:xfrm>
                <a:off x="1366904" y="1985786"/>
                <a:ext cx="2388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D093210-DEDE-9627-A5F1-209CD744A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04" y="1985786"/>
                <a:ext cx="238847" cy="307777"/>
              </a:xfrm>
              <a:prstGeom prst="rect">
                <a:avLst/>
              </a:prstGeom>
              <a:blipFill>
                <a:blip r:embed="rId5"/>
                <a:stretch>
                  <a:fillRect l="-20513" r="-23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B6D00D5-C0F7-D2D8-A9F7-581991A4167B}"/>
                  </a:ext>
                </a:extLst>
              </p:cNvPr>
              <p:cNvSpPr txBox="1"/>
              <p:nvPr/>
            </p:nvSpPr>
            <p:spPr>
              <a:xfrm>
                <a:off x="3632658" y="1859132"/>
                <a:ext cx="5201265" cy="2834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+mn-lt"/>
                  </a:rPr>
                  <a:t>In this case, </a:t>
                </a:r>
                <a14:m>
                  <m:oMath xmlns:m="http://schemas.openxmlformats.org/officeDocument/2006/math"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+mn-lt"/>
                  </a:rPr>
                  <a:t> is not constant. Since any internal force of the system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+mn-lt"/>
                  </a:rPr>
                  <a:t>, it can not be taken into account when solving: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1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sz="1800" b="1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Now the equation is solved with minimizing f with constrains in the previously known values of </a:t>
                </a:r>
                <a14:m>
                  <m:oMath xmlns:m="http://schemas.openxmlformats.org/officeDocument/2006/math"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B6D00D5-C0F7-D2D8-A9F7-581991A4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658" y="1859132"/>
                <a:ext cx="5201265" cy="2834237"/>
              </a:xfrm>
              <a:prstGeom prst="rect">
                <a:avLst/>
              </a:prstGeom>
              <a:blipFill>
                <a:blip r:embed="rId6"/>
                <a:stretch>
                  <a:fillRect l="-821" t="-1290" r="-1055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a 19">
                <a:extLst>
                  <a:ext uri="{FF2B5EF4-FFF2-40B4-BE49-F238E27FC236}">
                    <a16:creationId xmlns:a16="http://schemas.microsoft.com/office/drawing/2014/main" id="{4EF07EE2-F427-E9B9-18E2-B361192187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031695"/>
                  </p:ext>
                </p:extLst>
              </p:nvPr>
            </p:nvGraphicFramePr>
            <p:xfrm>
              <a:off x="8860325" y="979566"/>
              <a:ext cx="2946980" cy="4690786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473490">
                      <a:extLst>
                        <a:ext uri="{9D8B030D-6E8A-4147-A177-3AD203B41FA5}">
                          <a16:colId xmlns:a16="http://schemas.microsoft.com/office/drawing/2014/main" val="737966982"/>
                        </a:ext>
                      </a:extLst>
                    </a:gridCol>
                    <a:gridCol w="1473490">
                      <a:extLst>
                        <a:ext uri="{9D8B030D-6E8A-4147-A177-3AD203B41FA5}">
                          <a16:colId xmlns:a16="http://schemas.microsoft.com/office/drawing/2014/main" val="1829263525"/>
                        </a:ext>
                      </a:extLst>
                    </a:gridCol>
                  </a:tblGrid>
                  <a:tr h="668993">
                    <a:tc>
                      <a:txBody>
                        <a:bodyPr/>
                        <a:lstStyle/>
                        <a:p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noProof="0" dirty="0"/>
                            <a:t>Rad/s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9776501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noProof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lang="en-US" sz="3200" b="0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/>
                            <a:t>730.5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0916565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32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734.8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8781930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32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739.7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3182892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32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730.6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877440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32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728.8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633224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32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a:rPr kumimoji="0" lang="en-US" sz="3200" b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734.0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0405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a 19">
                <a:extLst>
                  <a:ext uri="{FF2B5EF4-FFF2-40B4-BE49-F238E27FC236}">
                    <a16:creationId xmlns:a16="http://schemas.microsoft.com/office/drawing/2014/main" id="{4EF07EE2-F427-E9B9-18E2-B361192187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031695"/>
                  </p:ext>
                </p:extLst>
              </p:nvPr>
            </p:nvGraphicFramePr>
            <p:xfrm>
              <a:off x="8860325" y="979566"/>
              <a:ext cx="2946980" cy="4690786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473490">
                      <a:extLst>
                        <a:ext uri="{9D8B030D-6E8A-4147-A177-3AD203B41FA5}">
                          <a16:colId xmlns:a16="http://schemas.microsoft.com/office/drawing/2014/main" val="737966982"/>
                        </a:ext>
                      </a:extLst>
                    </a:gridCol>
                    <a:gridCol w="1473490">
                      <a:extLst>
                        <a:ext uri="{9D8B030D-6E8A-4147-A177-3AD203B41FA5}">
                          <a16:colId xmlns:a16="http://schemas.microsoft.com/office/drawing/2014/main" val="1829263525"/>
                        </a:ext>
                      </a:extLst>
                    </a:gridCol>
                  </a:tblGrid>
                  <a:tr h="668993">
                    <a:tc>
                      <a:txBody>
                        <a:bodyPr/>
                        <a:lstStyle/>
                        <a:p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800" noProof="0" dirty="0"/>
                            <a:t>Rad/s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9776501"/>
                      </a:ext>
                    </a:extLst>
                  </a:tr>
                  <a:tr h="668993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109091" r="-100826" b="-5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/>
                            <a:t>730.5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0916565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209091" r="-100826" b="-4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734.8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878193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309091" r="-100826" b="-3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739.7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3182892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405405" r="-100826" b="-199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730.6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87744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510000" r="-100826" b="-10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728.8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633224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7"/>
                          <a:stretch>
                            <a:fillRect l="-413" t="-610000" r="-100826" b="-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400" b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sym typeface="Arial"/>
                            </a:rPr>
                            <a:t>734.0</a:t>
                          </a:r>
                        </a:p>
                        <a:p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0405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E9B5E988-3B03-9773-ADAA-22139E2418F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9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2. Baseline controller implementation, tuning and testing</a:t>
            </a:r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5C10A3-D572-F591-4813-1AC4A00BEB9A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4D6831-C1C7-D061-347B-8EEB9D754CFD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2.1 C</a:t>
            </a:r>
            <a:r>
              <a:rPr lang="en-US" sz="2400" noProof="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D7A657D-C06C-A06D-FFBF-629436085218}"/>
              </a:ext>
            </a:extLst>
          </p:cNvPr>
          <p:cNvSpPr/>
          <p:nvPr/>
        </p:nvSpPr>
        <p:spPr>
          <a:xfrm>
            <a:off x="1012723" y="1135642"/>
            <a:ext cx="4935793" cy="244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6C075D-1E87-1034-12AC-663ABA62574B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75C029BA-7C3E-883F-AD8E-D83BA5B40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305390"/>
                  </p:ext>
                </p:extLst>
              </p:nvPr>
            </p:nvGraphicFramePr>
            <p:xfrm>
              <a:off x="1107768" y="1657299"/>
              <a:ext cx="4722762" cy="1828800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2589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noProof="0" dirty="0">
                              <a:latin typeface="+mn-lt"/>
                            </a:rPr>
                            <a:t>INPUT</a:t>
                          </a:r>
                          <a:endParaRPr lang="en-US" noProof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200579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noProof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Desired trajectory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  <m:r>
                                  <a:rPr lang="en-US" sz="2000" b="1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  <m:r>
                                  <a:rPr lang="en-US" sz="2000" b="1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2000" b="1" i="1" noProof="0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/>
                        </a:p>
                        <a:p>
                          <a:pPr marL="0" indent="0">
                            <a:buFont typeface="+mj-lt"/>
                            <a:buNone/>
                          </a:pPr>
                          <a:endParaRPr lang="en-US" sz="1600" noProof="0" dirty="0"/>
                        </a:p>
                        <a:p>
                          <a:pPr marL="342900" marR="0" indent="-3429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Current state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2000" b="1" i="1" noProof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1" i="1" noProof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US" sz="2000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Control force required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noProof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8">
                <a:extLst>
                  <a:ext uri="{FF2B5EF4-FFF2-40B4-BE49-F238E27FC236}">
                    <a16:creationId xmlns:a16="http://schemas.microsoft.com/office/drawing/2014/main" id="{75C029BA-7C3E-883F-AD8E-D83BA5B40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305390"/>
                  </p:ext>
                </p:extLst>
              </p:nvPr>
            </p:nvGraphicFramePr>
            <p:xfrm>
              <a:off x="1107768" y="1657299"/>
              <a:ext cx="4722762" cy="1828800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noProof="0" dirty="0">
                              <a:latin typeface="+mn-lt"/>
                            </a:rPr>
                            <a:t>INPUT</a:t>
                          </a:r>
                          <a:endParaRPr lang="en-US" noProof="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4935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258" t="-23171" r="-101031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3"/>
                          <a:stretch>
                            <a:fillRect l="-100258" t="-23171" r="-1031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B5263698-BD6E-92F0-E7BA-1BE10AFE6DFB}"/>
              </a:ext>
            </a:extLst>
          </p:cNvPr>
          <p:cNvSpPr/>
          <p:nvPr/>
        </p:nvSpPr>
        <p:spPr>
          <a:xfrm>
            <a:off x="1012723" y="3693131"/>
            <a:ext cx="4935793" cy="244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0E3089-49B3-C6D2-5D84-F7F30FBF2E40}"/>
              </a:ext>
            </a:extLst>
          </p:cNvPr>
          <p:cNvSpPr txBox="1"/>
          <p:nvPr/>
        </p:nvSpPr>
        <p:spPr>
          <a:xfrm>
            <a:off x="1012724" y="3814678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Attitude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a 11">
                <a:extLst>
                  <a:ext uri="{FF2B5EF4-FFF2-40B4-BE49-F238E27FC236}">
                    <a16:creationId xmlns:a16="http://schemas.microsoft.com/office/drawing/2014/main" id="{F30FE88C-5BAD-3220-61EB-E1FBB3653C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682496"/>
                  </p:ext>
                </p:extLst>
              </p:nvPr>
            </p:nvGraphicFramePr>
            <p:xfrm>
              <a:off x="1107768" y="4214788"/>
              <a:ext cx="4722762" cy="1804988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01401"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402830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Control force required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/>
                        </a:p>
                        <a:p>
                          <a:pPr marL="342900" indent="-342900">
                            <a:buFont typeface="+mj-lt"/>
                            <a:buAutoNum type="arabicPeriod" startAt="2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Heading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sz="18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Desired rotation matrix 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/>
                        </a:p>
                        <a:p>
                          <a:pPr marL="0" indent="0">
                            <a:buFont typeface="+mj-lt"/>
                            <a:buNone/>
                          </a:pPr>
                          <a:endParaRPr lang="en-US" sz="16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a 11">
                <a:extLst>
                  <a:ext uri="{FF2B5EF4-FFF2-40B4-BE49-F238E27FC236}">
                    <a16:creationId xmlns:a16="http://schemas.microsoft.com/office/drawing/2014/main" id="{F30FE88C-5BAD-3220-61EB-E1FBB3653C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5682496"/>
                  </p:ext>
                </p:extLst>
              </p:nvPr>
            </p:nvGraphicFramePr>
            <p:xfrm>
              <a:off x="1107768" y="4214788"/>
              <a:ext cx="4722762" cy="1804988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46970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4"/>
                          <a:stretch>
                            <a:fillRect l="-258" t="-23967" r="-101031" b="-3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23967" r="-1031" b="-33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6EB6E2AC-0926-72B7-0952-263429F0B0F0}"/>
              </a:ext>
            </a:extLst>
          </p:cNvPr>
          <p:cNvSpPr/>
          <p:nvPr/>
        </p:nvSpPr>
        <p:spPr>
          <a:xfrm>
            <a:off x="6582697" y="3693131"/>
            <a:ext cx="4935793" cy="244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B5118B-113E-EBBC-96CF-17C6897C9E6F}"/>
              </a:ext>
            </a:extLst>
          </p:cNvPr>
          <p:cNvSpPr txBox="1"/>
          <p:nvPr/>
        </p:nvSpPr>
        <p:spPr>
          <a:xfrm>
            <a:off x="6582698" y="3814678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Attitude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107F5B3C-5874-6D16-FE1A-79461365C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888076"/>
                  </p:ext>
                </p:extLst>
              </p:nvPr>
            </p:nvGraphicFramePr>
            <p:xfrm>
              <a:off x="6724726" y="4207170"/>
              <a:ext cx="4722762" cy="1798320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01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402830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Actual and desired rot. matrix 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sub>
                                </m:sSub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US" sz="1800" b="1" noProof="0" dirty="0"/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sz="1600" noProof="0" dirty="0"/>
                            <a:t>2.     </a:t>
                          </a: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Body rotational velocity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noProof="0" smtClean="0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800" b="1" i="1" noProof="0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oMath>
                          </a14:m>
                          <a:endParaRPr lang="en-US" sz="1600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Desired control moments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/>
                        </a:p>
                        <a:p>
                          <a:pPr marL="0" indent="0">
                            <a:buFont typeface="+mj-lt"/>
                            <a:buNone/>
                          </a:pPr>
                          <a:endParaRPr lang="en-US" sz="1600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a 14">
                <a:extLst>
                  <a:ext uri="{FF2B5EF4-FFF2-40B4-BE49-F238E27FC236}">
                    <a16:creationId xmlns:a16="http://schemas.microsoft.com/office/drawing/2014/main" id="{107F5B3C-5874-6D16-FE1A-79461365C2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888076"/>
                  </p:ext>
                </p:extLst>
              </p:nvPr>
            </p:nvGraphicFramePr>
            <p:xfrm>
              <a:off x="6724726" y="4207170"/>
              <a:ext cx="4722762" cy="1798320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5"/>
                          <a:stretch>
                            <a:fillRect l="-258" t="-24066" r="-101031" b="-58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5"/>
                          <a:stretch>
                            <a:fillRect l="-100517" t="-24066" r="-1292" b="-58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0686C123-3FFD-E128-A259-E5B3EA770BFB}"/>
              </a:ext>
            </a:extLst>
          </p:cNvPr>
          <p:cNvSpPr/>
          <p:nvPr/>
        </p:nvSpPr>
        <p:spPr>
          <a:xfrm>
            <a:off x="6582697" y="1135642"/>
            <a:ext cx="4935793" cy="244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F7548E9-D45F-35A7-FC44-975379615190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CF2481B3-188D-4F94-A042-DF11D01C62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142428"/>
                  </p:ext>
                </p:extLst>
              </p:nvPr>
            </p:nvGraphicFramePr>
            <p:xfrm>
              <a:off x="6677742" y="1657299"/>
              <a:ext cx="4722762" cy="1535859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258948"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200579"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Desired forces and moments in body reference</a:t>
                          </a:r>
                        </a:p>
                        <a:p>
                          <a:pPr marL="0" indent="0">
                            <a:buFont typeface="+mj-lt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 noProof="0" smtClean="0">
                                            <a:latin typeface="Cambria Math" panose="02040503050406030204" pitchFamily="18" charset="0"/>
                                          </a:rPr>
                                          <m:t>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en-US" sz="1800" b="1" i="1" noProof="0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0" u="none" strike="noStrike" cap="none" noProof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Arial" panose="020B0604020202020204" pitchFamily="34" charset="0"/>
                                  <a:sym typeface="Arial"/>
                                </a:rPr>
                                <m:t>Ω</m:t>
                              </m:r>
                            </m:oMath>
                          </a14:m>
                          <a:r>
                            <a:rPr lang="en-US" sz="1800" b="0" i="0" u="none" strike="noStrike" cap="none" noProof="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Calibri"/>
                              <a:cs typeface="Arial" panose="020B0604020202020204" pitchFamily="34" charset="0"/>
                              <a:sym typeface="Arial"/>
                            </a:rPr>
                            <a:t> commanded for each propeller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a 17">
                <a:extLst>
                  <a:ext uri="{FF2B5EF4-FFF2-40B4-BE49-F238E27FC236}">
                    <a16:creationId xmlns:a16="http://schemas.microsoft.com/office/drawing/2014/main" id="{CF2481B3-188D-4F94-A042-DF11D01C62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142428"/>
                  </p:ext>
                </p:extLst>
              </p:nvPr>
            </p:nvGraphicFramePr>
            <p:xfrm>
              <a:off x="6677742" y="1657299"/>
              <a:ext cx="4722762" cy="1535859"/>
            </p:xfrm>
            <a:graphic>
              <a:graphicData uri="http://schemas.openxmlformats.org/drawingml/2006/table">
                <a:tbl>
                  <a:tblPr firstRow="1" bandRow="1">
                    <a:tableStyleId>{646D11E4-C3FA-4688-95FB-FC74C53831E7}</a:tableStyleId>
                  </a:tblPr>
                  <a:tblGrid>
                    <a:gridCol w="2361381">
                      <a:extLst>
                        <a:ext uri="{9D8B030D-6E8A-4147-A177-3AD203B41FA5}">
                          <a16:colId xmlns:a16="http://schemas.microsoft.com/office/drawing/2014/main" val="2088809196"/>
                        </a:ext>
                      </a:extLst>
                    </a:gridCol>
                    <a:gridCol w="2361381">
                      <a:extLst>
                        <a:ext uri="{9D8B030D-6E8A-4147-A177-3AD203B41FA5}">
                          <a16:colId xmlns:a16="http://schemas.microsoft.com/office/drawing/2014/main" val="3703415907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INPUT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0" u="none" strike="noStrike" cap="none" noProof="0" dirty="0">
                              <a:solidFill>
                                <a:schemeClr val="lt1"/>
                              </a:solidFill>
                              <a:latin typeface="+mn-lt"/>
                              <a:ea typeface="Calibri"/>
                              <a:cs typeface="Calibri"/>
                              <a:sym typeface="Arial"/>
                            </a:rPr>
                            <a:t>OUTPUT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4773222"/>
                      </a:ext>
                    </a:extLst>
                  </a:tr>
                  <a:tr h="1200579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6"/>
                          <a:stretch>
                            <a:fillRect l="-258" t="-28788" r="-101031" b="-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6"/>
                          <a:stretch>
                            <a:fillRect l="-100258" t="-28788" r="-1031" b="-40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404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D26276A0-0CFF-6C8E-C9FA-A00CC553A617}"/>
              </a:ext>
            </a:extLst>
          </p:cNvPr>
          <p:cNvSpPr/>
          <p:nvPr/>
        </p:nvSpPr>
        <p:spPr>
          <a:xfrm>
            <a:off x="3362632" y="3429000"/>
            <a:ext cx="196645" cy="4001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lecha: hacia abajo 21">
            <a:extLst>
              <a:ext uri="{FF2B5EF4-FFF2-40B4-BE49-F238E27FC236}">
                <a16:creationId xmlns:a16="http://schemas.microsoft.com/office/drawing/2014/main" id="{0CF692F2-5D65-22A1-304B-C8B959C74472}"/>
              </a:ext>
            </a:extLst>
          </p:cNvPr>
          <p:cNvSpPr/>
          <p:nvPr/>
        </p:nvSpPr>
        <p:spPr>
          <a:xfrm rot="16200000">
            <a:off x="6166334" y="4717750"/>
            <a:ext cx="196645" cy="4001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06B58BE4-6303-F222-5C4C-5663DD9BD588}"/>
              </a:ext>
            </a:extLst>
          </p:cNvPr>
          <p:cNvSpPr/>
          <p:nvPr/>
        </p:nvSpPr>
        <p:spPr>
          <a:xfrm rot="10800000">
            <a:off x="8940800" y="3462048"/>
            <a:ext cx="196645" cy="4001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Flecha: hacia abajo 23">
            <a:extLst>
              <a:ext uri="{FF2B5EF4-FFF2-40B4-BE49-F238E27FC236}">
                <a16:creationId xmlns:a16="http://schemas.microsoft.com/office/drawing/2014/main" id="{41DB1710-DC29-EB47-750A-7429E68029C6}"/>
              </a:ext>
            </a:extLst>
          </p:cNvPr>
          <p:cNvSpPr/>
          <p:nvPr/>
        </p:nvSpPr>
        <p:spPr>
          <a:xfrm rot="16200000">
            <a:off x="6166334" y="2303149"/>
            <a:ext cx="196645" cy="4001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97608C29-C069-9D14-A28D-EE667771AAF2}"/>
              </a:ext>
            </a:extLst>
          </p:cNvPr>
          <p:cNvSpPr/>
          <p:nvPr/>
        </p:nvSpPr>
        <p:spPr>
          <a:xfrm rot="16200000">
            <a:off x="11738208" y="2204827"/>
            <a:ext cx="196645" cy="4001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CD9678-14A8-208A-3F35-FF750CC5A0CD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595BEEA1-20DB-5848-6EA0-C5AEF55B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AB5377F-AE4C-A256-57AB-3DC923A83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9" y="30865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cap="small" noProof="0" dirty="0"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2.1 C</a:t>
            </a:r>
            <a:r>
              <a:rPr lang="en-US" sz="2400" noProof="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Time scales separation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AA3A0951-D3EA-4EAD-704A-B03ED3D54D6C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65723BA1-0FA8-3E66-2F00-DCB5B4FEE53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3BB136-CBD9-68A8-AE6A-4F54DDDFCBF4}"/>
              </a:ext>
            </a:extLst>
          </p:cNvPr>
          <p:cNvSpPr txBox="1"/>
          <p:nvPr/>
        </p:nvSpPr>
        <p:spPr>
          <a:xfrm>
            <a:off x="1012724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Position Controller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3BB70B2-7E94-0896-92F2-F8256EDD0BDB}"/>
              </a:ext>
            </a:extLst>
          </p:cNvPr>
          <p:cNvSpPr txBox="1"/>
          <p:nvPr/>
        </p:nvSpPr>
        <p:spPr>
          <a:xfrm>
            <a:off x="6582698" y="1257189"/>
            <a:ext cx="493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Allocation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294BAC3-0839-7B3B-6F69-CBBD7110895A}"/>
                  </a:ext>
                </a:extLst>
              </p:cNvPr>
              <p:cNvSpPr txBox="1"/>
              <p:nvPr/>
            </p:nvSpPr>
            <p:spPr>
              <a:xfrm>
                <a:off x="585019" y="1257189"/>
                <a:ext cx="1102196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Properly assigning </a:t>
                </a:r>
                <a:r>
                  <a:rPr lang="en-US" sz="1800" b="1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characteristic times </a:t>
                </a: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each step of the control architecture is needed to ensure a correct behavior of the system.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the </a:t>
                </a:r>
                <a:r>
                  <a:rPr lang="en-US" sz="1800" b="1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linear range</a:t>
                </a: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a first order system, it converges in approximately </a:t>
                </a:r>
                <a14:m>
                  <m:oMath xmlns:m="http://schemas.openxmlformats.org/officeDocument/2006/math"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being the characteristic time. With this number in mind, it can be successively estimated the characteristic time for each control step.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294BAC3-0839-7B3B-6F69-CBBD7110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19" y="1257189"/>
                <a:ext cx="11021961" cy="1477328"/>
              </a:xfrm>
              <a:prstGeom prst="rect">
                <a:avLst/>
              </a:prstGeom>
              <a:blipFill>
                <a:blip r:embed="rId3"/>
                <a:stretch>
                  <a:fillRect l="-387" t="-2058" r="-442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5BC0A0EC-59F5-CB5F-EF43-5823262BEFD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15728063"/>
                  </p:ext>
                </p:extLst>
              </p:nvPr>
            </p:nvGraphicFramePr>
            <p:xfrm>
              <a:off x="1241491" y="1765438"/>
              <a:ext cx="9414050" cy="448103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5BC0A0EC-59F5-CB5F-EF43-5823262BEFD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15728063"/>
                  </p:ext>
                </p:extLst>
              </p:nvPr>
            </p:nvGraphicFramePr>
            <p:xfrm>
              <a:off x="1241491" y="1765438"/>
              <a:ext cx="9414050" cy="448103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7D02C9BC-80DC-AAD2-9242-5B361B92B8A5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9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E703A1F0-5188-8D2A-D0F8-A9D2FFD2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FC0137ED-C500-FDD2-21F5-CB85EE124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251" y="108389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Velocity and position control architecture chosen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0EB2A46A-2869-0B78-3A73-D90A74654F0B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D7152A82-7C6F-C11C-877B-D97F86EC0FA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7DCC2D-22DA-8881-7866-24E25E72C412}"/>
              </a:ext>
            </a:extLst>
          </p:cNvPr>
          <p:cNvSpPr txBox="1"/>
          <p:nvPr/>
        </p:nvSpPr>
        <p:spPr>
          <a:xfrm>
            <a:off x="384695" y="1199918"/>
            <a:ext cx="975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noProof="0" dirty="0">
                <a:solidFill>
                  <a:schemeClr val="bg2"/>
                </a:solidFill>
              </a:rPr>
              <a:t>Standard PID </a:t>
            </a:r>
            <a:r>
              <a:rPr lang="en-US" sz="2000" b="1" noProof="0" dirty="0">
                <a:solidFill>
                  <a:schemeClr val="bg2"/>
                </a:solidFill>
              </a:rPr>
              <a:t>or cascade?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76937DB-B6C9-8D58-5F14-E1364C8CCFEF}"/>
                  </a:ext>
                </a:extLst>
              </p:cNvPr>
              <p:cNvSpPr txBox="1"/>
              <p:nvPr/>
            </p:nvSpPr>
            <p:spPr>
              <a:xfrm>
                <a:off x="659998" y="2008312"/>
                <a:ext cx="3368423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acc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76937DB-B6C9-8D58-5F14-E1364C8CC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98" y="2008312"/>
                <a:ext cx="3368423" cy="331437"/>
              </a:xfrm>
              <a:prstGeom prst="rect">
                <a:avLst/>
              </a:prstGeom>
              <a:blipFill>
                <a:blip r:embed="rId3"/>
                <a:stretch>
                  <a:fillRect l="-542" r="-181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1D179F-8AF7-FA03-8AD2-43A20E33FAE4}"/>
                  </a:ext>
                </a:extLst>
              </p:cNvPr>
              <p:cNvSpPr txBox="1"/>
              <p:nvPr/>
            </p:nvSpPr>
            <p:spPr>
              <a:xfrm>
                <a:off x="659998" y="2466628"/>
                <a:ext cx="1793953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05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F1D179F-8AF7-FA03-8AD2-43A20E33F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98" y="2466628"/>
                <a:ext cx="1793953" cy="331437"/>
              </a:xfrm>
              <a:prstGeom prst="rect">
                <a:avLst/>
              </a:prstGeom>
              <a:blipFill>
                <a:blip r:embed="rId4"/>
                <a:stretch>
                  <a:fillRect l="-1017" t="-1852" r="-33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brir llave 5">
            <a:extLst>
              <a:ext uri="{FF2B5EF4-FFF2-40B4-BE49-F238E27FC236}">
                <a16:creationId xmlns:a16="http://schemas.microsoft.com/office/drawing/2014/main" id="{1AC388BD-B5E5-32BB-EFFB-07CEDE9CA7B1}"/>
              </a:ext>
            </a:extLst>
          </p:cNvPr>
          <p:cNvSpPr/>
          <p:nvPr/>
        </p:nvSpPr>
        <p:spPr>
          <a:xfrm>
            <a:off x="380050" y="1939790"/>
            <a:ext cx="276540" cy="1053676"/>
          </a:xfrm>
          <a:prstGeom prst="leftBrace">
            <a:avLst/>
          </a:prstGeom>
          <a:noFill/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BE92926-C7E4-2665-4CCC-812B721007CD}"/>
                  </a:ext>
                </a:extLst>
              </p:cNvPr>
              <p:cNvSpPr txBox="1"/>
              <p:nvPr/>
            </p:nvSpPr>
            <p:spPr>
              <a:xfrm>
                <a:off x="4338648" y="1116255"/>
                <a:ext cx="62216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2"/>
                    </a:solidFill>
                  </a:rPr>
                  <a:t>Suppose a simplified equation without disturbances: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8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BE92926-C7E4-2665-4CCC-812B72100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648" y="1116255"/>
                <a:ext cx="6221642" cy="646331"/>
              </a:xfrm>
              <a:prstGeom prst="rect">
                <a:avLst/>
              </a:prstGeom>
              <a:blipFill>
                <a:blip r:embed="rId5"/>
                <a:stretch>
                  <a:fillRect l="-882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96DDD87-8F98-9118-C137-B7DDD99A8AA7}"/>
                  </a:ext>
                </a:extLst>
              </p:cNvPr>
              <p:cNvSpPr txBox="1"/>
              <p:nvPr/>
            </p:nvSpPr>
            <p:spPr>
              <a:xfrm>
                <a:off x="4028421" y="3123254"/>
                <a:ext cx="3694538" cy="356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96DDD87-8F98-9118-C137-B7DDD99A8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421" y="3123254"/>
                <a:ext cx="3694538" cy="356636"/>
              </a:xfrm>
              <a:prstGeom prst="rect">
                <a:avLst/>
              </a:prstGeom>
              <a:blipFill>
                <a:blip r:embed="rId6"/>
                <a:stretch>
                  <a:fillRect l="-990"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DDBE76A-CE2F-F9F8-687A-F9C0F728B347}"/>
                  </a:ext>
                </a:extLst>
              </p:cNvPr>
              <p:cNvSpPr txBox="1"/>
              <p:nvPr/>
            </p:nvSpPr>
            <p:spPr>
              <a:xfrm>
                <a:off x="3113785" y="3691938"/>
                <a:ext cx="5854103" cy="3521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DDBE76A-CE2F-F9F8-687A-F9C0F728B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85" y="3691938"/>
                <a:ext cx="5854103" cy="352148"/>
              </a:xfrm>
              <a:prstGeom prst="rect">
                <a:avLst/>
              </a:prstGeom>
              <a:blipFill>
                <a:blip r:embed="rId7"/>
                <a:stretch>
                  <a:fillRect l="-521" t="-12281" r="-104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A106670-1EEB-17DE-08B4-165123A25F76}"/>
                  </a:ext>
                </a:extLst>
              </p:cNvPr>
              <p:cNvSpPr txBox="1"/>
              <p:nvPr/>
            </p:nvSpPr>
            <p:spPr>
              <a:xfrm>
                <a:off x="518320" y="4478484"/>
                <a:ext cx="11045034" cy="1221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</a:rPr>
                  <a:t>Cross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dirty="0">
                    <a:solidFill>
                      <a:schemeClr val="bg2"/>
                    </a:solidFill>
                  </a:rPr>
                  <a:t>leads to Lyapunov function being </a:t>
                </a:r>
                <a:r>
                  <a:rPr lang="en-US" sz="1800" b="1" dirty="0">
                    <a:solidFill>
                      <a:schemeClr val="bg2"/>
                    </a:solidFill>
                  </a:rPr>
                  <a:t>negative semi-definite</a:t>
                </a:r>
                <a:r>
                  <a:rPr lang="en-US" sz="1800" dirty="0">
                    <a:solidFill>
                      <a:schemeClr val="bg2"/>
                    </a:solidFill>
                  </a:rPr>
                  <a:t>. To prove stability, </a:t>
                </a:r>
                <a:r>
                  <a:rPr lang="en-US" sz="1800" b="1" dirty="0">
                    <a:solidFill>
                      <a:schemeClr val="bg2"/>
                    </a:solidFill>
                  </a:rPr>
                  <a:t>Lasalle principle </a:t>
                </a:r>
                <a:r>
                  <a:rPr lang="en-US" sz="1800" dirty="0">
                    <a:solidFill>
                      <a:schemeClr val="bg2"/>
                    </a:solidFill>
                  </a:rPr>
                  <a:t>or </a:t>
                </a:r>
                <a:r>
                  <a:rPr lang="en-US" sz="1800" b="1" dirty="0">
                    <a:solidFill>
                      <a:schemeClr val="bg2"/>
                    </a:solidFill>
                  </a:rPr>
                  <a:t>cross terms Lyapunov function</a:t>
                </a:r>
                <a:r>
                  <a:rPr lang="en-US" sz="1800" dirty="0">
                    <a:solidFill>
                      <a:schemeClr val="bg2"/>
                    </a:solidFill>
                  </a:rPr>
                  <a:t> is needed. 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</a:rPr>
                  <a:t>Position and velocity gains are </a:t>
                </a:r>
                <a:r>
                  <a:rPr lang="en-US" sz="1800" b="1" dirty="0">
                    <a:solidFill>
                      <a:schemeClr val="bg2"/>
                    </a:solidFill>
                  </a:rPr>
                  <a:t>coupled</a:t>
                </a:r>
                <a:r>
                  <a:rPr lang="en-US" sz="1800" dirty="0">
                    <a:solidFill>
                      <a:schemeClr val="bg2"/>
                    </a:solidFill>
                  </a:rPr>
                  <a:t>, leading to practical tuning problems and bandwidth overlapping.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A106670-1EEB-17DE-08B4-165123A2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20" y="4478484"/>
                <a:ext cx="11045034" cy="1221745"/>
              </a:xfrm>
              <a:prstGeom prst="rect">
                <a:avLst/>
              </a:prstGeom>
              <a:blipFill>
                <a:blip r:embed="rId8"/>
                <a:stretch>
                  <a:fillRect l="-331" t="-300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CEFC31C-3E43-7190-E5D9-DB2A6A746DC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E8C8626-5C85-AA70-9770-6E0F75C8E99B}"/>
              </a:ext>
            </a:extLst>
          </p:cNvPr>
          <p:cNvSpPr txBox="1"/>
          <p:nvPr/>
        </p:nvSpPr>
        <p:spPr>
          <a:xfrm>
            <a:off x="4742860" y="2635457"/>
            <a:ext cx="2980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chemeClr val="bg2"/>
                </a:solidFill>
              </a:rPr>
              <a:t>Lyapunov function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90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F9617BA-2F80-16E7-230D-684261938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E6897F7-097F-C519-188B-B31088C81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251" y="108389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Velocity and position control architecture chosen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8F6F3252-D249-52C3-25AA-2ACF0AA01AFB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3FB6F2DD-ACF5-FF02-FDBB-8B4A6A0126F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A4192FD-C10D-447A-1833-DAC44006FCE8}"/>
              </a:ext>
            </a:extLst>
          </p:cNvPr>
          <p:cNvSpPr txBox="1"/>
          <p:nvPr/>
        </p:nvSpPr>
        <p:spPr>
          <a:xfrm>
            <a:off x="384695" y="1199918"/>
            <a:ext cx="975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Standard PID or </a:t>
            </a:r>
            <a:r>
              <a:rPr lang="en-US" sz="2000" b="1" u="sng" noProof="0" dirty="0">
                <a:solidFill>
                  <a:schemeClr val="bg2"/>
                </a:solidFill>
              </a:rPr>
              <a:t>cascade</a:t>
            </a:r>
            <a:r>
              <a:rPr lang="en-US" sz="2000" b="1" noProof="0" dirty="0">
                <a:solidFill>
                  <a:schemeClr val="bg2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6F0721F-1B5B-EADE-FB37-608D21A8A27A}"/>
                  </a:ext>
                </a:extLst>
              </p:cNvPr>
              <p:cNvSpPr txBox="1"/>
              <p:nvPr/>
            </p:nvSpPr>
            <p:spPr>
              <a:xfrm>
                <a:off x="5290843" y="1159948"/>
                <a:ext cx="62216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2"/>
                    </a:solidFill>
                  </a:rPr>
                  <a:t>Suppose a simplified equation without disturbances: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18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6F0721F-1B5B-EADE-FB37-608D21A8A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843" y="1159948"/>
                <a:ext cx="6221642" cy="646331"/>
              </a:xfrm>
              <a:prstGeom prst="rect">
                <a:avLst/>
              </a:prstGeom>
              <a:blipFill>
                <a:blip r:embed="rId3"/>
                <a:stretch>
                  <a:fillRect l="-881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42BBB2E-9F19-246D-C57E-30552900FEED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97F7395-F3EE-8566-EF59-FB6BAAB8E7F9}"/>
                  </a:ext>
                </a:extLst>
              </p:cNvPr>
              <p:cNvSpPr txBox="1"/>
              <p:nvPr/>
            </p:nvSpPr>
            <p:spPr>
              <a:xfrm>
                <a:off x="678822" y="1851299"/>
                <a:ext cx="30877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vel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97F7395-F3EE-8566-EF59-FB6BAAB8E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22" y="1851299"/>
                <a:ext cx="3087705" cy="307777"/>
              </a:xfrm>
              <a:prstGeom prst="rect">
                <a:avLst/>
              </a:prstGeom>
              <a:blipFill>
                <a:blip r:embed="rId4"/>
                <a:stretch>
                  <a:fillRect l="-2367" r="-2564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4034D4-1C38-C3D4-5526-C6C78C9DB6A3}"/>
                  </a:ext>
                </a:extLst>
              </p:cNvPr>
              <p:cNvSpPr txBox="1"/>
              <p:nvPr/>
            </p:nvSpPr>
            <p:spPr>
              <a:xfrm>
                <a:off x="678822" y="2410347"/>
                <a:ext cx="2631618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os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4034D4-1C38-C3D4-5526-C6C78C9DB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22" y="2410347"/>
                <a:ext cx="2631618" cy="331437"/>
              </a:xfrm>
              <a:prstGeom prst="rect">
                <a:avLst/>
              </a:prstGeom>
              <a:blipFill>
                <a:blip r:embed="rId5"/>
                <a:stretch>
                  <a:fillRect l="-69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rir llave 9">
            <a:extLst>
              <a:ext uri="{FF2B5EF4-FFF2-40B4-BE49-F238E27FC236}">
                <a16:creationId xmlns:a16="http://schemas.microsoft.com/office/drawing/2014/main" id="{6A8C3844-B3BF-7A1C-8658-A812E9CD6D8A}"/>
              </a:ext>
            </a:extLst>
          </p:cNvPr>
          <p:cNvSpPr/>
          <p:nvPr/>
        </p:nvSpPr>
        <p:spPr>
          <a:xfrm>
            <a:off x="534155" y="1820296"/>
            <a:ext cx="144667" cy="1608704"/>
          </a:xfrm>
          <a:prstGeom prst="leftBrac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F4C536A-9616-E9C6-554A-D4F9059B76B3}"/>
                  </a:ext>
                </a:extLst>
              </p:cNvPr>
              <p:cNvSpPr txBox="1"/>
              <p:nvPr/>
            </p:nvSpPr>
            <p:spPr>
              <a:xfrm>
                <a:off x="678822" y="2939884"/>
                <a:ext cx="2215478" cy="325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acc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𝑐𝑚𝑑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F4C536A-9616-E9C6-554A-D4F9059B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22" y="2939884"/>
                <a:ext cx="2215478" cy="325667"/>
              </a:xfrm>
              <a:prstGeom prst="rect">
                <a:avLst/>
              </a:prstGeom>
              <a:blipFill>
                <a:blip r:embed="rId6"/>
                <a:stretch>
                  <a:fillRect l="-3571" t="-12963" r="-1648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echa: hacia arriba 11">
            <a:extLst>
              <a:ext uri="{FF2B5EF4-FFF2-40B4-BE49-F238E27FC236}">
                <a16:creationId xmlns:a16="http://schemas.microsoft.com/office/drawing/2014/main" id="{97A57B56-EC18-B942-9438-E2E669A41204}"/>
              </a:ext>
            </a:extLst>
          </p:cNvPr>
          <p:cNvSpPr/>
          <p:nvPr/>
        </p:nvSpPr>
        <p:spPr>
          <a:xfrm rot="5400000">
            <a:off x="4070116" y="1832327"/>
            <a:ext cx="144667" cy="39239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304308-7743-E8E6-2787-2BADC1455CF2}"/>
              </a:ext>
            </a:extLst>
          </p:cNvPr>
          <p:cNvSpPr txBox="1"/>
          <p:nvPr/>
        </p:nvSpPr>
        <p:spPr>
          <a:xfrm>
            <a:off x="4338648" y="1844704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Internal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D11625-8D1D-936D-21BC-1DF4999C72D9}"/>
              </a:ext>
            </a:extLst>
          </p:cNvPr>
          <p:cNvSpPr txBox="1"/>
          <p:nvPr/>
        </p:nvSpPr>
        <p:spPr>
          <a:xfrm>
            <a:off x="3897048" y="2382294"/>
            <a:ext cx="111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External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A65F5F9-5BB9-714C-095A-0AE4BDDC3CCB}"/>
                  </a:ext>
                </a:extLst>
              </p:cNvPr>
              <p:cNvSpPr txBox="1"/>
              <p:nvPr/>
            </p:nvSpPr>
            <p:spPr>
              <a:xfrm>
                <a:off x="6473010" y="2350211"/>
                <a:ext cx="2715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A65F5F9-5BB9-714C-095A-0AE4BDDC3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010" y="2350211"/>
                <a:ext cx="2715167" cy="307777"/>
              </a:xfrm>
              <a:prstGeom prst="rect">
                <a:avLst/>
              </a:prstGeom>
              <a:blipFill>
                <a:blip r:embed="rId7"/>
                <a:stretch>
                  <a:fillRect l="-1573" t="-20000" r="-225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BF9B6FF-B31C-4149-1DE9-522E7F5F328A}"/>
                  </a:ext>
                </a:extLst>
              </p:cNvPr>
              <p:cNvSpPr txBox="1"/>
              <p:nvPr/>
            </p:nvSpPr>
            <p:spPr>
              <a:xfrm>
                <a:off x="6726027" y="2981573"/>
                <a:ext cx="2209131" cy="31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𝑣𝑒𝑙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BF9B6FF-B31C-4149-1DE9-522E7F5F3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27" y="2981573"/>
                <a:ext cx="2209131" cy="317523"/>
              </a:xfrm>
              <a:prstGeom prst="rect">
                <a:avLst/>
              </a:prstGeom>
              <a:blipFill>
                <a:blip r:embed="rId8"/>
                <a:stretch>
                  <a:fillRect l="-1928" t="-15385" r="-192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7C949B9-53E0-0EBD-780F-77B79CE5165A}"/>
                  </a:ext>
                </a:extLst>
              </p:cNvPr>
              <p:cNvSpPr txBox="1"/>
              <p:nvPr/>
            </p:nvSpPr>
            <p:spPr>
              <a:xfrm>
                <a:off x="5528351" y="3486249"/>
                <a:ext cx="5674418" cy="67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2"/>
                    </a:solidFill>
                  </a:rPr>
                  <a:t>For external control, consider internal instantaneous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os</m:t>
                        </m:r>
                      </m:sub>
                    </m:sSub>
                    <m:r>
                      <a:rPr lang="en-US" sz="18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≈3−5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8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 lang="en-US" sz="18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bg2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7C949B9-53E0-0EBD-780F-77B79CE51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351" y="3486249"/>
                <a:ext cx="5674418" cy="671146"/>
              </a:xfrm>
              <a:prstGeom prst="rect">
                <a:avLst/>
              </a:prstGeom>
              <a:blipFill>
                <a:blip r:embed="rId9"/>
                <a:stretch>
                  <a:fillRect l="-967" t="-545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DF09546-CB27-B652-6294-67C49BC82D48}"/>
                  </a:ext>
                </a:extLst>
              </p:cNvPr>
              <p:cNvSpPr txBox="1"/>
              <p:nvPr/>
            </p:nvSpPr>
            <p:spPr>
              <a:xfrm>
                <a:off x="5681416" y="4370059"/>
                <a:ext cx="4849854" cy="3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lit/>
                        </m:rP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xt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os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00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DF09546-CB27-B652-6294-67C49BC82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416" y="4370059"/>
                <a:ext cx="4849854" cy="348300"/>
              </a:xfrm>
              <a:prstGeom prst="rect">
                <a:avLst/>
              </a:prstGeom>
              <a:blipFill>
                <a:blip r:embed="rId10"/>
                <a:stretch>
                  <a:fillRect l="-879" t="-12281" r="-628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6F9F8484-F783-513A-649C-3876C7F71581}"/>
              </a:ext>
            </a:extLst>
          </p:cNvPr>
          <p:cNvSpPr txBox="1"/>
          <p:nvPr/>
        </p:nvSpPr>
        <p:spPr>
          <a:xfrm>
            <a:off x="9225209" y="2918051"/>
            <a:ext cx="262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Asymptotically Stable</a:t>
            </a:r>
          </a:p>
        </p:txBody>
      </p:sp>
      <p:sp>
        <p:nvSpPr>
          <p:cNvPr id="4" name="Flecha: hacia arriba 3">
            <a:extLst>
              <a:ext uri="{FF2B5EF4-FFF2-40B4-BE49-F238E27FC236}">
                <a16:creationId xmlns:a16="http://schemas.microsoft.com/office/drawing/2014/main" id="{E06F6327-E6EF-A473-604A-2A07D1C47A13}"/>
              </a:ext>
            </a:extLst>
          </p:cNvPr>
          <p:cNvSpPr/>
          <p:nvPr/>
        </p:nvSpPr>
        <p:spPr>
          <a:xfrm rot="5400000">
            <a:off x="3578972" y="2379866"/>
            <a:ext cx="144667" cy="39239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A7B9B5-BAC3-1829-E45B-389308FA4943}"/>
              </a:ext>
            </a:extLst>
          </p:cNvPr>
          <p:cNvSpPr txBox="1"/>
          <p:nvPr/>
        </p:nvSpPr>
        <p:spPr>
          <a:xfrm>
            <a:off x="9217553" y="4864596"/>
            <a:ext cx="262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</a:rPr>
              <a:t>Asymptotically Stable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AFE50F7-C246-9BBB-EA7A-B51BF2D7381C}"/>
              </a:ext>
            </a:extLst>
          </p:cNvPr>
          <p:cNvSpPr txBox="1"/>
          <p:nvPr/>
        </p:nvSpPr>
        <p:spPr>
          <a:xfrm>
            <a:off x="384695" y="3710435"/>
            <a:ext cx="4538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2"/>
                </a:solidFill>
              </a:rPr>
              <a:t>Both</a:t>
            </a:r>
            <a:r>
              <a:rPr lang="en-US" sz="1800" dirty="0">
                <a:solidFill>
                  <a:schemeClr val="bg2"/>
                </a:solidFill>
              </a:rPr>
              <a:t> internal and external loops </a:t>
            </a:r>
            <a:r>
              <a:rPr lang="en-US" sz="1800" b="1" dirty="0">
                <a:solidFill>
                  <a:schemeClr val="bg2"/>
                </a:solidFill>
              </a:rPr>
              <a:t>asymptotically stable</a:t>
            </a:r>
            <a:r>
              <a:rPr lang="en-US" sz="1800" dirty="0">
                <a:solidFill>
                  <a:schemeClr val="bg2"/>
                </a:solidFill>
              </a:rPr>
              <a:t>. Easier tunning, no cross dependence. </a:t>
            </a:r>
          </a:p>
        </p:txBody>
      </p:sp>
    </p:spTree>
    <p:extLst>
      <p:ext uri="{BB962C8B-B14F-4D97-AF65-F5344CB8AC3E}">
        <p14:creationId xmlns:p14="http://schemas.microsoft.com/office/powerpoint/2010/main" val="412305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368381AA-5230-B383-2AB9-1019CCA0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D0FB492-0AF5-A4D2-3C47-30EF1FE4A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Attitude Planner and Control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9C9F6494-F233-B67D-66DD-5E2268DC33F4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F0D843F-C696-FA5B-E98A-C82BF45D2949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354DEF8-66A5-DBD5-B9B7-781A66E02535}"/>
                  </a:ext>
                </a:extLst>
              </p:cNvPr>
              <p:cNvSpPr txBox="1"/>
              <p:nvPr/>
            </p:nvSpPr>
            <p:spPr>
              <a:xfrm>
                <a:off x="818049" y="1523916"/>
                <a:ext cx="5091137" cy="2511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Planner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en-US" sz="1800" b="1" noProof="0" dirty="0">
                    <a:solidFill>
                      <a:schemeClr val="bg2"/>
                    </a:solidFill>
                  </a:rPr>
                  <a:t> 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and 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  <m:r>
                      <a:rPr lang="en-US" sz="180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1800" b="1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</m:rPr>
                          <a:rPr lang="en-US" sz="180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1800" b="1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sz="180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  <m:r>
                      <a:rPr lang="en-US" sz="1800" i="0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0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1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r>
                          <a:rPr lang="en-US" sz="1800" i="0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800" b="1" i="1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0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sz="1800" b="1" i="0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𝐝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800" i="1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1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0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1" i="0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sz="1800" i="0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1800" b="1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0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sz="1800" b="1" i="0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sz="18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8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b>
                              <m:sSubPr>
                                <m:ctrlPr>
                                  <a:rPr lang="en-US" sz="18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sz="18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1800" b="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𝐣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</m:oMath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354DEF8-66A5-DBD5-B9B7-781A66E02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1523916"/>
                <a:ext cx="5091137" cy="2511585"/>
              </a:xfrm>
              <a:prstGeom prst="rect">
                <a:avLst/>
              </a:prstGeom>
              <a:blipFill>
                <a:blip r:embed="rId3"/>
                <a:stretch>
                  <a:fillRect l="-1198" t="-1214" b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brir corchete 3">
            <a:extLst>
              <a:ext uri="{FF2B5EF4-FFF2-40B4-BE49-F238E27FC236}">
                <a16:creationId xmlns:a16="http://schemas.microsoft.com/office/drawing/2014/main" id="{5313501E-825A-FF8A-ECE5-6868E89AE503}"/>
              </a:ext>
            </a:extLst>
          </p:cNvPr>
          <p:cNvSpPr/>
          <p:nvPr/>
        </p:nvSpPr>
        <p:spPr>
          <a:xfrm>
            <a:off x="737419" y="2841523"/>
            <a:ext cx="226142" cy="1342480"/>
          </a:xfrm>
          <a:prstGeom prst="leftBracket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D342FF9-556B-A798-D30F-FA102CF0F9C7}"/>
                  </a:ext>
                </a:extLst>
              </p:cNvPr>
              <p:cNvSpPr txBox="1"/>
              <p:nvPr/>
            </p:nvSpPr>
            <p:spPr>
              <a:xfrm>
                <a:off x="1029443" y="4579767"/>
                <a:ext cx="16682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1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D342FF9-556B-A798-D30F-FA102CF0F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43" y="4579767"/>
                <a:ext cx="1668213" cy="276999"/>
              </a:xfrm>
              <a:prstGeom prst="rect">
                <a:avLst/>
              </a:prstGeom>
              <a:blipFill>
                <a:blip r:embed="rId4"/>
                <a:stretch>
                  <a:fillRect l="-2920" r="-4015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4B96EA7-E78A-853D-6FAE-E8590623F7F8}"/>
                  </a:ext>
                </a:extLst>
              </p:cNvPr>
              <p:cNvSpPr txBox="1"/>
              <p:nvPr/>
            </p:nvSpPr>
            <p:spPr>
              <a:xfrm>
                <a:off x="6614505" y="1532207"/>
                <a:ext cx="5091137" cy="3814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Control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18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e>
                    </m:d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Define orientation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  <m:sup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sz="1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18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∨</m:t>
                          </m:r>
                        </m:sup>
                      </m:sSup>
                    </m:oMath>
                  </m:oMathPara>
                </a14:m>
                <a:endParaRPr lang="en-US" sz="18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</a:rPr>
                  <a:t>Lyapunov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𝒱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  <m:sup>
                              <m:r>
                                <a:rPr lang="en-US" sz="1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bSup>
                          <m:r>
                            <a:rPr lang="en-US" sz="18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𝐉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en-US" sz="18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</a:rPr>
                  <a:t>Proposed controller: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en-US" sz="18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</a:rPr>
                  <a:t>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𝒱</m:t>
                          </m:r>
                        </m:e>
                      </m:acc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18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sz="18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4B96EA7-E78A-853D-6FAE-E8590623F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505" y="1532207"/>
                <a:ext cx="5091137" cy="3814955"/>
              </a:xfrm>
              <a:prstGeom prst="rect">
                <a:avLst/>
              </a:prstGeom>
              <a:blipFill>
                <a:blip r:embed="rId5"/>
                <a:stretch>
                  <a:fillRect l="-1198" t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75596AD-8A6D-FA42-6033-8F987794A128}"/>
                  </a:ext>
                </a:extLst>
              </p:cNvPr>
              <p:cNvSpPr txBox="1"/>
              <p:nvPr/>
            </p:nvSpPr>
            <p:spPr>
              <a:xfrm>
                <a:off x="8166145" y="998483"/>
                <a:ext cx="9287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𝐉</m:t>
                      </m:r>
                      <m:acc>
                        <m:accPr>
                          <m:chr m:val="̇"/>
                          <m:ctrlP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𝛚</m:t>
                          </m:r>
                        </m:e>
                      </m:acc>
                      <m:r>
                        <a:rPr lang="en-US" sz="200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𝛕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75596AD-8A6D-FA42-6033-8F987794A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45" y="998483"/>
                <a:ext cx="928716" cy="307777"/>
              </a:xfrm>
              <a:prstGeom prst="rect">
                <a:avLst/>
              </a:prstGeom>
              <a:blipFill>
                <a:blip r:embed="rId6"/>
                <a:stretch>
                  <a:fillRect l="-8553" t="-2000" r="-658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CDFC0488-200C-5EF0-6C6D-5C2B43DC9CC0}"/>
              </a:ext>
            </a:extLst>
          </p:cNvPr>
          <p:cNvSpPr txBox="1"/>
          <p:nvPr/>
        </p:nvSpPr>
        <p:spPr>
          <a:xfrm>
            <a:off x="6614505" y="5325793"/>
            <a:ext cx="4960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Lyapunov stable, Almost Globally Asymptotically Stable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7B9BF90-C95A-5830-4930-78C0E23D3810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068722A6-99AA-E3E7-B6A7-8503F6763645}"/>
              </a:ext>
            </a:extLst>
          </p:cNvPr>
          <p:cNvSpPr/>
          <p:nvPr/>
        </p:nvSpPr>
        <p:spPr>
          <a:xfrm>
            <a:off x="1863549" y="4035501"/>
            <a:ext cx="93070" cy="4480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1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32BB0A6-FDDD-7F22-AAD0-05F1A594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DFDF2240-FB4E-82FC-C694-36DF447F9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Allocation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1D40DC55-861D-6F28-63A0-8202C5E74F08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3DFC20EC-84ED-E989-F77D-23CFADEFEDA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9C37BF3-DFAC-7C04-520F-FEA1C260BA02}"/>
                  </a:ext>
                </a:extLst>
              </p:cNvPr>
              <p:cNvSpPr txBox="1"/>
              <p:nvPr/>
            </p:nvSpPr>
            <p:spPr>
              <a:xfrm>
                <a:off x="818049" y="1460090"/>
                <a:ext cx="2748155" cy="675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  <m:sub>
                                  <m:r>
                                    <a:rPr lang="en-US" sz="24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sSub>
                      <m:sSubPr>
                        <m:ctrlP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sz="11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69C37BF3-DFAC-7C04-520F-FEA1C260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1460090"/>
                <a:ext cx="2748155" cy="675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C9AD07C-86D3-4CAC-9D5E-119F3893E60B}"/>
                  </a:ext>
                </a:extLst>
              </p:cNvPr>
              <p:cNvSpPr txBox="1"/>
              <p:nvPr/>
            </p:nvSpPr>
            <p:spPr>
              <a:xfrm>
                <a:off x="818049" y="2169800"/>
                <a:ext cx="4374018" cy="525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4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2400" b="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𝑐𝑚𝑑</m:t>
                                </m:r>
                              </m:sub>
                            </m:sSub>
                            <m:r>
                              <a:rPr lang="en-US" sz="2400" b="0" i="1" noProof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 … </m:t>
                            </m:r>
                            <m:sSub>
                              <m:sSubPr>
                                <m:ctrlPr>
                                  <a:rPr lang="en-US" sz="240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noProof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noProof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400" b="0" i="1" noProof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noProof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𝑐𝑚𝑑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sz="24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C9AD07C-86D3-4CAC-9D5E-119F3893E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2169800"/>
                <a:ext cx="4374018" cy="525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DA0DFF6-F1EB-BDF3-C234-A6D2D00FDA42}"/>
                  </a:ext>
                </a:extLst>
              </p:cNvPr>
              <p:cNvSpPr txBox="1"/>
              <p:nvPr/>
            </p:nvSpPr>
            <p:spPr>
              <a:xfrm>
                <a:off x="818049" y="2875313"/>
                <a:ext cx="2809167" cy="4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cmd</m:t>
                        </m:r>
                      </m:sub>
                    </m:sSub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Sup>
                      <m:sSubSup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  <m:sup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2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DA0DFF6-F1EB-BDF3-C234-A6D2D00FD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2875313"/>
                <a:ext cx="2809167" cy="4187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1AE8F87-2FB8-A937-8259-F3218098BA57}"/>
                  </a:ext>
                </a:extLst>
              </p:cNvPr>
              <p:cNvSpPr txBox="1"/>
              <p:nvPr/>
            </p:nvSpPr>
            <p:spPr>
              <a:xfrm>
                <a:off x="818049" y="3510025"/>
                <a:ext cx="1290738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endParaRPr lang="en-US" sz="24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1AE8F87-2FB8-A937-8259-F3218098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3510025"/>
                <a:ext cx="1290738" cy="385555"/>
              </a:xfrm>
              <a:prstGeom prst="rect">
                <a:avLst/>
              </a:prstGeom>
              <a:blipFill>
                <a:blip r:embed="rId6"/>
                <a:stretch>
                  <a:fillRect l="-14151" t="-23810" r="-3774" b="-4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4639A31F-7A49-4C55-9524-F73959E8AF34}"/>
              </a:ext>
            </a:extLst>
          </p:cNvPr>
          <p:cNvSpPr/>
          <p:nvPr/>
        </p:nvSpPr>
        <p:spPr>
          <a:xfrm>
            <a:off x="2162106" y="3677949"/>
            <a:ext cx="1465110" cy="89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1BC173-84C4-14B3-24C3-ADBDDC077B07}"/>
              </a:ext>
            </a:extLst>
          </p:cNvPr>
          <p:cNvSpPr txBox="1"/>
          <p:nvPr/>
        </p:nvSpPr>
        <p:spPr>
          <a:xfrm>
            <a:off x="5638800" y="3023419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B0B2C43-A975-3FB2-B685-5FEC3D251DF5}"/>
              </a:ext>
            </a:extLst>
          </p:cNvPr>
          <p:cNvSpPr txBox="1"/>
          <p:nvPr/>
        </p:nvSpPr>
        <p:spPr>
          <a:xfrm>
            <a:off x="2053342" y="3362178"/>
            <a:ext cx="2998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Actuator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7DC1CD5-4658-EED9-72B4-244DB3227C45}"/>
                  </a:ext>
                </a:extLst>
              </p:cNvPr>
              <p:cNvSpPr txBox="1"/>
              <p:nvPr/>
            </p:nvSpPr>
            <p:spPr>
              <a:xfrm>
                <a:off x="3759595" y="3502460"/>
                <a:ext cx="3923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7DC1CD5-4658-EED9-72B4-244DB3227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95" y="3502460"/>
                <a:ext cx="392350" cy="369332"/>
              </a:xfrm>
              <a:prstGeom prst="rect">
                <a:avLst/>
              </a:prstGeom>
              <a:blipFill>
                <a:blip r:embed="rId7"/>
                <a:stretch>
                  <a:fillRect l="-17188" r="-468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B888953-CE1D-B468-5127-C908B4281501}"/>
                  </a:ext>
                </a:extLst>
              </p:cNvPr>
              <p:cNvSpPr txBox="1"/>
              <p:nvPr/>
            </p:nvSpPr>
            <p:spPr>
              <a:xfrm>
                <a:off x="818049" y="4120519"/>
                <a:ext cx="26581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𝑠𝑎𝑡𝑢𝑟𝑎𝑡𝑖𝑜𝑛</m:t>
                    </m:r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4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B888953-CE1D-B468-5127-C908B4281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9" y="4120519"/>
                <a:ext cx="2658164" cy="369332"/>
              </a:xfrm>
              <a:prstGeom prst="rect">
                <a:avLst/>
              </a:prstGeom>
              <a:blipFill>
                <a:blip r:embed="rId8"/>
                <a:stretch>
                  <a:fillRect l="-6881" t="-22951" b="-47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EFCD33F4-6EEA-7C93-99A4-D3A1CB0A7522}"/>
              </a:ext>
            </a:extLst>
          </p:cNvPr>
          <p:cNvSpPr/>
          <p:nvPr/>
        </p:nvSpPr>
        <p:spPr>
          <a:xfrm>
            <a:off x="3351704" y="4278585"/>
            <a:ext cx="551024" cy="63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16A72C2-8D69-7060-640B-F929D8613BDE}"/>
                  </a:ext>
                </a:extLst>
              </p:cNvPr>
              <p:cNvSpPr txBox="1"/>
              <p:nvPr/>
            </p:nvSpPr>
            <p:spPr>
              <a:xfrm>
                <a:off x="2619122" y="4046587"/>
                <a:ext cx="373209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sz="24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act</m:t>
                          </m:r>
                        </m:sub>
                      </m:sSub>
                    </m:oMath>
                  </m:oMathPara>
                </a14:m>
                <a:endParaRPr lang="en-US" sz="24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16A72C2-8D69-7060-640B-F929D8613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122" y="4046587"/>
                <a:ext cx="3732090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8B3D2D9-6BD6-B28D-6DB6-39659DD7FE7F}"/>
                  </a:ext>
                </a:extLst>
              </p:cNvPr>
              <p:cNvSpPr txBox="1"/>
              <p:nvPr/>
            </p:nvSpPr>
            <p:spPr>
              <a:xfrm>
                <a:off x="818048" y="4769068"/>
                <a:ext cx="2748155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1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sSub>
                      <m:sSubPr>
                        <m:ctrlP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act</m:t>
                        </m:r>
                      </m:sub>
                    </m:sSub>
                  </m:oMath>
                </a14:m>
                <a:endParaRPr lang="en-US" sz="11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8B3D2D9-6BD6-B28D-6DB6-39659DD7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48" y="4769068"/>
                <a:ext cx="2748155" cy="6134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87AA446-7D69-5196-FFED-1733A6715D02}"/>
                  </a:ext>
                </a:extLst>
              </p:cNvPr>
              <p:cNvSpPr txBox="1"/>
              <p:nvPr/>
            </p:nvSpPr>
            <p:spPr>
              <a:xfrm>
                <a:off x="8117705" y="1114979"/>
                <a:ext cx="1765740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800" b="1" i="0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sz="2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sz="2800" b="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87AA446-7D69-5196-FFED-1733A671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705" y="1114979"/>
                <a:ext cx="1765740" cy="4385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9C4794E-58BA-EE54-23DE-0275F82BE1BF}"/>
              </a:ext>
            </a:extLst>
          </p:cNvPr>
          <p:cNvSpPr txBox="1"/>
          <p:nvPr/>
        </p:nvSpPr>
        <p:spPr>
          <a:xfrm>
            <a:off x="7761338" y="656944"/>
            <a:ext cx="2666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noProof="0" dirty="0">
                <a:solidFill>
                  <a:schemeClr val="bg2"/>
                </a:solidFill>
              </a:rPr>
              <a:t>F SVD decomposition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760B56FB-D15D-80BA-E605-9D23B69FD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025824"/>
              </p:ext>
            </p:extLst>
          </p:nvPr>
        </p:nvGraphicFramePr>
        <p:xfrm>
          <a:off x="6265081" y="1549829"/>
          <a:ext cx="5012832" cy="14281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35472">
                  <a:extLst>
                    <a:ext uri="{9D8B030D-6E8A-4147-A177-3AD203B41FA5}">
                      <a16:colId xmlns:a16="http://schemas.microsoft.com/office/drawing/2014/main" val="1595546293"/>
                    </a:ext>
                  </a:extLst>
                </a:gridCol>
                <a:gridCol w="835472">
                  <a:extLst>
                    <a:ext uri="{9D8B030D-6E8A-4147-A177-3AD203B41FA5}">
                      <a16:colId xmlns:a16="http://schemas.microsoft.com/office/drawing/2014/main" val="1913897225"/>
                    </a:ext>
                  </a:extLst>
                </a:gridCol>
                <a:gridCol w="835472">
                  <a:extLst>
                    <a:ext uri="{9D8B030D-6E8A-4147-A177-3AD203B41FA5}">
                      <a16:colId xmlns:a16="http://schemas.microsoft.com/office/drawing/2014/main" val="4195699875"/>
                    </a:ext>
                  </a:extLst>
                </a:gridCol>
                <a:gridCol w="835472">
                  <a:extLst>
                    <a:ext uri="{9D8B030D-6E8A-4147-A177-3AD203B41FA5}">
                      <a16:colId xmlns:a16="http://schemas.microsoft.com/office/drawing/2014/main" val="2638660259"/>
                    </a:ext>
                  </a:extLst>
                </a:gridCol>
                <a:gridCol w="835472">
                  <a:extLst>
                    <a:ext uri="{9D8B030D-6E8A-4147-A177-3AD203B41FA5}">
                      <a16:colId xmlns:a16="http://schemas.microsoft.com/office/drawing/2014/main" val="3212399550"/>
                    </a:ext>
                  </a:extLst>
                </a:gridCol>
                <a:gridCol w="835472">
                  <a:extLst>
                    <a:ext uri="{9D8B030D-6E8A-4147-A177-3AD203B41FA5}">
                      <a16:colId xmlns:a16="http://schemas.microsoft.com/office/drawing/2014/main" val="2625744217"/>
                    </a:ext>
                  </a:extLst>
                </a:gridCol>
              </a:tblGrid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5904002"/>
                  </a:ext>
                </a:extLst>
              </a:tr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0.500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0.500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367957"/>
                  </a:ext>
                </a:extLst>
              </a:tr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-0.577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-0.289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0.289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0.577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0.289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-0.289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3840630"/>
                  </a:ext>
                </a:extLst>
              </a:tr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0.408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2815996"/>
                  </a:ext>
                </a:extLst>
              </a:tr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-0.533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0.459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0.074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-0.533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0.459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0.074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0121396"/>
                  </a:ext>
                </a:extLst>
              </a:tr>
              <a:tr h="2380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0.222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0.350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-0.573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0.222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0.350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-0.573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643425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947AB5B-AEC2-DD50-1564-2D4088756AA1}"/>
                  </a:ext>
                </a:extLst>
              </p:cNvPr>
              <p:cNvSpPr txBox="1"/>
              <p:nvPr/>
            </p:nvSpPr>
            <p:spPr>
              <a:xfrm>
                <a:off x="5542498" y="2135916"/>
                <a:ext cx="6403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947AB5B-AEC2-DD50-1564-2D408875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498" y="2135916"/>
                <a:ext cx="640303" cy="307777"/>
              </a:xfrm>
              <a:prstGeom prst="rect">
                <a:avLst/>
              </a:prstGeom>
              <a:blipFill>
                <a:blip r:embed="rId12"/>
                <a:stretch>
                  <a:fillRect l="-2857" r="-7619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5AF3C4B-126C-ECE8-4CC0-86BE08AFD888}"/>
              </a:ext>
            </a:extLst>
          </p:cNvPr>
          <p:cNvCxnSpPr/>
          <p:nvPr/>
        </p:nvCxnSpPr>
        <p:spPr>
          <a:xfrm>
            <a:off x="5368413" y="854250"/>
            <a:ext cx="0" cy="537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DFA092C-14F0-8741-556F-A1AD584557C3}"/>
              </a:ext>
            </a:extLst>
          </p:cNvPr>
          <p:cNvSpPr txBox="1"/>
          <p:nvPr/>
        </p:nvSpPr>
        <p:spPr>
          <a:xfrm>
            <a:off x="11277777" y="1490226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Vertical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A543311-BBA1-ADAA-3554-389F5777032C}"/>
              </a:ext>
            </a:extLst>
          </p:cNvPr>
          <p:cNvSpPr txBox="1"/>
          <p:nvPr/>
        </p:nvSpPr>
        <p:spPr>
          <a:xfrm>
            <a:off x="11328300" y="1748855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Roll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87BECBF-6239-FB42-F7DA-200EFB2AD6E1}"/>
              </a:ext>
            </a:extLst>
          </p:cNvPr>
          <p:cNvSpPr txBox="1"/>
          <p:nvPr/>
        </p:nvSpPr>
        <p:spPr>
          <a:xfrm>
            <a:off x="11294371" y="200748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Pitch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A7BA611-DA73-4078-CA9A-E1F9E42F41B2}"/>
              </a:ext>
            </a:extLst>
          </p:cNvPr>
          <p:cNvSpPr txBox="1"/>
          <p:nvPr/>
        </p:nvSpPr>
        <p:spPr>
          <a:xfrm>
            <a:off x="11294371" y="2298052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Yaw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1F89B53-5904-3F73-3780-689CB24287BE}"/>
              </a:ext>
            </a:extLst>
          </p:cNvPr>
          <p:cNvSpPr txBox="1"/>
          <p:nvPr/>
        </p:nvSpPr>
        <p:spPr>
          <a:xfrm>
            <a:off x="11273200" y="2573890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/>
                </a:solidFill>
              </a:rPr>
              <a:t>Null space</a:t>
            </a:r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D36E62DE-E4C1-2246-8128-2EB81BCFC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55114"/>
              </p:ext>
            </p:extLst>
          </p:nvPr>
        </p:nvGraphicFramePr>
        <p:xfrm>
          <a:off x="6265080" y="3105879"/>
          <a:ext cx="5012700" cy="136041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35450">
                  <a:extLst>
                    <a:ext uri="{9D8B030D-6E8A-4147-A177-3AD203B41FA5}">
                      <a16:colId xmlns:a16="http://schemas.microsoft.com/office/drawing/2014/main" val="742974739"/>
                    </a:ext>
                  </a:extLst>
                </a:gridCol>
                <a:gridCol w="835450">
                  <a:extLst>
                    <a:ext uri="{9D8B030D-6E8A-4147-A177-3AD203B41FA5}">
                      <a16:colId xmlns:a16="http://schemas.microsoft.com/office/drawing/2014/main" val="3503513462"/>
                    </a:ext>
                  </a:extLst>
                </a:gridCol>
                <a:gridCol w="835450">
                  <a:extLst>
                    <a:ext uri="{9D8B030D-6E8A-4147-A177-3AD203B41FA5}">
                      <a16:colId xmlns:a16="http://schemas.microsoft.com/office/drawing/2014/main" val="1766714957"/>
                    </a:ext>
                  </a:extLst>
                </a:gridCol>
                <a:gridCol w="835450">
                  <a:extLst>
                    <a:ext uri="{9D8B030D-6E8A-4147-A177-3AD203B41FA5}">
                      <a16:colId xmlns:a16="http://schemas.microsoft.com/office/drawing/2014/main" val="1620692275"/>
                    </a:ext>
                  </a:extLst>
                </a:gridCol>
                <a:gridCol w="835450">
                  <a:extLst>
                    <a:ext uri="{9D8B030D-6E8A-4147-A177-3AD203B41FA5}">
                      <a16:colId xmlns:a16="http://schemas.microsoft.com/office/drawing/2014/main" val="2722950788"/>
                    </a:ext>
                  </a:extLst>
                </a:gridCol>
                <a:gridCol w="835450">
                  <a:extLst>
                    <a:ext uri="{9D8B030D-6E8A-4147-A177-3AD203B41FA5}">
                      <a16:colId xmlns:a16="http://schemas.microsoft.com/office/drawing/2014/main" val="1804519037"/>
                    </a:ext>
                  </a:extLst>
                </a:gridCol>
              </a:tblGrid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2.449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0979319"/>
                  </a:ext>
                </a:extLst>
              </a:tr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0.372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6471724"/>
                  </a:ext>
                </a:extLst>
              </a:tr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0.372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122936"/>
                  </a:ext>
                </a:extLst>
              </a:tr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0.220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9735002"/>
                  </a:ext>
                </a:extLst>
              </a:tr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1671148"/>
                  </a:ext>
                </a:extLst>
              </a:tr>
              <a:tr h="2267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636920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FBCF71E-68E8-7483-0728-E5565D727C2C}"/>
                  </a:ext>
                </a:extLst>
              </p:cNvPr>
              <p:cNvSpPr txBox="1"/>
              <p:nvPr/>
            </p:nvSpPr>
            <p:spPr>
              <a:xfrm>
                <a:off x="5546509" y="3548913"/>
                <a:ext cx="4976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𝜮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FBCF71E-68E8-7483-0728-E5565D727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509" y="3548913"/>
                <a:ext cx="497636" cy="307777"/>
              </a:xfrm>
              <a:prstGeom prst="rect">
                <a:avLst/>
              </a:prstGeom>
              <a:blipFill>
                <a:blip r:embed="rId13"/>
                <a:stretch>
                  <a:fillRect l="-11111" r="-3704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a 35">
            <a:extLst>
              <a:ext uri="{FF2B5EF4-FFF2-40B4-BE49-F238E27FC236}">
                <a16:creationId xmlns:a16="http://schemas.microsoft.com/office/drawing/2014/main" id="{CB023A54-4128-6862-85F3-B7401AC6D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350147"/>
              </p:ext>
            </p:extLst>
          </p:nvPr>
        </p:nvGraphicFramePr>
        <p:xfrm>
          <a:off x="6265839" y="4698672"/>
          <a:ext cx="5011938" cy="13156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35323">
                  <a:extLst>
                    <a:ext uri="{9D8B030D-6E8A-4147-A177-3AD203B41FA5}">
                      <a16:colId xmlns:a16="http://schemas.microsoft.com/office/drawing/2014/main" val="2310778946"/>
                    </a:ext>
                  </a:extLst>
                </a:gridCol>
                <a:gridCol w="835323">
                  <a:extLst>
                    <a:ext uri="{9D8B030D-6E8A-4147-A177-3AD203B41FA5}">
                      <a16:colId xmlns:a16="http://schemas.microsoft.com/office/drawing/2014/main" val="2630072338"/>
                    </a:ext>
                  </a:extLst>
                </a:gridCol>
                <a:gridCol w="835323">
                  <a:extLst>
                    <a:ext uri="{9D8B030D-6E8A-4147-A177-3AD203B41FA5}">
                      <a16:colId xmlns:a16="http://schemas.microsoft.com/office/drawing/2014/main" val="2577626937"/>
                    </a:ext>
                  </a:extLst>
                </a:gridCol>
                <a:gridCol w="835323">
                  <a:extLst>
                    <a:ext uri="{9D8B030D-6E8A-4147-A177-3AD203B41FA5}">
                      <a16:colId xmlns:a16="http://schemas.microsoft.com/office/drawing/2014/main" val="2217010544"/>
                    </a:ext>
                  </a:extLst>
                </a:gridCol>
                <a:gridCol w="835323">
                  <a:extLst>
                    <a:ext uri="{9D8B030D-6E8A-4147-A177-3AD203B41FA5}">
                      <a16:colId xmlns:a16="http://schemas.microsoft.com/office/drawing/2014/main" val="565010919"/>
                    </a:ext>
                  </a:extLst>
                </a:gridCol>
                <a:gridCol w="835323">
                  <a:extLst>
                    <a:ext uri="{9D8B030D-6E8A-4147-A177-3AD203B41FA5}">
                      <a16:colId xmlns:a16="http://schemas.microsoft.com/office/drawing/2014/main" val="51965178"/>
                    </a:ext>
                  </a:extLst>
                </a:gridCol>
              </a:tblGrid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-0.899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-0.437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5009648"/>
                  </a:ext>
                </a:extLst>
              </a:tr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-0.437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0.899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8609697"/>
                  </a:ext>
                </a:extLst>
              </a:tr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-1.000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6214467"/>
                  </a:ext>
                </a:extLst>
              </a:tr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-1.000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31623332"/>
                  </a:ext>
                </a:extLst>
              </a:tr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6996859"/>
                  </a:ext>
                </a:extLst>
              </a:tr>
              <a:tr h="219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314185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B23D3704-BEF9-5418-2B33-1B20B67302DE}"/>
                  </a:ext>
                </a:extLst>
              </p:cNvPr>
              <p:cNvSpPr txBox="1"/>
              <p:nvPr/>
            </p:nvSpPr>
            <p:spPr>
              <a:xfrm>
                <a:off x="2758852" y="4998618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B23D3704-BEF9-5418-2B33-1B20B6730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852" y="4998618"/>
                <a:ext cx="6096000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7C0CBD00-2F36-DB82-6711-7D8802267AC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4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517B410-7C44-FB5F-8093-8397A932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7A95C330-9F63-F605-1220-F433B19AA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Attitude Controller Tuning – Roll &amp; Pitch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595020B3-CE1F-793C-EFFD-BA4169A796E3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7012188-BC0D-D675-F670-943A70C55FE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F7F11C6-0388-C2DE-73E7-242FB51E89AC}"/>
                  </a:ext>
                </a:extLst>
              </p:cNvPr>
              <p:cNvSpPr txBox="1"/>
              <p:nvPr/>
            </p:nvSpPr>
            <p:spPr>
              <a:xfrm>
                <a:off x="384695" y="1345394"/>
                <a:ext cx="5091137" cy="4117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Objectives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3(3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es-E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𝟒𝟓</m:t>
                    </m:r>
                    <m:r>
                      <a:rPr lang="en-US" sz="20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noProof="0" dirty="0">
                    <a:solidFill>
                      <a:schemeClr val="bg2"/>
                    </a:solidFill>
                  </a:rPr>
                  <a:t>, approximate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settling time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noProof="0" dirty="0">
                    <a:solidFill>
                      <a:schemeClr val="bg2"/>
                    </a:solidFill>
                  </a:rPr>
                  <a:t>Small overshoot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, attitude needs to be smooth.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bg2"/>
                    </a:solidFill>
                  </a:rPr>
                  <a:t>Nearly 2 time faster at Roll &amp; Pitch than Yaw.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bg2"/>
                    </a:solidFill>
                  </a:rPr>
                  <a:t>Propeller’s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saturation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 considerations.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&lt; 1.6</m:t>
                      </m:r>
                      <m:r>
                        <a:rPr lang="en-US" sz="20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Nm</m:t>
                      </m:r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F7F11C6-0388-C2DE-73E7-242FB51E8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345394"/>
                <a:ext cx="5091137" cy="4117602"/>
              </a:xfrm>
              <a:prstGeom prst="rect">
                <a:avLst/>
              </a:prstGeom>
              <a:blipFill>
                <a:blip r:embed="rId3"/>
                <a:stretch>
                  <a:fillRect l="-1198" t="-741" r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BFB924-93CC-AD8D-D1F2-50426324DD85}"/>
                  </a:ext>
                </a:extLst>
              </p:cNvPr>
              <p:cNvSpPr txBox="1"/>
              <p:nvPr/>
            </p:nvSpPr>
            <p:spPr>
              <a:xfrm>
                <a:off x="296205" y="4481893"/>
                <a:ext cx="5091137" cy="1668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Sensors &amp; Actuators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20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0.0</m:t>
                    </m:r>
                    <m:r>
                      <a:rPr lang="es-E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EBFB924-93CC-AD8D-D1F2-50426324D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05" y="4481893"/>
                <a:ext cx="5091137" cy="1668790"/>
              </a:xfrm>
              <a:prstGeom prst="rect">
                <a:avLst/>
              </a:prstGeom>
              <a:blipFill>
                <a:blip r:embed="rId4"/>
                <a:stretch>
                  <a:fillRect l="-1317" t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021E2E0-02C8-3DA3-9BDE-5FBA98874ECC}"/>
                  </a:ext>
                </a:extLst>
              </p:cNvPr>
              <p:cNvSpPr txBox="1"/>
              <p:nvPr/>
            </p:nvSpPr>
            <p:spPr>
              <a:xfrm>
                <a:off x="7657950" y="1156544"/>
                <a:ext cx="319850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800" b="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&amp;=</m:t>
                                  </m:r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sSubSup>
                                    <m:sSubSup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800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1800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&amp;=−</m:t>
                                  </m:r>
                                  <m:sSubSup>
                                    <m:sSubSup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</m:sup>
                                  </m:sSubSup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sSub>
                                    <m:sSub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sz="1800" b="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en-US" sz="1800" b="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sSub>
                                    <m:sSub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eqAr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021E2E0-02C8-3DA3-9BDE-5FBA98874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950" y="1156544"/>
                <a:ext cx="3198503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C70FA740-FA5E-8FB9-8ECD-501ED3E7624A}"/>
              </a:ext>
            </a:extLst>
          </p:cNvPr>
          <p:cNvSpPr txBox="1"/>
          <p:nvPr/>
        </p:nvSpPr>
        <p:spPr>
          <a:xfrm>
            <a:off x="7657950" y="776081"/>
            <a:ext cx="3869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Simplified Attitude Model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845ABA-EFF4-B2F3-F424-850782992E61}"/>
              </a:ext>
            </a:extLst>
          </p:cNvPr>
          <p:cNvSpPr txBox="1"/>
          <p:nvPr/>
        </p:nvSpPr>
        <p:spPr>
          <a:xfrm>
            <a:off x="7140837" y="1977613"/>
            <a:ext cx="47686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For simplicity, small angular velocity and small angles are considered, leading to:</a:t>
            </a:r>
          </a:p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62457B6-8EBB-DFC9-E6D8-47426D6E7FF5}"/>
                  </a:ext>
                </a:extLst>
              </p:cNvPr>
              <p:cNvSpPr txBox="1"/>
              <p:nvPr/>
            </p:nvSpPr>
            <p:spPr>
              <a:xfrm>
                <a:off x="7997500" y="2897177"/>
                <a:ext cx="2808140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sz="18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8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̇"/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acc>
                      <m:r>
                        <a:rPr lang="en-US" sz="18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𝑟𝑥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800" b="0" i="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8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8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1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62457B6-8EBB-DFC9-E6D8-47426D6E7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500" y="2897177"/>
                <a:ext cx="2808140" cy="565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B7FBF6F-3392-C194-34D1-498DECD5881C}"/>
                  </a:ext>
                </a:extLst>
              </p:cNvPr>
              <p:cNvSpPr txBox="1"/>
              <p:nvPr/>
            </p:nvSpPr>
            <p:spPr>
              <a:xfrm>
                <a:off x="8559012" y="3957341"/>
                <a:ext cx="1275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sSubSup>
                        <m:sSubSup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B7FBF6F-3392-C194-34D1-498DECD5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012" y="3957341"/>
                <a:ext cx="1275477" cy="276999"/>
              </a:xfrm>
              <a:prstGeom prst="rect">
                <a:avLst/>
              </a:prstGeom>
              <a:blipFill>
                <a:blip r:embed="rId7"/>
                <a:stretch>
                  <a:fillRect l="-3349" r="-95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5D04C8-9F88-7164-65DB-500DE09FC520}"/>
                  </a:ext>
                </a:extLst>
              </p:cNvPr>
              <p:cNvSpPr txBox="1"/>
              <p:nvPr/>
            </p:nvSpPr>
            <p:spPr>
              <a:xfrm>
                <a:off x="8559012" y="4343393"/>
                <a:ext cx="1531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</m:t>
                      </m:r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5D04C8-9F88-7164-65DB-500DE09F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012" y="4343393"/>
                <a:ext cx="1531380" cy="276999"/>
              </a:xfrm>
              <a:prstGeom prst="rect">
                <a:avLst/>
              </a:prstGeom>
              <a:blipFill>
                <a:blip r:embed="rId8"/>
                <a:stretch>
                  <a:fillRect l="-27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2BFCE60-83EB-1F74-A1C8-21BCEC023110}"/>
                  </a:ext>
                </a:extLst>
              </p:cNvPr>
              <p:cNvSpPr txBox="1"/>
              <p:nvPr/>
            </p:nvSpPr>
            <p:spPr>
              <a:xfrm>
                <a:off x="5283834" y="4285818"/>
                <a:ext cx="2076146" cy="630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𝑎𝑡𝑡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≈0.20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2BFCE60-83EB-1F74-A1C8-21BCEC023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834" y="4285818"/>
                <a:ext cx="2076146" cy="630109"/>
              </a:xfrm>
              <a:prstGeom prst="rect">
                <a:avLst/>
              </a:prstGeom>
              <a:blipFill>
                <a:blip r:embed="rId9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2EEA6E22-7A6A-B7CB-5A8F-1C7E18189ECC}"/>
              </a:ext>
            </a:extLst>
          </p:cNvPr>
          <p:cNvSpPr/>
          <p:nvPr/>
        </p:nvSpPr>
        <p:spPr>
          <a:xfrm>
            <a:off x="7448470" y="4533259"/>
            <a:ext cx="580103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C343BC-222A-C762-3DD5-C67E392166C9}"/>
                  </a:ext>
                </a:extLst>
              </p:cNvPr>
              <p:cNvSpPr txBox="1"/>
              <p:nvPr/>
            </p:nvSpPr>
            <p:spPr>
              <a:xfrm>
                <a:off x="8559012" y="4751936"/>
                <a:ext cx="1241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 0.8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C343BC-222A-C762-3DD5-C67E3921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012" y="4751936"/>
                <a:ext cx="1241686" cy="307777"/>
              </a:xfrm>
              <a:prstGeom prst="rect">
                <a:avLst/>
              </a:prstGeom>
              <a:blipFill>
                <a:blip r:embed="rId10"/>
                <a:stretch>
                  <a:fillRect l="-5882" r="-3922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brir llave 21">
            <a:extLst>
              <a:ext uri="{FF2B5EF4-FFF2-40B4-BE49-F238E27FC236}">
                <a16:creationId xmlns:a16="http://schemas.microsoft.com/office/drawing/2014/main" id="{B66BDF80-BF14-8777-2FF9-63CAFD2D295D}"/>
              </a:ext>
            </a:extLst>
          </p:cNvPr>
          <p:cNvSpPr/>
          <p:nvPr/>
        </p:nvSpPr>
        <p:spPr>
          <a:xfrm>
            <a:off x="8191383" y="3957341"/>
            <a:ext cx="210281" cy="1197557"/>
          </a:xfrm>
          <a:prstGeom prst="leftBrac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658B936-0B2D-ABEF-B9E8-DE12AE1A3375}"/>
              </a:ext>
            </a:extLst>
          </p:cNvPr>
          <p:cNvSpPr txBox="1"/>
          <p:nvPr/>
        </p:nvSpPr>
        <p:spPr>
          <a:xfrm>
            <a:off x="7905135" y="560438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59720EE-9590-7C21-532E-7CB91FF1F1B4}"/>
                  </a:ext>
                </a:extLst>
              </p:cNvPr>
              <p:cNvSpPr txBox="1"/>
              <p:nvPr/>
            </p:nvSpPr>
            <p:spPr>
              <a:xfrm>
                <a:off x="10374971" y="4354651"/>
                <a:ext cx="15902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6.3 </m:t>
                      </m:r>
                      <m:r>
                        <m:rPr>
                          <m:sty m:val="p"/>
                        </m:rP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100" noProof="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59720EE-9590-7C21-532E-7CB91FF1F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971" y="4354651"/>
                <a:ext cx="1590244" cy="246221"/>
              </a:xfrm>
              <a:prstGeom prst="rect">
                <a:avLst/>
              </a:prstGeom>
              <a:blipFill>
                <a:blip r:embed="rId11"/>
                <a:stretch>
                  <a:fillRect l="-3831" r="-3448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54085388-7347-8A0C-2AFF-8DC9B582A2D2}"/>
              </a:ext>
            </a:extLst>
          </p:cNvPr>
          <p:cNvSpPr txBox="1"/>
          <p:nvPr/>
        </p:nvSpPr>
        <p:spPr>
          <a:xfrm>
            <a:off x="8344706" y="5418209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Overshoot of 0.15%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Settling time of 0.45 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D46947-9BFB-CB6F-A1C7-B442E12C46D5}"/>
              </a:ext>
            </a:extLst>
          </p:cNvPr>
          <p:cNvSpPr txBox="1"/>
          <p:nvPr/>
        </p:nvSpPr>
        <p:spPr>
          <a:xfrm>
            <a:off x="2645683" y="5111944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Simulated as first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 order system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BF54794-8A13-2C31-8251-362AE1A38D88}"/>
              </a:ext>
            </a:extLst>
          </p:cNvPr>
          <p:cNvSpPr/>
          <p:nvPr/>
        </p:nvSpPr>
        <p:spPr>
          <a:xfrm>
            <a:off x="2645682" y="5111944"/>
            <a:ext cx="1954381" cy="646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51E044-DB63-5E8F-3E8E-DE871626F8D7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68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2FB9345-681A-3485-966C-98723444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0B67B6B-B399-539B-F0CE-27ACD05D8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400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sz="24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	Attitude Controller Tuning - Yaw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69E5F9F6-1B55-901E-CEF5-2247150043B2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6F3123B2-5562-BB88-7BB9-DC7D6BEE4E4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CD8430E-C232-C15D-058B-9E7A4BEB0B50}"/>
                  </a:ext>
                </a:extLst>
              </p:cNvPr>
              <p:cNvSpPr txBox="1"/>
              <p:nvPr/>
            </p:nvSpPr>
            <p:spPr>
              <a:xfrm>
                <a:off x="384695" y="1224237"/>
                <a:ext cx="11399605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Objectives</a:t>
                </a: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Small overshoot. Yaw half as fast as roll and pitch, to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prevent saturation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roll</m:t>
                        </m:r>
                      </m:sub>
                    </m:sSub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, approximate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settling time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Propeller’s saturation considerations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&lt; 1.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Same process as before, it leads to: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≈0.9 ,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3CD8430E-C232-C15D-058B-9E7A4BEB0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224237"/>
                <a:ext cx="11399605" cy="3323987"/>
              </a:xfrm>
              <a:prstGeom prst="rect">
                <a:avLst/>
              </a:prstGeom>
              <a:blipFill>
                <a:blip r:embed="rId3"/>
                <a:stretch>
                  <a:fillRect l="-535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0FC8DEBE-8F02-A2E1-5903-AC9D11FEC1B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909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CAE7E73-ED36-0DAE-C250-107E75AE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EBC206D-8734-04D7-9EE0-7931D77C2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Roll &amp; Pitch attitude control behavior – simplified model</a:t>
            </a:r>
            <a:br>
              <a:rPr lang="en-US" dirty="0">
                <a:latin typeface="Arial Black" panose="020B0A04020102020204" pitchFamily="34" charset="0"/>
                <a:sym typeface="Calibri"/>
              </a:rPr>
            </a:br>
            <a:r>
              <a:rPr lang="en-US" dirty="0">
                <a:latin typeface="Arial Black" panose="020B0A04020102020204" pitchFamily="34" charset="0"/>
                <a:sym typeface="Calibri"/>
              </a:rPr>
              <a:t>		</a:t>
            </a:r>
            <a:br>
              <a:rPr lang="en-US" dirty="0">
                <a:latin typeface="Arial Black" panose="020B0A04020102020204" pitchFamily="34" charset="0"/>
                <a:sym typeface="Calibri"/>
              </a:rPr>
            </a:br>
            <a:endParaRPr lang="en-US" dirty="0">
              <a:latin typeface="Arial Black" panose="020B0A04020102020204" pitchFamily="34" charset="0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4D1228C0-42C3-1CAC-A136-7A04ED9D5C13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07AA834-162C-69FA-B5A8-CB4E9C7F119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AFA2950-F7B8-CE05-5F83-09D23D12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0800" y="854250"/>
            <a:ext cx="9145579" cy="4410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9846464-CCB2-57C5-C543-77A7131DADBA}"/>
                  </a:ext>
                </a:extLst>
              </p:cNvPr>
              <p:cNvSpPr txBox="1"/>
              <p:nvPr/>
            </p:nvSpPr>
            <p:spPr>
              <a:xfrm>
                <a:off x="3252019" y="5265086"/>
                <a:ext cx="568796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Roll expected behavior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=0.8,</m:t>
                        </m:r>
                        <m:sSub>
                          <m:sSubPr>
                            <m:ctrlP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=6.25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m:rPr>
                            <m:lit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44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0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.08 %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9846464-CCB2-57C5-C543-77A7131DA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019" y="5265086"/>
                <a:ext cx="5687961" cy="1477328"/>
              </a:xfrm>
              <a:prstGeom prst="rect">
                <a:avLst/>
              </a:prstGeom>
              <a:blipFill>
                <a:blip r:embed="rId4"/>
                <a:stretch>
                  <a:fillRect l="-642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7C7A03F2-FE4C-4332-CA73-310B1981FC43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13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FA71C53-D1F9-B1F6-4CBA-E9893422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9B7FA23-73AA-022E-7620-B46EC320C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Yaw attitude control behavior – simplified model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B8C191EB-48A9-7119-5199-B4784218BDEF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5E9FEC92-94C0-09C3-D76B-CA9F286BB9DE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7B813D0-6C38-ECE6-BBCC-EF83C7615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0800" y="834618"/>
            <a:ext cx="9232491" cy="4452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52394E9-56A0-5299-D609-C51D2487138D}"/>
                  </a:ext>
                </a:extLst>
              </p:cNvPr>
              <p:cNvSpPr txBox="1"/>
              <p:nvPr/>
            </p:nvSpPr>
            <p:spPr>
              <a:xfrm>
                <a:off x="3376077" y="5258788"/>
                <a:ext cx="51619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Yaw behavior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=0.9,</m:t>
                        </m:r>
                        <m:sSub>
                          <m:sSubPr>
                            <m:ctrlP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=4 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m:rPr>
                            <m:lit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1.1</m:t>
                    </m:r>
                    <m: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52394E9-56A0-5299-D609-C51D24871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077" y="5258788"/>
                <a:ext cx="5161935" cy="1477328"/>
              </a:xfrm>
              <a:prstGeom prst="rect">
                <a:avLst/>
              </a:prstGeom>
              <a:blipFill>
                <a:blip r:embed="rId4"/>
                <a:stretch>
                  <a:fillRect l="-826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B401CA18-7F3C-F1EE-28BB-626633B6C930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49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E9601FC-683F-0962-F079-70A3B924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CEA5DC06-A185-67B0-EBAE-454EA1514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Velocity Control – X &amp; 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1C565095-0231-41E6-03F0-9CA20D604273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5E5D1507-ED00-159A-57E7-369E0BD6B2CC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BD9313-727C-1F1F-D072-21CEC488EACB}"/>
                  </a:ext>
                </a:extLst>
              </p:cNvPr>
              <p:cNvSpPr txBox="1"/>
              <p:nvPr/>
            </p:nvSpPr>
            <p:spPr>
              <a:xfrm>
                <a:off x="384695" y="1628567"/>
                <a:ext cx="509113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Objectives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0.45</m:t>
                    </m:r>
                  </m:oMath>
                </a14:m>
                <a:endParaRPr lang="en-US" sz="20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(3</m:t>
                    </m:r>
                    <m:sSub>
                      <m:sSubPr>
                        <m:ctrlPr>
                          <a:rPr lang="en-US" sz="20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𝑣𝑒𝑙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≈1.5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000" noProof="0" dirty="0">
                    <a:solidFill>
                      <a:schemeClr val="bg2"/>
                    </a:solidFill>
                  </a:rPr>
                  <a:t>, approximate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settling time 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of XY velocity. Needed for position control to be this fast.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7BD9313-727C-1F1F-D072-21CEC488E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628567"/>
                <a:ext cx="5091137" cy="2554545"/>
              </a:xfrm>
              <a:prstGeom prst="rect">
                <a:avLst/>
              </a:prstGeom>
              <a:blipFill>
                <a:blip r:embed="rId3"/>
                <a:stretch>
                  <a:fillRect l="-1198" t="-955" r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25C563D-2B30-CEBC-7A97-F1940E9CF821}"/>
                  </a:ext>
                </a:extLst>
              </p:cNvPr>
              <p:cNvSpPr txBox="1"/>
              <p:nvPr/>
            </p:nvSpPr>
            <p:spPr>
              <a:xfrm>
                <a:off x="473185" y="4119542"/>
                <a:ext cx="5091137" cy="1987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Sensors &amp; Actuators/Attitude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sensor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0.02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= 0.15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25C563D-2B30-CEBC-7A97-F1940E9CF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85" y="4119542"/>
                <a:ext cx="5091137" cy="1987339"/>
              </a:xfrm>
              <a:prstGeom prst="rect">
                <a:avLst/>
              </a:prstGeom>
              <a:blipFill>
                <a:blip r:embed="rId4"/>
                <a:stretch>
                  <a:fillRect l="-1317" t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792508E-4B73-3F00-B52E-3CEA7BE3C51A}"/>
                  </a:ext>
                </a:extLst>
              </p:cNvPr>
              <p:cNvSpPr txBox="1"/>
              <p:nvPr/>
            </p:nvSpPr>
            <p:spPr>
              <a:xfrm>
                <a:off x="7684885" y="1304390"/>
                <a:ext cx="28012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F792508E-4B73-3F00-B52E-3CEA7BE3C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885" y="1304390"/>
                <a:ext cx="2801216" cy="307777"/>
              </a:xfrm>
              <a:prstGeom prst="rect">
                <a:avLst/>
              </a:prstGeom>
              <a:blipFill>
                <a:blip r:embed="rId5"/>
                <a:stretch>
                  <a:fillRect l="-654" t="-2000" r="-654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21B6456B-D477-8F9D-91E7-05ECD75F024A}"/>
              </a:ext>
            </a:extLst>
          </p:cNvPr>
          <p:cNvSpPr txBox="1"/>
          <p:nvPr/>
        </p:nvSpPr>
        <p:spPr>
          <a:xfrm>
            <a:off x="7308257" y="796161"/>
            <a:ext cx="3554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Simplified Attitude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0D16272-5AE2-D383-6743-5C6ECB3688AA}"/>
                  </a:ext>
                </a:extLst>
              </p:cNvPr>
              <p:cNvSpPr txBox="1"/>
              <p:nvPr/>
            </p:nvSpPr>
            <p:spPr>
              <a:xfrm>
                <a:off x="7409778" y="1813695"/>
                <a:ext cx="3351430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𝒄𝒎𝒅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0D16272-5AE2-D383-6743-5C6ECB368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778" y="1813695"/>
                <a:ext cx="3351430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5691708-BF38-B685-D18B-C06CAF18C298}"/>
                  </a:ext>
                </a:extLst>
              </p:cNvPr>
              <p:cNvSpPr txBox="1"/>
              <p:nvPr/>
            </p:nvSpPr>
            <p:spPr>
              <a:xfrm>
                <a:off x="6096000" y="3869476"/>
                <a:ext cx="15216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5691708-BF38-B685-D18B-C06CAF18C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69476"/>
                <a:ext cx="1521699" cy="307777"/>
              </a:xfrm>
              <a:prstGeom prst="rect">
                <a:avLst/>
              </a:prstGeom>
              <a:blipFill>
                <a:blip r:embed="rId7"/>
                <a:stretch>
                  <a:fillRect l="-1200" r="-1600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E40D92-3E41-34C5-2E2C-1BABDC3E6B65}"/>
                  </a:ext>
                </a:extLst>
              </p:cNvPr>
              <p:cNvSpPr txBox="1"/>
              <p:nvPr/>
            </p:nvSpPr>
            <p:spPr>
              <a:xfrm>
                <a:off x="8421901" y="3790872"/>
                <a:ext cx="1669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sSubSup>
                      <m:sSubSupPr>
                        <m:ctrlPr>
                          <a:rPr lang="en-US" sz="24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E40D92-3E41-34C5-2E2C-1BABDC3E6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901" y="3790872"/>
                <a:ext cx="1669047" cy="369332"/>
              </a:xfrm>
              <a:prstGeom prst="rect">
                <a:avLst/>
              </a:prstGeom>
              <a:blipFill>
                <a:blip r:embed="rId9"/>
                <a:stretch>
                  <a:fillRect l="-10623" t="-18333" r="-2930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CA79FEB-28D5-3149-F39E-CC9A45FAECF4}"/>
                  </a:ext>
                </a:extLst>
              </p:cNvPr>
              <p:cNvSpPr txBox="1"/>
              <p:nvPr/>
            </p:nvSpPr>
            <p:spPr>
              <a:xfrm>
                <a:off x="8401664" y="4292887"/>
                <a:ext cx="20384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sSub>
                      <m:sSubPr>
                        <m:ctrlP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CA79FEB-28D5-3149-F39E-CC9A45FA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664" y="4292887"/>
                <a:ext cx="2038443" cy="369332"/>
              </a:xfrm>
              <a:prstGeom prst="rect">
                <a:avLst/>
              </a:prstGeom>
              <a:blipFill>
                <a:blip r:embed="rId10"/>
                <a:stretch>
                  <a:fillRect l="-8358" t="-16393" r="-1194" b="-45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B9F9F3AC-4B5F-60BB-784A-1D5DA8CD5DDC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E49203-B865-661D-05F0-1FC4B67D9B16}"/>
              </a:ext>
            </a:extLst>
          </p:cNvPr>
          <p:cNvSpPr txBox="1"/>
          <p:nvPr/>
        </p:nvSpPr>
        <p:spPr>
          <a:xfrm>
            <a:off x="886359" y="5460550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Simulated as first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 order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66A78FC-7072-B394-DBA0-E4C00ABE5C00}"/>
                  </a:ext>
                </a:extLst>
              </p:cNvPr>
              <p:cNvSpPr txBox="1"/>
              <p:nvPr/>
            </p:nvSpPr>
            <p:spPr>
              <a:xfrm>
                <a:off x="6246186" y="2820075"/>
                <a:ext cx="6105832" cy="668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𝒄𝒎𝒅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66A78FC-7072-B394-DBA0-E4C00ABE5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186" y="2820075"/>
                <a:ext cx="6105832" cy="6685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199B87C-6F4E-7D7D-120D-2BF622F5FA6C}"/>
                  </a:ext>
                </a:extLst>
              </p:cNvPr>
              <p:cNvSpPr txBox="1"/>
              <p:nvPr/>
            </p:nvSpPr>
            <p:spPr>
              <a:xfrm>
                <a:off x="6032577" y="2282016"/>
                <a:ext cx="61058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𝒄𝒎𝒅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199B87C-6F4E-7D7D-120D-2BF622F5F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77" y="2282016"/>
                <a:ext cx="6105832" cy="400110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1E317E6-6D97-6746-DE64-D2BE35BF8258}"/>
                  </a:ext>
                </a:extLst>
              </p:cNvPr>
              <p:cNvSpPr txBox="1"/>
              <p:nvPr/>
            </p:nvSpPr>
            <p:spPr>
              <a:xfrm>
                <a:off x="3769520" y="4326304"/>
                <a:ext cx="61746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1E317E6-6D97-6746-DE64-D2BE35BF8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20" y="4326304"/>
                <a:ext cx="6174658" cy="400110"/>
              </a:xfrm>
              <a:prstGeom prst="rect">
                <a:avLst/>
              </a:prstGeom>
              <a:blipFill>
                <a:blip r:embed="rId13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brir llave 18">
            <a:extLst>
              <a:ext uri="{FF2B5EF4-FFF2-40B4-BE49-F238E27FC236}">
                <a16:creationId xmlns:a16="http://schemas.microsoft.com/office/drawing/2014/main" id="{D671A22F-0852-99EB-483E-B7AB2F285805}"/>
              </a:ext>
            </a:extLst>
          </p:cNvPr>
          <p:cNvSpPr/>
          <p:nvPr/>
        </p:nvSpPr>
        <p:spPr>
          <a:xfrm>
            <a:off x="8177088" y="3763891"/>
            <a:ext cx="68826" cy="1032387"/>
          </a:xfrm>
          <a:prstGeom prst="leftBrac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349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0E49B10-E423-ED6E-5C6C-F620CDE8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87500AC-E2FD-5058-8FB7-583C92369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Velocity Control step response - XY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9C681193-CAB3-88EC-8204-9C088B8D67D5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22ACE20-9001-7617-FF23-D02BD391A0E0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0AE23F-19C7-D2A1-0B17-4B522E71A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3703" y="878538"/>
            <a:ext cx="9307485" cy="4488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BC45573-3DC3-7C34-2113-AA87AC81D90F}"/>
                  </a:ext>
                </a:extLst>
              </p:cNvPr>
              <p:cNvSpPr txBox="1"/>
              <p:nvPr/>
            </p:nvSpPr>
            <p:spPr>
              <a:xfrm>
                <a:off x="3524422" y="5280941"/>
                <a:ext cx="51619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=0.7 &amp; 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=3.8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1.4</m:t>
                    </m:r>
                    <m: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BC45573-3DC3-7C34-2113-AA87AC81D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422" y="5280941"/>
                <a:ext cx="5161935" cy="1477328"/>
              </a:xfrm>
              <a:prstGeom prst="rect">
                <a:avLst/>
              </a:prstGeom>
              <a:blipFill>
                <a:blip r:embed="rId4"/>
                <a:stretch>
                  <a:fillRect l="-708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6E29603D-139E-535D-6F61-ECE88C4D8D6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66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C665F0E3-C200-1536-9570-0737DE7F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5CC2D33D-5EB7-C5FA-D135-B45FBF92D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	Velocity Control – Z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0E33CB14-A239-57B2-F35B-92161408F246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B334A34E-A00E-00F3-42B2-7165FEFA140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FFE9D58-AB68-FB4F-0D1B-48AF45747355}"/>
                  </a:ext>
                </a:extLst>
              </p:cNvPr>
              <p:cNvSpPr txBox="1"/>
              <p:nvPr/>
            </p:nvSpPr>
            <p:spPr>
              <a:xfrm>
                <a:off x="473185" y="1174680"/>
                <a:ext cx="509113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Objectives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3(3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tt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≈1.5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000" noProof="0" dirty="0">
                    <a:solidFill>
                      <a:schemeClr val="bg2"/>
                    </a:solidFill>
                  </a:rPr>
                  <a:t>, approximate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settling time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 of Z position.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bg2"/>
                    </a:solidFill>
                  </a:rPr>
                  <a:t>However, in order to quickly adapt the Z position in a forward flight inclination, and due to the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natural orientation of the propeller’s force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, it should be a bit </a:t>
                </a:r>
                <a:r>
                  <a:rPr lang="en-US" sz="2000" b="1" noProof="0" dirty="0">
                    <a:solidFill>
                      <a:schemeClr val="bg2"/>
                    </a:solidFill>
                  </a:rPr>
                  <a:t>faster</a:t>
                </a:r>
                <a:r>
                  <a:rPr lang="en-US" sz="20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FFE9D58-AB68-FB4F-0D1B-48AF45747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85" y="1174680"/>
                <a:ext cx="5091137" cy="3785652"/>
              </a:xfrm>
              <a:prstGeom prst="rect">
                <a:avLst/>
              </a:prstGeom>
              <a:blipFill>
                <a:blip r:embed="rId3"/>
                <a:stretch>
                  <a:fillRect l="-1317" t="-805" r="-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3236630-F21B-7F45-7136-BCE44133E6C7}"/>
                  </a:ext>
                </a:extLst>
              </p:cNvPr>
              <p:cNvSpPr txBox="1"/>
              <p:nvPr/>
            </p:nvSpPr>
            <p:spPr>
              <a:xfrm>
                <a:off x="473185" y="4574144"/>
                <a:ext cx="5091137" cy="1987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Sensors &amp; Actuators/Attitude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sensor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0.02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= 0.05 </m:t>
                    </m:r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23236630-F21B-7F45-7136-BCE44133E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85" y="4574144"/>
                <a:ext cx="5091137" cy="1987339"/>
              </a:xfrm>
              <a:prstGeom prst="rect">
                <a:avLst/>
              </a:prstGeom>
              <a:blipFill>
                <a:blip r:embed="rId4"/>
                <a:stretch>
                  <a:fillRect l="-1317" t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E0E6763-0964-C32D-C33A-77E332F9DC5D}"/>
                  </a:ext>
                </a:extLst>
              </p:cNvPr>
              <p:cNvSpPr txBox="1"/>
              <p:nvPr/>
            </p:nvSpPr>
            <p:spPr>
              <a:xfrm>
                <a:off x="8401664" y="1224152"/>
                <a:ext cx="18247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E0E6763-0964-C32D-C33A-77E332F9D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664" y="1224152"/>
                <a:ext cx="1824795" cy="307777"/>
              </a:xfrm>
              <a:prstGeom prst="rect">
                <a:avLst/>
              </a:prstGeom>
              <a:blipFill>
                <a:blip r:embed="rId5"/>
                <a:stretch>
                  <a:fillRect l="-1333" t="-2000" r="-1000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97E9BFD9-9AFC-13BC-C7E9-833BE1D5A7A8}"/>
              </a:ext>
            </a:extLst>
          </p:cNvPr>
          <p:cNvSpPr txBox="1"/>
          <p:nvPr/>
        </p:nvSpPr>
        <p:spPr>
          <a:xfrm>
            <a:off x="7496985" y="774570"/>
            <a:ext cx="3829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Simplified Attitude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8DEACB7-5555-D9C2-1014-C607B39C30BB}"/>
                  </a:ext>
                </a:extLst>
              </p:cNvPr>
              <p:cNvSpPr txBox="1"/>
              <p:nvPr/>
            </p:nvSpPr>
            <p:spPr>
              <a:xfrm>
                <a:off x="7736158" y="1806774"/>
                <a:ext cx="3351430" cy="18073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𝒄𝒎𝒅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𝒄𝒎𝒅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𝒄𝒎𝒅</m:t>
                          </m:r>
                        </m:sub>
                      </m:sSub>
                    </m:oMath>
                  </m:oMathPara>
                </a14:m>
                <a:endParaRPr lang="en-US" sz="20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8DEACB7-5555-D9C2-1014-C607B39C3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158" y="1806774"/>
                <a:ext cx="3351430" cy="18073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4787F36-B9EC-D771-4D3E-D2FD415C310F}"/>
                  </a:ext>
                </a:extLst>
              </p:cNvPr>
              <p:cNvSpPr txBox="1"/>
              <p:nvPr/>
            </p:nvSpPr>
            <p:spPr>
              <a:xfrm>
                <a:off x="1365382" y="4130411"/>
                <a:ext cx="2282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0.38 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&lt; 25.5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4787F36-B9EC-D771-4D3E-D2FD415C3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382" y="4130411"/>
                <a:ext cx="2282356" cy="276999"/>
              </a:xfrm>
              <a:prstGeom prst="rect">
                <a:avLst/>
              </a:prstGeom>
              <a:blipFill>
                <a:blip r:embed="rId7"/>
                <a:stretch>
                  <a:fillRect l="-1872" r="-187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BAFB30DD-4F11-CB35-E9CA-4A46A2A9A838}"/>
              </a:ext>
            </a:extLst>
          </p:cNvPr>
          <p:cNvSpPr txBox="1"/>
          <p:nvPr/>
        </p:nvSpPr>
        <p:spPr>
          <a:xfrm>
            <a:off x="7471280" y="3831947"/>
            <a:ext cx="42475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2"/>
                </a:solidFill>
              </a:rPr>
              <a:t>If Ki = 0, it results in an integrator (first order system). Without uncertainties in mass or vertical bias perturbations, and with weight feedforward, no need for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1B3F42C-0124-6008-9A00-9194C3795E5D}"/>
                  </a:ext>
                </a:extLst>
              </p:cNvPr>
              <p:cNvSpPr txBox="1"/>
              <p:nvPr/>
            </p:nvSpPr>
            <p:spPr>
              <a:xfrm>
                <a:off x="8642554" y="5567813"/>
                <a:ext cx="17304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=3;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sz="200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1B3F42C-0124-6008-9A00-9194C3795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554" y="5567813"/>
                <a:ext cx="1730477" cy="307777"/>
              </a:xfrm>
              <a:prstGeom prst="rect">
                <a:avLst/>
              </a:prstGeom>
              <a:blipFill>
                <a:blip r:embed="rId8"/>
                <a:stretch>
                  <a:fillRect l="-3873" r="-352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41CF2C61-85FC-F2FF-9B7F-45A5036C051E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710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09945F9-81E4-ED34-BC89-81EE5CA5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DCC66D1-01D4-649C-C138-D3E05D50F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Velocity Control step response - z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DB59DFC4-C2D0-9BB6-6296-C634DCEEB53B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D3B445FD-B7AF-B5CF-6F14-11C63B65EDD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B67BD80-2FAB-30E2-05C8-12AED32B8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1046" y="854250"/>
            <a:ext cx="9202993" cy="4438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95B2FBD-992B-26A8-20B9-C9673B5B912B}"/>
                  </a:ext>
                </a:extLst>
              </p:cNvPr>
              <p:cNvSpPr txBox="1"/>
              <p:nvPr/>
            </p:nvSpPr>
            <p:spPr>
              <a:xfrm>
                <a:off x="3593690" y="5241506"/>
                <a:ext cx="51619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=3 &amp; 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95B2FBD-992B-26A8-20B9-C9673B5B9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690" y="5241506"/>
                <a:ext cx="5161935" cy="1477328"/>
              </a:xfrm>
              <a:prstGeom prst="rect">
                <a:avLst/>
              </a:prstGeom>
              <a:blipFill>
                <a:blip r:embed="rId4"/>
                <a:stretch>
                  <a:fillRect l="-827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2917F6B7-09B3-AF7D-F996-29A08168FF0F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47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1C7F1233-2C90-D9B8-8201-26DA9F29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0C4BFEBE-2B92-A173-06FB-B154C2491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2.2.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Position Control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3CED5355-AEA0-7A73-C0A5-D243BBD3F294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555AF42-70E4-417B-A8A1-5C4E7B6D4175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23D725D-5C55-D9D5-94F3-5ABE68C42A6B}"/>
                  </a:ext>
                </a:extLst>
              </p:cNvPr>
              <p:cNvSpPr txBox="1"/>
              <p:nvPr/>
            </p:nvSpPr>
            <p:spPr>
              <a:xfrm>
                <a:off x="473185" y="1174680"/>
                <a:ext cx="5091137" cy="5636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Objectives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vel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≈1.5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noProof="0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Settling time </a:t>
                </a:r>
                <a:r>
                  <a:rPr lang="en-US" sz="2000" noProof="0" dirty="0">
                    <a:solidFill>
                      <a:schemeClr val="bg2"/>
                    </a:solidFill>
                    <a:ea typeface="Cambria Math" panose="02040503050406030204" pitchFamily="18" charset="0"/>
                  </a:rPr>
                  <a:t>of around 4.5 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lit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d>
                      <m:d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𝑐𝑚𝑑</m:t>
                            </m:r>
                          </m:sub>
                        </m:sSub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m:rPr>
                        <m:lit/>
                      </m:rP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𝑐𝑚𝑑</m:t>
                            </m:r>
                          </m:sub>
                        </m:sSub>
                      </m:den>
                    </m:f>
                    <m:r>
                      <a:rPr lang="en-US" sz="20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sub>
                        </m:sSub>
                      </m:num>
                      <m:den>
                        <m:r>
                          <a:rPr lang="en-US" sz="2000" b="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b="0" i="0" noProof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sub>
                        </m:sSub>
                      </m:den>
                    </m:f>
                  </m:oMath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bg2"/>
                    </a:solidFill>
                  </a:rPr>
                  <a:t>First order system if velocity control considered instantaneous, no need for integral action</a:t>
                </a:r>
              </a:p>
              <a:p>
                <a:endParaRPr lang="en-US" sz="2000" b="0" noProof="0" dirty="0">
                  <a:solidFill>
                    <a:schemeClr val="bg2"/>
                  </a:solidFill>
                </a:endParaRPr>
              </a:p>
              <a:p>
                <a:r>
                  <a:rPr lang="en-US" sz="2000" noProof="0" dirty="0">
                    <a:solidFill>
                      <a:schemeClr val="bg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23D725D-5C55-D9D5-94F3-5ABE68C42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85" y="1174680"/>
                <a:ext cx="5091137" cy="5636095"/>
              </a:xfrm>
              <a:prstGeom prst="rect">
                <a:avLst/>
              </a:prstGeom>
              <a:blipFill>
                <a:blip r:embed="rId3"/>
                <a:stretch>
                  <a:fillRect l="-1317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14F61574-D2C7-87B8-DE26-ECE3B8A53C6C}"/>
              </a:ext>
            </a:extLst>
          </p:cNvPr>
          <p:cNvSpPr/>
          <p:nvPr/>
        </p:nvSpPr>
        <p:spPr>
          <a:xfrm>
            <a:off x="3451124" y="1927123"/>
            <a:ext cx="3067664" cy="457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lecha: doblada hacia arriba 11">
            <a:extLst>
              <a:ext uri="{FF2B5EF4-FFF2-40B4-BE49-F238E27FC236}">
                <a16:creationId xmlns:a16="http://schemas.microsoft.com/office/drawing/2014/main" id="{E0BAA1C3-6FE2-6BAB-F867-5D0A737409C9}"/>
              </a:ext>
            </a:extLst>
          </p:cNvPr>
          <p:cNvSpPr/>
          <p:nvPr/>
        </p:nvSpPr>
        <p:spPr>
          <a:xfrm>
            <a:off x="4139381" y="2181919"/>
            <a:ext cx="2698268" cy="2209889"/>
          </a:xfrm>
          <a:prstGeom prst="bentUpArrow">
            <a:avLst>
              <a:gd name="adj1" fmla="val 1864"/>
              <a:gd name="adj2" fmla="val 3644"/>
              <a:gd name="adj3" fmla="val 5424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0C8CE2E-D8C2-6FE7-BF4B-1BD0FB1D6212}"/>
                  </a:ext>
                </a:extLst>
              </p:cNvPr>
              <p:cNvSpPr txBox="1"/>
              <p:nvPr/>
            </p:nvSpPr>
            <p:spPr>
              <a:xfrm>
                <a:off x="6518788" y="1781758"/>
                <a:ext cx="5802807" cy="949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settling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E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settling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≈4.5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  <a:ea typeface="Cambria Math" panose="02040503050406030204" pitchFamily="18" charset="0"/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0.9 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0C8CE2E-D8C2-6FE7-BF4B-1BD0FB1D6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788" y="1781758"/>
                <a:ext cx="5802807" cy="949747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5A5C9F20-5289-03C7-DF14-02685FB21EB8}"/>
              </a:ext>
            </a:extLst>
          </p:cNvPr>
          <p:cNvSpPr txBox="1"/>
          <p:nvPr/>
        </p:nvSpPr>
        <p:spPr>
          <a:xfrm>
            <a:off x="6837649" y="3286862"/>
            <a:ext cx="5275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  <a:ea typeface="Cambria Math" panose="02040503050406030204" pitchFamily="18" charset="0"/>
              </a:rPr>
              <a:t>For Z, same with slightly smaller settling time, due to propellers orientation and gravity help.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B7349BF-3F49-F456-BE01-93901C1E7949}"/>
                  </a:ext>
                </a:extLst>
              </p:cNvPr>
              <p:cNvSpPr txBox="1"/>
              <p:nvPr/>
            </p:nvSpPr>
            <p:spPr>
              <a:xfrm>
                <a:off x="6424901" y="4014688"/>
                <a:ext cx="6100916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B7349BF-3F49-F456-BE01-93901C1E7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901" y="4014688"/>
                <a:ext cx="6100916" cy="423770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4BFBE5BB-CB12-F0CC-4BE3-97FD96D9C923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26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1DEA0773-1596-317A-2A5A-3501310F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5F133FA-3AD7-2C99-4814-236B192B55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Position Control step response - XY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66389947-F4C1-29F7-D5ED-AD786C26D200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88763BDF-E1E8-5E6C-0002-A0A3B1671FE1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8F1BC41-EB16-D454-FE2A-D1E386D5E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7690" y="854250"/>
            <a:ext cx="9111277" cy="4394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21C8335-2900-6098-A92B-84630EFD9C16}"/>
                  </a:ext>
                </a:extLst>
              </p:cNvPr>
              <p:cNvSpPr txBox="1"/>
              <p:nvPr/>
            </p:nvSpPr>
            <p:spPr>
              <a:xfrm>
                <a:off x="3819832" y="5220090"/>
                <a:ext cx="5161935" cy="149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=0.9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3.8 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21C8335-2900-6098-A92B-84630EFD9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832" y="5220090"/>
                <a:ext cx="5161935" cy="1498744"/>
              </a:xfrm>
              <a:prstGeom prst="rect">
                <a:avLst/>
              </a:prstGeom>
              <a:blipFill>
                <a:blip r:embed="rId4"/>
                <a:stretch>
                  <a:fillRect l="-827" t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29818E4E-2043-89AC-347E-883E076763D6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551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CAA9E6A-7E8F-FE8F-0D4F-75E5CEE1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1517866-EB1C-8096-E273-F7D9D2D55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Position Control step response - Z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F31BD8A5-024E-B1B7-61E0-648EBC325489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85B4D667-0157-FC8D-4132-667BFE5D27D3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34D9FCC-DCAA-27C6-D506-6CA858CC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1382" y="873914"/>
            <a:ext cx="9252153" cy="44622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4B1B683-3709-4AB2-601B-B5ECDF7C693C}"/>
                  </a:ext>
                </a:extLst>
              </p:cNvPr>
              <p:cNvSpPr txBox="1"/>
              <p:nvPr/>
            </p:nvSpPr>
            <p:spPr>
              <a:xfrm>
                <a:off x="3741174" y="5220090"/>
                <a:ext cx="5161935" cy="149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4B1B683-3709-4AB2-601B-B5ECDF7C6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174" y="5220090"/>
                <a:ext cx="5161935" cy="1498744"/>
              </a:xfrm>
              <a:prstGeom prst="rect">
                <a:avLst/>
              </a:prstGeom>
              <a:blipFill>
                <a:blip r:embed="rId4"/>
                <a:stretch>
                  <a:fillRect l="-827" t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BB10545F-8198-3292-D03F-7E5193166566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951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39F228AD-3219-8AD7-6EF5-AC68FBF3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F3809DB-CA52-DC3B-598E-F9575AAA14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Full model test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01DA5B75-49E4-0EA0-3ADA-67E76D521607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D5D5402-2EA6-1D49-0ED9-0767349EBE0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2BB8A35-9E4E-B9F1-3A32-2410CC2A25B9}"/>
                  </a:ext>
                </a:extLst>
              </p:cNvPr>
              <p:cNvSpPr txBox="1"/>
              <p:nvPr/>
            </p:nvSpPr>
            <p:spPr>
              <a:xfrm>
                <a:off x="634181" y="4244790"/>
                <a:ext cx="5161935" cy="2382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Sensors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=0.002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𝑑𝑒𝑙𝑎𝑦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𝐵𝑎𝑛𝑑𝑤𝑖𝑡𝑑h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𝑎𝑡𝑡𝑖𝑡𝑢𝑑𝑒</m:t>
                    </m:r>
                    <m: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sensors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= 500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m:rPr>
                        <m:lit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𝐵𝑎𝑛𝑑𝑤𝑖𝑡𝑑h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position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E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sensors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20 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m:rPr>
                        <m:lit/>
                      </m:rP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2BB8A35-9E4E-B9F1-3A32-2410CC2A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81" y="4244790"/>
                <a:ext cx="5161935" cy="2382960"/>
              </a:xfrm>
              <a:prstGeom prst="rect">
                <a:avLst/>
              </a:prstGeom>
              <a:blipFill>
                <a:blip r:embed="rId3"/>
                <a:stretch>
                  <a:fillRect l="-1181" t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79372686-47AA-366C-74A8-2515361EC11C}"/>
              </a:ext>
            </a:extLst>
          </p:cNvPr>
          <p:cNvSpPr txBox="1"/>
          <p:nvPr/>
        </p:nvSpPr>
        <p:spPr>
          <a:xfrm>
            <a:off x="634181" y="1569250"/>
            <a:ext cx="516193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Tests</a:t>
            </a:r>
          </a:p>
          <a:p>
            <a:endParaRPr lang="en-US" sz="2000" b="1" noProof="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noProof="0" dirty="0">
                <a:solidFill>
                  <a:schemeClr val="bg2"/>
                </a:solidFill>
              </a:rPr>
              <a:t>Simple XY &amp; Z position step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noProof="0" dirty="0">
                <a:solidFill>
                  <a:schemeClr val="bg2"/>
                </a:solidFill>
              </a:rPr>
              <a:t>8 shape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0" noProof="0" dirty="0">
                <a:solidFill>
                  <a:schemeClr val="bg2"/>
                </a:solidFill>
              </a:rPr>
              <a:t>Simple trajectory</a:t>
            </a:r>
          </a:p>
          <a:p>
            <a:endParaRPr lang="en-US" sz="1800" noProof="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chemeClr val="bg2"/>
                </a:solidFill>
              </a:rPr>
              <a:t>V max = 5 m/s</a:t>
            </a:r>
          </a:p>
          <a:p>
            <a:endParaRPr lang="en-US" sz="1800" noProof="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590F91B-907F-126F-B464-DEE81CFDA395}"/>
                  </a:ext>
                </a:extLst>
              </p:cNvPr>
              <p:cNvSpPr txBox="1"/>
              <p:nvPr/>
            </p:nvSpPr>
            <p:spPr>
              <a:xfrm>
                <a:off x="5417574" y="1871355"/>
                <a:ext cx="5161935" cy="2884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Metric used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Root Mean Square Error</a:t>
                </a: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180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 noProof="0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noProof="0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1800" i="1" noProof="0" smtClean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Problem is by design the controller needs the reference to be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  <m:r>
                      <m:rPr>
                        <m:lit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meters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 ahead for the correct following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590F91B-907F-126F-B464-DEE81CFDA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574" y="1871355"/>
                <a:ext cx="5161935" cy="2884123"/>
              </a:xfrm>
              <a:prstGeom prst="rect">
                <a:avLst/>
              </a:prstGeom>
              <a:blipFill>
                <a:blip r:embed="rId4"/>
                <a:stretch>
                  <a:fillRect l="-1300" t="-1057" b="-2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04A7DFEF-4FD9-8C25-39F5-01FA020F1C7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74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8654DA2-5E6C-B58A-54BC-55BF6320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33C1E3E8-DB3A-3B9A-9C9F-4543E5F59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 Step response full model - XY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C46A2C2B-7B65-E126-F440-184A7284BE55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E1B6EDB5-369C-57FD-1A22-AA1662E53B0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D642948-B5AE-8430-A12F-707FDFB277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0544" y="854250"/>
            <a:ext cx="9173494" cy="4424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6FE926F-740A-7DE3-4D48-ADD2643A6E6F}"/>
                  </a:ext>
                </a:extLst>
              </p:cNvPr>
              <p:cNvSpPr txBox="1"/>
              <p:nvPr/>
            </p:nvSpPr>
            <p:spPr>
              <a:xfrm>
                <a:off x="3313471" y="5164159"/>
                <a:ext cx="5161935" cy="149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=0.9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(Nominal 3.8 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(Nominal 5 %)</a:t>
                </a: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6FE926F-740A-7DE3-4D48-ADD2643A6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471" y="5164159"/>
                <a:ext cx="5161935" cy="1498744"/>
              </a:xfrm>
              <a:prstGeom prst="rect">
                <a:avLst/>
              </a:prstGeom>
              <a:blipFill>
                <a:blip r:embed="rId4"/>
                <a:stretch>
                  <a:fillRect l="-827" t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B838CB1-F807-F4F8-7668-98D9866FF892}"/>
              </a:ext>
            </a:extLst>
          </p:cNvPr>
          <p:cNvSpPr txBox="1"/>
          <p:nvPr/>
        </p:nvSpPr>
        <p:spPr>
          <a:xfrm>
            <a:off x="8475406" y="534923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*Z fall of &lt;1cm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1F0955-E173-9777-0C8B-84FD98A9EE2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32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DB00CEF-B564-64CC-7D74-906CA2AC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FF76435-E6E9-E5D4-4D97-FC08FF694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dirty="0">
                <a:latin typeface="Arial Black" panose="020B0A04020102020204" pitchFamily="34" charset="0"/>
                <a:sym typeface="Calibri"/>
              </a:rPr>
              <a:t>2.1. C</a:t>
            </a:r>
            <a:r>
              <a:rPr lang="en-US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Step response full model - Z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7CF6B537-D746-9D75-B570-39555773876F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BD62DD7-434E-B333-2A67-78EFFDA71301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C5CE13B-0F72-7AF4-64EC-89D55351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1551" y="844508"/>
            <a:ext cx="9163662" cy="4419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5CD45E-30E0-644D-E601-FF8CEBC13D3E}"/>
                  </a:ext>
                </a:extLst>
              </p:cNvPr>
              <p:cNvSpPr txBox="1"/>
              <p:nvPr/>
            </p:nvSpPr>
            <p:spPr>
              <a:xfrm>
                <a:off x="3603523" y="5129006"/>
                <a:ext cx="5161935" cy="149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2.1 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(Nominal 2 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(Nominal 0 %)</a:t>
                </a:r>
              </a:p>
              <a:p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75CD45E-30E0-644D-E601-FF8CEBC13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523" y="5129006"/>
                <a:ext cx="5161935" cy="1498744"/>
              </a:xfrm>
              <a:prstGeom prst="rect">
                <a:avLst/>
              </a:prstGeom>
              <a:blipFill>
                <a:blip r:embed="rId4"/>
                <a:stretch>
                  <a:fillRect l="-708" t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DB8497C5-75C3-E0BF-E3CB-098AE626B441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298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texto 1">
                <a:extLst>
                  <a:ext uri="{FF2B5EF4-FFF2-40B4-BE49-F238E27FC236}">
                    <a16:creationId xmlns:a16="http://schemas.microsoft.com/office/drawing/2014/main" id="{5EA3E98F-D4F0-D076-F084-A48EB6AC74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21110" y="1226576"/>
                <a:ext cx="5801032" cy="3955024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Reference trajectory</a:t>
                </a: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width = 10 meters</a:t>
                </a: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width = 10 meters</a:t>
                </a:r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ES" sz="1800" b="0" i="1" noProof="0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0.20 rad/s</a:t>
                </a:r>
              </a:p>
              <a:p>
                <a:r>
                  <a:rPr lang="en-US" sz="1400" noProof="0" dirty="0">
                    <a:solidFill>
                      <a:schemeClr val="bg2"/>
                    </a:solidFill>
                  </a:rPr>
                  <a:t>	</a:t>
                </a:r>
              </a:p>
              <a:p>
                <a:endParaRPr lang="en-US" sz="14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 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m:rPr>
                          <m:lit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≈ 1.5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lit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</a:endParaRPr>
              </a:p>
              <a:p>
                <a:r>
                  <a:rPr lang="en-US" sz="1600" noProof="0" dirty="0">
                    <a:solidFill>
                      <a:schemeClr val="bg2"/>
                    </a:solidFill>
                  </a:rPr>
                  <a:t> 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2" name="Marcador de texto 1">
                <a:extLst>
                  <a:ext uri="{FF2B5EF4-FFF2-40B4-BE49-F238E27FC236}">
                    <a16:creationId xmlns:a16="http://schemas.microsoft.com/office/drawing/2014/main" id="{5EA3E98F-D4F0-D076-F084-A48EB6AC74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21110" y="1226576"/>
                <a:ext cx="5801032" cy="39550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2">
            <a:extLst>
              <a:ext uri="{FF2B5EF4-FFF2-40B4-BE49-F238E27FC236}">
                <a16:creationId xmlns:a16="http://schemas.microsoft.com/office/drawing/2014/main" id="{4C79AF6C-085E-B0CF-BCC3-99D1DC4A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sz="20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	Full model test – 8 Shape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0424929-3664-60EE-9AE9-9CB8FF831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813" y="701439"/>
            <a:ext cx="6232474" cy="4203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C86A4CB-BC3C-EE9C-B5FA-66442BD2A669}"/>
                  </a:ext>
                </a:extLst>
              </p:cNvPr>
              <p:cNvSpPr txBox="1"/>
              <p:nvPr/>
            </p:nvSpPr>
            <p:spPr>
              <a:xfrm>
                <a:off x="1060713" y="3791861"/>
                <a:ext cx="14170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RSME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4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7C86A4CB-BC3C-EE9C-B5FA-66442BD2A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13" y="3791861"/>
                <a:ext cx="1417055" cy="276999"/>
              </a:xfrm>
              <a:prstGeom prst="rect">
                <a:avLst/>
              </a:prstGeom>
              <a:blipFill>
                <a:blip r:embed="rId4"/>
                <a:stretch>
                  <a:fillRect l="-3017" r="-215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919F21-64C1-A229-701C-0F3101AFDA8F}"/>
                  </a:ext>
                </a:extLst>
              </p:cNvPr>
              <p:cNvSpPr txBox="1"/>
              <p:nvPr/>
            </p:nvSpPr>
            <p:spPr>
              <a:xfrm>
                <a:off x="658073" y="5211815"/>
                <a:ext cx="11441391" cy="94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By design,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m:rPr>
                        <m:lit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, the UAV needs to be around 3.3 meters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behind the reference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It can be reduced with the proper introduction of feedforward, but with slightly worse path following. It has been </a:t>
                </a:r>
              </a:p>
              <a:p>
                <a:r>
                  <a:rPr lang="en-US" sz="1800" dirty="0">
                    <a:solidFill>
                      <a:schemeClr val="bg2"/>
                    </a:solidFill>
                  </a:rPr>
                  <a:t>k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ept with no feedforward for the sake of clarity.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4919F21-64C1-A229-701C-0F3101AF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73" y="5211815"/>
                <a:ext cx="11441391" cy="944746"/>
              </a:xfrm>
              <a:prstGeom prst="rect">
                <a:avLst/>
              </a:prstGeom>
              <a:blipFill>
                <a:blip r:embed="rId5"/>
                <a:stretch>
                  <a:fillRect l="-479" t="-3871" r="-266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01FE4AF5-32D1-62A0-D7D9-BEDA9C463D5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548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868C6-7E21-66A9-1736-5BCC03C2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7751249-2D6B-0481-CBCA-77B5B8CB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sz="20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	Full model test – 8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AE0493B-C4D6-0C01-23CD-29AB87405B4E}"/>
                  </a:ext>
                </a:extLst>
              </p:cNvPr>
              <p:cNvSpPr txBox="1"/>
              <p:nvPr/>
            </p:nvSpPr>
            <p:spPr>
              <a:xfrm>
                <a:off x="736731" y="3897093"/>
                <a:ext cx="15933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RSME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3.9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AE0493B-C4D6-0C01-23CD-29AB87405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31" y="3897093"/>
                <a:ext cx="1593385" cy="276999"/>
              </a:xfrm>
              <a:prstGeom prst="rect">
                <a:avLst/>
              </a:prstGeom>
              <a:blipFill>
                <a:blip r:embed="rId2"/>
                <a:stretch>
                  <a:fillRect l="-3065" r="-191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248EC91-29B7-1E7C-B159-214B8E09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06" y="701439"/>
            <a:ext cx="5982432" cy="4013599"/>
          </a:xfrm>
          <a:prstGeom prst="rect">
            <a:avLst/>
          </a:prstGeom>
        </p:spPr>
      </p:pic>
      <p:sp>
        <p:nvSpPr>
          <p:cNvPr id="11" name="Marcador de texto 1">
            <a:extLst>
              <a:ext uri="{FF2B5EF4-FFF2-40B4-BE49-F238E27FC236}">
                <a16:creationId xmlns:a16="http://schemas.microsoft.com/office/drawing/2014/main" id="{5AD049EF-9667-676F-BB5F-B02E9668F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90" y="1156462"/>
            <a:ext cx="4662081" cy="4337548"/>
          </a:xfrm>
        </p:spPr>
        <p:txBody>
          <a:bodyPr>
            <a:norm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Propeller’s effectiveness reduction</a:t>
            </a:r>
            <a:endParaRPr lang="en-US" sz="2000" noProof="0" dirty="0">
              <a:solidFill>
                <a:schemeClr val="bg2"/>
              </a:solidFill>
            </a:endParaRPr>
          </a:p>
          <a:p>
            <a:r>
              <a:rPr lang="en-US" sz="1800" noProof="0" dirty="0">
                <a:solidFill>
                  <a:schemeClr val="bg2"/>
                </a:solidFill>
              </a:rPr>
              <a:t> 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	A </a:t>
            </a:r>
            <a:r>
              <a:rPr lang="en-US" sz="1800" b="1" noProof="0" dirty="0">
                <a:solidFill>
                  <a:schemeClr val="bg2"/>
                </a:solidFill>
              </a:rPr>
              <a:t>reduction of a 20%</a:t>
            </a:r>
            <a:r>
              <a:rPr lang="en-US" sz="1800" noProof="0" dirty="0">
                <a:solidFill>
                  <a:schemeClr val="bg2"/>
                </a:solidFill>
              </a:rPr>
              <a:t> of effectiveness of one propeller at the first right turn of the 8 shape.</a:t>
            </a:r>
            <a:endParaRPr lang="en-US" sz="1800" noProof="0" dirty="0"/>
          </a:p>
          <a:p>
            <a:r>
              <a:rPr lang="en-US" sz="1800" noProof="0" dirty="0"/>
              <a:t>	</a:t>
            </a:r>
            <a:r>
              <a:rPr lang="en-US" sz="1800" noProof="0" dirty="0">
                <a:solidFill>
                  <a:schemeClr val="bg2"/>
                </a:solidFill>
              </a:rPr>
              <a:t>Due to the importance of the lag between the two points, a failure of the engine even improves the RSME.</a:t>
            </a:r>
            <a:endParaRPr lang="en-US" sz="1800" noProof="0" dirty="0"/>
          </a:p>
          <a:p>
            <a:r>
              <a:rPr lang="en-US" noProof="0" dirty="0"/>
              <a:t>	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5BEF19-E5D3-502A-AC48-93E8313E29F9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79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486C-3746-2272-15C0-26F553B2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texto 1">
                <a:extLst>
                  <a:ext uri="{FF2B5EF4-FFF2-40B4-BE49-F238E27FC236}">
                    <a16:creationId xmlns:a16="http://schemas.microsoft.com/office/drawing/2014/main" id="{A75AEA2F-DD3F-0DAE-8B1B-7F56031220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21110" y="1226576"/>
                <a:ext cx="5801032" cy="3955024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Reference trajectory</a:t>
                </a:r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pPr marL="5715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2 meters ascend</a:t>
                </a:r>
              </a:p>
              <a:p>
                <a:pPr marL="5715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X displacement of 8 meters</a:t>
                </a:r>
              </a:p>
              <a:p>
                <a:pPr marL="5715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Turn on Y (R=2 meters)</a:t>
                </a:r>
              </a:p>
              <a:p>
                <a:pPr marL="5715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3 meters straight</a:t>
                </a:r>
              </a:p>
              <a:p>
                <a:pPr marL="5715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2 meters descend</a:t>
                </a:r>
              </a:p>
              <a:p>
                <a:endParaRPr lang="en-US" sz="14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≈1.5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m:rPr>
                          <m:lit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r>
                  <a:rPr lang="en-US" sz="1600" noProof="0" dirty="0">
                    <a:solidFill>
                      <a:schemeClr val="bg2"/>
                    </a:solidFill>
                  </a:rPr>
                  <a:t>	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2" name="Marcador de texto 1">
                <a:extLst>
                  <a:ext uri="{FF2B5EF4-FFF2-40B4-BE49-F238E27FC236}">
                    <a16:creationId xmlns:a16="http://schemas.microsoft.com/office/drawing/2014/main" id="{A75AEA2F-DD3F-0DAE-8B1B-7F5603122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21110" y="1226576"/>
                <a:ext cx="5801032" cy="39550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2">
            <a:extLst>
              <a:ext uri="{FF2B5EF4-FFF2-40B4-BE49-F238E27FC236}">
                <a16:creationId xmlns:a16="http://schemas.microsoft.com/office/drawing/2014/main" id="{791B9F88-952F-29BA-127C-229F40694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sz="20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	Full model test – trajectory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66CF06-ACDF-3E0A-B464-E32652A6BE49}"/>
                  </a:ext>
                </a:extLst>
              </p:cNvPr>
              <p:cNvSpPr txBox="1"/>
              <p:nvPr/>
            </p:nvSpPr>
            <p:spPr>
              <a:xfrm>
                <a:off x="878054" y="3920527"/>
                <a:ext cx="1926681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𝑅𝑆𝑀𝐸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0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266CF06-ACDF-3E0A-B464-E32652A6B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54" y="3920527"/>
                <a:ext cx="192668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9742DA57-2352-F90B-B6AF-71998C071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166" y="904945"/>
            <a:ext cx="6565459" cy="504810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55D3E83-ECC0-B12C-95BE-BBF1611D9432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C7B93BE-2362-3024-7764-41A8FDB6BE6F}"/>
                  </a:ext>
                </a:extLst>
              </p:cNvPr>
              <p:cNvSpPr txBox="1"/>
              <p:nvPr/>
            </p:nvSpPr>
            <p:spPr>
              <a:xfrm>
                <a:off x="-1420762" y="4243692"/>
                <a:ext cx="61058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=14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C7B93BE-2362-3024-7764-41A8FDB6B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20762" y="4243692"/>
                <a:ext cx="6105832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853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779C3-6F87-41A4-5141-BEB708D7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8FA8E84-AD41-4C0D-95E3-1CFDB21F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sz="20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	Full model test – trajectory</a:t>
            </a:r>
          </a:p>
        </p:txBody>
      </p:sp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66CA7C9-4B4C-02E8-11A3-D05EDB893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968" y="996122"/>
            <a:ext cx="4493342" cy="3955024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Propeller’s effectiveness reduction</a:t>
            </a:r>
            <a:endParaRPr lang="en-US" sz="2000" noProof="0" dirty="0">
              <a:solidFill>
                <a:schemeClr val="bg2"/>
              </a:solidFill>
            </a:endParaRPr>
          </a:p>
          <a:p>
            <a:r>
              <a:rPr lang="en-US" sz="1600" noProof="0" dirty="0">
                <a:solidFill>
                  <a:schemeClr val="bg2"/>
                </a:solidFill>
              </a:rPr>
              <a:t> 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	</a:t>
            </a:r>
            <a:r>
              <a:rPr lang="en-US" sz="1900" noProof="0" dirty="0">
                <a:solidFill>
                  <a:schemeClr val="bg2"/>
                </a:solidFill>
              </a:rPr>
              <a:t>A reduction of a 20% of effectiveness of one propeller after the initial vertical ascent.</a:t>
            </a:r>
          </a:p>
          <a:p>
            <a:endParaRPr lang="en-US" sz="1900" noProof="0" dirty="0"/>
          </a:p>
          <a:p>
            <a:r>
              <a:rPr lang="en-US" sz="1900" noProof="0" dirty="0">
                <a:solidFill>
                  <a:schemeClr val="bg2"/>
                </a:solidFill>
              </a:rPr>
              <a:t>	Failure leads to error on Y tracking of 1 meter and a velocity lost that leads to continuous error that deteriorates the path</a:t>
            </a:r>
          </a:p>
          <a:p>
            <a:endParaRPr lang="en-US" noProof="0" dirty="0">
              <a:solidFill>
                <a:schemeClr val="bg2"/>
              </a:solidFill>
            </a:endParaRPr>
          </a:p>
          <a:p>
            <a:r>
              <a:rPr lang="en-US" sz="1600" noProof="0" dirty="0"/>
              <a:t>	</a:t>
            </a:r>
          </a:p>
          <a:p>
            <a:r>
              <a:rPr lang="en-US" noProof="0" dirty="0"/>
              <a:t>	</a:t>
            </a:r>
          </a:p>
        </p:txBody>
      </p:sp>
      <p:pic>
        <p:nvPicPr>
          <p:cNvPr id="10" name="Imagen 9" descr="Gráfico&#10;&#10;El contenido generado por IA puede ser incorrecto.">
            <a:extLst>
              <a:ext uri="{FF2B5EF4-FFF2-40B4-BE49-F238E27FC236}">
                <a16:creationId xmlns:a16="http://schemas.microsoft.com/office/drawing/2014/main" id="{37FDC82A-C263-BEB0-0944-37275A723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29" y="979566"/>
            <a:ext cx="7169792" cy="4749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6C90580-4D1D-8408-AA61-5B009D2FD3E9}"/>
                  </a:ext>
                </a:extLst>
              </p:cNvPr>
              <p:cNvSpPr txBox="1"/>
              <p:nvPr/>
            </p:nvSpPr>
            <p:spPr>
              <a:xfrm>
                <a:off x="805075" y="4432332"/>
                <a:ext cx="176631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RSME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1.3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200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6C90580-4D1D-8408-AA61-5B009D2FD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75" y="4432332"/>
                <a:ext cx="1766317" cy="615553"/>
              </a:xfrm>
              <a:prstGeom prst="rect">
                <a:avLst/>
              </a:prstGeom>
              <a:blipFill>
                <a:blip r:embed="rId3"/>
                <a:stretch>
                  <a:fillRect l="-2414" r="-1379"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B45B11FA-FA0E-CF5B-7F38-F2D9A039F958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159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CB08-5683-A088-7E5D-BC79FE88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DC88376-91FB-9E91-43DE-18A973FB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 Black" panose="020B0A04020102020204" pitchFamily="34" charset="0"/>
                <a:sym typeface="Calibri"/>
              </a:rPr>
              <a:t>2.3. C</a:t>
            </a:r>
            <a:r>
              <a:rPr lang="en-US" sz="2000" dirty="0">
                <a:latin typeface="Arial Black" panose="020B0A04020102020204" pitchFamily="34" charset="0"/>
              </a:rPr>
              <a:t>ontrol architecture for position-heading tracking control</a:t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>
                <a:latin typeface="Arial Black" panose="020B0A04020102020204" pitchFamily="34" charset="0"/>
              </a:rPr>
              <a:t>	Full model test – trajectory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03522F2-8E09-83D9-49B6-74189B870F68}"/>
                  </a:ext>
                </a:extLst>
              </p:cNvPr>
              <p:cNvSpPr txBox="1"/>
              <p:nvPr/>
            </p:nvSpPr>
            <p:spPr>
              <a:xfrm>
                <a:off x="1100433" y="5254348"/>
                <a:ext cx="159338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RSME</m:t>
                      </m:r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1.1 </m:t>
                      </m:r>
                      <m:r>
                        <m:rPr>
                          <m:sty m:val="p"/>
                        </m:rP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30 </m:t>
                      </m:r>
                      <m:r>
                        <m:rPr>
                          <m:sty m:val="p"/>
                        </m:rP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80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03522F2-8E09-83D9-49B6-74189B870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33" y="5254348"/>
                <a:ext cx="1593385" cy="553998"/>
              </a:xfrm>
              <a:prstGeom prst="rect">
                <a:avLst/>
              </a:prstGeom>
              <a:blipFill>
                <a:blip r:embed="rId2"/>
                <a:stretch>
                  <a:fillRect l="-3065" r="-1916" b="-6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DCC3009B-B9BC-D2C7-22AE-C20DA5B72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036" y="1073472"/>
            <a:ext cx="4660932" cy="3955024"/>
          </a:xfrm>
        </p:spPr>
        <p:txBody>
          <a:bodyPr>
            <a:norm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Propeller’s effectiveness reduction</a:t>
            </a:r>
            <a:endParaRPr lang="en-US" sz="2000" noProof="0" dirty="0">
              <a:solidFill>
                <a:schemeClr val="bg2"/>
              </a:solidFill>
            </a:endParaRPr>
          </a:p>
          <a:p>
            <a:r>
              <a:rPr lang="en-US" sz="1600" noProof="0" dirty="0">
                <a:solidFill>
                  <a:schemeClr val="bg2"/>
                </a:solidFill>
              </a:rPr>
              <a:t> 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	</a:t>
            </a:r>
            <a:r>
              <a:rPr lang="en-US" sz="1800" dirty="0">
                <a:solidFill>
                  <a:schemeClr val="bg2"/>
                </a:solidFill>
              </a:rPr>
              <a:t>A reduction of a 20% of effectiveness of one propeller after the initial vertical ascent.</a:t>
            </a:r>
          </a:p>
          <a:p>
            <a:endParaRPr lang="en-US" noProof="0" dirty="0"/>
          </a:p>
          <a:p>
            <a:r>
              <a:rPr lang="en-US" noProof="0" dirty="0">
                <a:solidFill>
                  <a:schemeClr val="bg2"/>
                </a:solidFill>
              </a:rPr>
              <a:t>	</a:t>
            </a:r>
            <a:r>
              <a:rPr lang="en-US" sz="1800" noProof="0" dirty="0">
                <a:solidFill>
                  <a:schemeClr val="bg2"/>
                </a:solidFill>
              </a:rPr>
              <a:t>Reference configured to not get ahead some distance of the UAV to improve its behavior while doubling time taken to finish the path.</a:t>
            </a:r>
            <a:endParaRPr lang="en-US" noProof="0" dirty="0">
              <a:solidFill>
                <a:schemeClr val="bg2"/>
              </a:solidFill>
            </a:endParaRPr>
          </a:p>
          <a:p>
            <a:r>
              <a:rPr lang="en-US" sz="1600" noProof="0" dirty="0"/>
              <a:t>	</a:t>
            </a:r>
          </a:p>
          <a:p>
            <a:r>
              <a:rPr lang="en-US" noProof="0" dirty="0"/>
              <a:t>	</a:t>
            </a:r>
          </a:p>
        </p:txBody>
      </p:sp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881A53C2-CACF-6A47-9211-DC130B3C8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303" y="979566"/>
            <a:ext cx="7072002" cy="495984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76B12DA-64D4-FA2C-9B04-EAAA99E10637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07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33279B9-231A-240B-91C9-14072BC3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5FADD67E-82F6-5C69-AD38-C3ACB96C6958}"/>
              </a:ext>
            </a:extLst>
          </p:cNvPr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3. Adaptive Augmentation</a:t>
            </a:r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B835C7-7B0B-B146-451A-85E62340AB6B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CA1AD75-2855-7E2A-D8B2-3D0D380A6141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4483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247D4FB-119D-A761-0A60-AA23EAFE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C1B52B0-4A7C-3581-A369-4E42C5D72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3.1. Adaptive Augmentation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Package definition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753F74EB-E60C-196B-F18F-F9A7AC8B85FC}"/>
              </a:ext>
            </a:extLst>
          </p:cNvPr>
          <p:cNvSpPr txBox="1"/>
          <p:nvPr/>
        </p:nvSpPr>
        <p:spPr>
          <a:xfrm>
            <a:off x="818050" y="728850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0F32525-CC90-B4A4-E29D-36219B36A18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8F0C4C-A5DF-9424-8C0E-B20FF6848BBF}"/>
              </a:ext>
            </a:extLst>
          </p:cNvPr>
          <p:cNvSpPr/>
          <p:nvPr/>
        </p:nvSpPr>
        <p:spPr>
          <a:xfrm>
            <a:off x="1193570" y="2762865"/>
            <a:ext cx="1339960" cy="35988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5BA5367-A7B5-FE21-07D7-DC196334959C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1878636" y="2450780"/>
            <a:ext cx="0" cy="3120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4F806B9B-9DA3-F4D3-7A92-1570EE3C0E34}"/>
              </a:ext>
            </a:extLst>
          </p:cNvPr>
          <p:cNvSpPr/>
          <p:nvPr/>
        </p:nvSpPr>
        <p:spPr>
          <a:xfrm>
            <a:off x="1790719" y="2295857"/>
            <a:ext cx="175833" cy="1549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9256C3-B86A-4D94-99C7-400575B764D1}"/>
              </a:ext>
            </a:extLst>
          </p:cNvPr>
          <p:cNvSpPr txBox="1"/>
          <p:nvPr/>
        </p:nvSpPr>
        <p:spPr>
          <a:xfrm>
            <a:off x="2016286" y="2183769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CG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5068563-0C0E-DD98-6C82-ABA97738DA9E}"/>
                  </a:ext>
                </a:extLst>
              </p:cNvPr>
              <p:cNvSpPr txBox="1"/>
              <p:nvPr/>
            </p:nvSpPr>
            <p:spPr>
              <a:xfrm>
                <a:off x="1307413" y="3243127"/>
                <a:ext cx="2013308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latin typeface="Cambria Math" panose="02040503050406030204" pitchFamily="18" charset="0"/>
                          </a:rPr>
                          <m:t>𝑼𝑨𝑽</m:t>
                        </m:r>
                        <m:r>
                          <a:rPr lang="en-US" sz="1800" b="1" i="1" noProof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1" i="1" noProof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1800" b="1" i="1" noProof="0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18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sz="18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8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800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800" b="1" noProof="0" dirty="0"/>
                  <a:t> kg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5068563-0C0E-DD98-6C82-ABA97738D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413" y="3243127"/>
                <a:ext cx="2013308" cy="301878"/>
              </a:xfrm>
              <a:prstGeom prst="rect">
                <a:avLst/>
              </a:prstGeom>
              <a:blipFill>
                <a:blip r:embed="rId3"/>
                <a:stretch>
                  <a:fillRect l="-3927" t="-26000" r="-6042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brir corchete 18">
            <a:extLst>
              <a:ext uri="{FF2B5EF4-FFF2-40B4-BE49-F238E27FC236}">
                <a16:creationId xmlns:a16="http://schemas.microsoft.com/office/drawing/2014/main" id="{83CDE4C8-D950-02CD-D932-134148C0D1C2}"/>
              </a:ext>
            </a:extLst>
          </p:cNvPr>
          <p:cNvSpPr/>
          <p:nvPr/>
        </p:nvSpPr>
        <p:spPr>
          <a:xfrm>
            <a:off x="1586436" y="2463058"/>
            <a:ext cx="45719" cy="2508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938C70A-B58E-50A4-DC30-51ED3731FC8A}"/>
                  </a:ext>
                </a:extLst>
              </p:cNvPr>
              <p:cNvSpPr txBox="1"/>
              <p:nvPr/>
            </p:nvSpPr>
            <p:spPr>
              <a:xfrm>
                <a:off x="428851" y="1575377"/>
                <a:ext cx="26609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latin typeface="Cambria Math" panose="02040503050406030204" pitchFamily="18" charset="0"/>
                            </a:rPr>
                            <m:t>𝑼𝑨𝑽</m:t>
                          </m:r>
                          <m:r>
                            <a:rPr lang="en-US" sz="1800" b="1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1" i="1" noProof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800" b="1" i="1" noProof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∈ [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𝟎𝟒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𝟎𝟔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sz="1800" b="1" i="1" noProof="0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i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938C70A-B58E-50A4-DC30-51ED3731F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51" y="1575377"/>
                <a:ext cx="2660921" cy="276999"/>
              </a:xfrm>
              <a:prstGeom prst="rect">
                <a:avLst/>
              </a:prstGeom>
              <a:blipFill>
                <a:blip r:embed="rId4"/>
                <a:stretch>
                  <a:fillRect l="-1602" r="-915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8C669FB-7B96-4B65-E5C2-E2A311C510E8}"/>
              </a:ext>
            </a:extLst>
          </p:cNvPr>
          <p:cNvCxnSpPr>
            <a:endCxn id="19" idx="1"/>
          </p:cNvCxnSpPr>
          <p:nvPr/>
        </p:nvCxnSpPr>
        <p:spPr>
          <a:xfrm>
            <a:off x="1340800" y="2588458"/>
            <a:ext cx="2456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890D5DC-5CF8-06B5-03BF-30FD4CF9DD5C}"/>
              </a:ext>
            </a:extLst>
          </p:cNvPr>
          <p:cNvCxnSpPr/>
          <p:nvPr/>
        </p:nvCxnSpPr>
        <p:spPr>
          <a:xfrm flipV="1">
            <a:off x="1340800" y="1936955"/>
            <a:ext cx="0" cy="6515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58AD6-2772-5DC4-6478-D89D820463EB}"/>
                  </a:ext>
                </a:extLst>
              </p:cNvPr>
              <p:cNvSpPr txBox="1"/>
              <p:nvPr/>
            </p:nvSpPr>
            <p:spPr>
              <a:xfrm>
                <a:off x="5555784" y="2144822"/>
                <a:ext cx="3362074" cy="900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noProof="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𝐶𝐺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Sup>
                      <m:sSubSup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8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100;010;000</m:t>
                        </m:r>
                      </m:e>
                    </m:d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𝐶𝐺</m:t>
                        </m:r>
                      </m:sub>
                    </m:sSub>
                  </m:oMath>
                </a14:m>
                <a:endParaRPr lang="en-US" sz="1800" b="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58AD6-2772-5DC4-6478-D89D82046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784" y="2144822"/>
                <a:ext cx="3362074" cy="900759"/>
              </a:xfrm>
              <a:prstGeom prst="rect">
                <a:avLst/>
              </a:prstGeom>
              <a:blipFill>
                <a:blip r:embed="rId5"/>
                <a:stretch>
                  <a:fillRect l="-3986" t="-8108" r="-54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FDF1C71F-32A1-3F84-635D-3ED9AEFE4B4E}"/>
              </a:ext>
            </a:extLst>
          </p:cNvPr>
          <p:cNvSpPr txBox="1"/>
          <p:nvPr/>
        </p:nvSpPr>
        <p:spPr>
          <a:xfrm>
            <a:off x="5447071" y="1630785"/>
            <a:ext cx="380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EQUATIONS MODIFICATION</a:t>
            </a:r>
            <a:r>
              <a:rPr lang="en-US" sz="2000" b="1" dirty="0">
                <a:solidFill>
                  <a:schemeClr val="bg2"/>
                </a:solidFill>
              </a:rPr>
              <a:t>S</a:t>
            </a:r>
            <a:endParaRPr lang="en-US" sz="2000" b="1" noProof="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877E260-02D0-6F15-C73F-BCA02D58F692}"/>
                  </a:ext>
                </a:extLst>
              </p:cNvPr>
              <p:cNvSpPr txBox="1"/>
              <p:nvPr/>
            </p:nvSpPr>
            <p:spPr>
              <a:xfrm>
                <a:off x="690331" y="3778085"/>
                <a:ext cx="7431114" cy="2376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UAV New Behavior</a:t>
                </a: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 in the Z position controller was set null in the nominal design due to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complete knowledge of the UAV mass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 In order to correct the Z bias due to the package,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activation of this term is needed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 is taken as reference.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 change is around 10% of total in XY rotations, not such a big change for not aggressive maneuvers.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877E260-02D0-6F15-C73F-BCA02D58F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31" y="3778085"/>
                <a:ext cx="7431114" cy="2376805"/>
              </a:xfrm>
              <a:prstGeom prst="rect">
                <a:avLst/>
              </a:prstGeom>
              <a:blipFill>
                <a:blip r:embed="rId6"/>
                <a:stretch>
                  <a:fillRect l="-820" t="-1282" r="-820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88F397F-0373-8F84-3234-361209395AE5}"/>
              </a:ext>
            </a:extLst>
          </p:cNvPr>
          <p:cNvSpPr/>
          <p:nvPr/>
        </p:nvSpPr>
        <p:spPr>
          <a:xfrm>
            <a:off x="8298426" y="4699819"/>
            <a:ext cx="619432" cy="10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D33E9E6-924D-F850-C85C-14BF63C46A7C}"/>
                  </a:ext>
                </a:extLst>
              </p:cNvPr>
              <p:cNvSpPr txBox="1"/>
              <p:nvPr/>
            </p:nvSpPr>
            <p:spPr>
              <a:xfrm>
                <a:off x="9094839" y="4286139"/>
                <a:ext cx="3018775" cy="9355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1800" noProof="0" dirty="0"/>
                  <a:t>, 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converges to 5% 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In 10 seconds. High values </a:t>
                </a:r>
              </a:p>
              <a:p>
                <a:r>
                  <a:rPr lang="en-US" sz="1800" b="1" noProof="0" dirty="0">
                    <a:solidFill>
                      <a:schemeClr val="bg2"/>
                    </a:solidFill>
                  </a:rPr>
                  <a:t> worsen transitory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 </a:t>
                </a:r>
                <a:endParaRPr lang="en-US" sz="1800" noProof="0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D33E9E6-924D-F850-C85C-14BF63C4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839" y="4286139"/>
                <a:ext cx="3018775" cy="935513"/>
              </a:xfrm>
              <a:prstGeom prst="rect">
                <a:avLst/>
              </a:prstGeom>
              <a:blipFill>
                <a:blip r:embed="rId7"/>
                <a:stretch>
                  <a:fillRect l="-1818" t="-3247" r="-60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88DD29DB-E22D-903C-A421-E10517DF155C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2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38C6D0D-CF3B-0611-229F-CACE7BCB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9CEC5C3-C397-DFE9-B262-087AAAA0D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3.1. Adaptive Augmentation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Package definition – Z position control update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2FD41093-C3A1-E7D5-A58C-3D9CBE0730A2}"/>
              </a:ext>
            </a:extLst>
          </p:cNvPr>
          <p:cNvSpPr txBox="1"/>
          <p:nvPr/>
        </p:nvSpPr>
        <p:spPr>
          <a:xfrm>
            <a:off x="1172012" y="674062"/>
            <a:ext cx="1045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noProof="0" dirty="0">
              <a:solidFill>
                <a:schemeClr val="dk1"/>
              </a:solidFill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B713D512-FD0D-4AF3-538B-A0680A9E02D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B323777-375C-78C7-A418-90FF5A6B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3387" y="1459758"/>
            <a:ext cx="6024307" cy="2905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FE173BF-6CEA-B083-CE59-3A2578096FBD}"/>
                  </a:ext>
                </a:extLst>
              </p:cNvPr>
              <p:cNvSpPr txBox="1"/>
              <p:nvPr/>
            </p:nvSpPr>
            <p:spPr>
              <a:xfrm>
                <a:off x="668119" y="4454695"/>
                <a:ext cx="5161935" cy="1221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2.1 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FFE173BF-6CEA-B083-CE59-3A257809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19" y="4454695"/>
                <a:ext cx="5161935" cy="1221745"/>
              </a:xfrm>
              <a:prstGeom prst="rect">
                <a:avLst/>
              </a:prstGeom>
              <a:blipFill>
                <a:blip r:embed="rId4"/>
                <a:stretch>
                  <a:fillRect l="-827" t="-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494AA393-F682-21C5-6DFA-6B23E3B4DD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59998" y="1459758"/>
            <a:ext cx="6024302" cy="2905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CC1D5C7-7149-A502-1B89-B97062CB81B0}"/>
                  </a:ext>
                </a:extLst>
              </p:cNvPr>
              <p:cNvSpPr txBox="1"/>
              <p:nvPr/>
            </p:nvSpPr>
            <p:spPr>
              <a:xfrm>
                <a:off x="6762111" y="4365522"/>
                <a:ext cx="51619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 velocity step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Settling time (2%)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4.7  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Overshoot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0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Undershoot </a:t>
                </a:r>
                <a14:m>
                  <m:oMath xmlns:m="http://schemas.openxmlformats.org/officeDocument/2006/math"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800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CC1D5C7-7149-A502-1B89-B97062CB8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111" y="4365522"/>
                <a:ext cx="5161935" cy="1477328"/>
              </a:xfrm>
              <a:prstGeom prst="rect">
                <a:avLst/>
              </a:prstGeom>
              <a:blipFill>
                <a:blip r:embed="rId6"/>
                <a:stretch>
                  <a:fillRect l="-708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5C59737E-6FF9-881C-8E30-FC66C9489287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46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FBCF45B-3F19-DA6F-C4DA-98E56948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91A6144-4D3D-98B2-CD82-8A625106A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3.1. Adaptive Augmentation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Package definition - Tracking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29C7CEE3-60B9-34C0-C45D-4563C7AF30D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4" name="Imagen 3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ECFC210D-3461-2764-15C1-A47DC5C9D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329" y="1391076"/>
            <a:ext cx="7351537" cy="4645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2E14341-1B5D-2768-C647-F11F790B9C67}"/>
                  </a:ext>
                </a:extLst>
              </p:cNvPr>
              <p:cNvSpPr txBox="1"/>
              <p:nvPr/>
            </p:nvSpPr>
            <p:spPr>
              <a:xfrm>
                <a:off x="623080" y="1569250"/>
                <a:ext cx="4135734" cy="3274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Trajectory tracking with package</a:t>
                </a: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Due to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, trajectory 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tracking is reasonably good, but Z position error peaks initially around -1 meters and any vertical commands has light error due to change in Z controller.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2E14341-1B5D-2768-C647-F11F790B9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80" y="1569250"/>
                <a:ext cx="4135734" cy="3274614"/>
              </a:xfrm>
              <a:prstGeom prst="rect">
                <a:avLst/>
              </a:prstGeom>
              <a:blipFill>
                <a:blip r:embed="rId4"/>
                <a:stretch>
                  <a:fillRect l="-1473" t="-743" r="-1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EA15E7-2BDA-6EE1-F876-822CD0D94375}"/>
                  </a:ext>
                </a:extLst>
              </p:cNvPr>
              <p:cNvSpPr txBox="1"/>
              <p:nvPr/>
            </p:nvSpPr>
            <p:spPr>
              <a:xfrm>
                <a:off x="700063" y="4165878"/>
                <a:ext cx="176631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RSME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1.1 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2000" i="1" noProof="0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8EA15E7-2BDA-6EE1-F876-822CD0D94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63" y="4165878"/>
                <a:ext cx="1766317" cy="615553"/>
              </a:xfrm>
              <a:prstGeom prst="rect">
                <a:avLst/>
              </a:prstGeom>
              <a:blipFill>
                <a:blip r:embed="rId5"/>
                <a:stretch>
                  <a:fillRect l="-2759" r="-1034" b="-8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28E98EF7-7F96-DEE2-7BA8-6A09A11B7D59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26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2839B64F-A794-1C16-D4E6-C863E003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DCCE0A6-7C23-55C5-260A-2B1D47CBC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Reason and Objectives</a:t>
            </a:r>
            <a:br>
              <a:rPr lang="en-US" sz="2000" dirty="0">
                <a:latin typeface="Arial Black" panose="020B0A04020102020204" pitchFamily="34" charset="0"/>
                <a:sym typeface="Calibri"/>
              </a:rPr>
            </a:br>
            <a:r>
              <a:rPr lang="en-US" sz="2000" dirty="0">
                <a:latin typeface="Arial Black" panose="020B0A04020102020204" pitchFamily="34" charset="0"/>
                <a:sym typeface="Calibri"/>
              </a:rPr>
              <a:t>		</a:t>
            </a:r>
            <a:br>
              <a:rPr lang="en-US" sz="2000" dirty="0">
                <a:latin typeface="Arial Black" panose="020B0A04020102020204" pitchFamily="34" charset="0"/>
                <a:sym typeface="Calibri"/>
              </a:rPr>
            </a:br>
            <a:endParaRPr lang="en-US" sz="2000" dirty="0">
              <a:latin typeface="Arial Black" panose="020B0A04020102020204" pitchFamily="34" charset="0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258451AF-BA73-FE0E-6C48-8F415889BAE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B78FDE-3114-506C-1FB6-4F2358C33C89}"/>
              </a:ext>
            </a:extLst>
          </p:cNvPr>
          <p:cNvSpPr/>
          <p:nvPr/>
        </p:nvSpPr>
        <p:spPr>
          <a:xfrm>
            <a:off x="1032387" y="1150374"/>
            <a:ext cx="2182761" cy="9340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Controller + Weight Feedforward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2D787D0-F62C-05A9-7702-128286CF8FF5}"/>
              </a:ext>
            </a:extLst>
          </p:cNvPr>
          <p:cNvCxnSpPr/>
          <p:nvPr/>
        </p:nvCxnSpPr>
        <p:spPr>
          <a:xfrm>
            <a:off x="3215148" y="1617406"/>
            <a:ext cx="1232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F3CD29C1-F957-7E71-54E7-94EF23888C1B}"/>
              </a:ext>
            </a:extLst>
          </p:cNvPr>
          <p:cNvSpPr/>
          <p:nvPr/>
        </p:nvSpPr>
        <p:spPr>
          <a:xfrm>
            <a:off x="4517922" y="1150374"/>
            <a:ext cx="2182761" cy="9340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Plant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D2E6B54-7D6A-E116-B97A-6886E2FE366C}"/>
              </a:ext>
            </a:extLst>
          </p:cNvPr>
          <p:cNvCxnSpPr>
            <a:stCxn id="7" idx="2"/>
          </p:cNvCxnSpPr>
          <p:nvPr/>
        </p:nvCxnSpPr>
        <p:spPr>
          <a:xfrm flipH="1">
            <a:off x="5609302" y="2084439"/>
            <a:ext cx="1" cy="442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1B101B0-D872-F60F-A4C3-7F74E8D021DE}"/>
              </a:ext>
            </a:extLst>
          </p:cNvPr>
          <p:cNvCxnSpPr/>
          <p:nvPr/>
        </p:nvCxnSpPr>
        <p:spPr>
          <a:xfrm flipH="1">
            <a:off x="570271" y="2526890"/>
            <a:ext cx="503903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9231D50-2E78-7D33-F5EF-4433460D5BF6}"/>
              </a:ext>
            </a:extLst>
          </p:cNvPr>
          <p:cNvCxnSpPr>
            <a:cxnSpLocks/>
          </p:cNvCxnSpPr>
          <p:nvPr/>
        </p:nvCxnSpPr>
        <p:spPr>
          <a:xfrm>
            <a:off x="552134" y="1818968"/>
            <a:ext cx="1806" cy="707922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0AE32E3-325A-FD8F-3562-95CBCFECB514}"/>
              </a:ext>
            </a:extLst>
          </p:cNvPr>
          <p:cNvCxnSpPr>
            <a:cxnSpLocks/>
          </p:cNvCxnSpPr>
          <p:nvPr/>
        </p:nvCxnSpPr>
        <p:spPr>
          <a:xfrm>
            <a:off x="744567" y="1617406"/>
            <a:ext cx="287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8FC2A72-5A3B-C77C-5CEB-38704F2296E4}"/>
                  </a:ext>
                </a:extLst>
              </p:cNvPr>
              <p:cNvSpPr txBox="1"/>
              <p:nvPr/>
            </p:nvSpPr>
            <p:spPr>
              <a:xfrm>
                <a:off x="3340686" y="1226294"/>
                <a:ext cx="1175130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8FC2A72-5A3B-C77C-5CEB-38704F229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686" y="1226294"/>
                <a:ext cx="1175130" cy="375167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uadroTexto 25">
            <a:extLst>
              <a:ext uri="{FF2B5EF4-FFF2-40B4-BE49-F238E27FC236}">
                <a16:creationId xmlns:a16="http://schemas.microsoft.com/office/drawing/2014/main" id="{8F3178FB-8A50-C91B-C5FF-1EE274A41E5B}"/>
              </a:ext>
            </a:extLst>
          </p:cNvPr>
          <p:cNvSpPr txBox="1"/>
          <p:nvPr/>
        </p:nvSpPr>
        <p:spPr>
          <a:xfrm>
            <a:off x="6921909" y="1248074"/>
            <a:ext cx="500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Slow convergence, need for </a:t>
            </a:r>
            <a:r>
              <a:rPr lang="en-US" sz="1800" b="1" noProof="0" dirty="0">
                <a:solidFill>
                  <a:schemeClr val="bg2"/>
                </a:solidFill>
              </a:rPr>
              <a:t>integral action to achieve equilibrium</a:t>
            </a:r>
            <a:r>
              <a:rPr lang="en-US" sz="1800" noProof="0" dirty="0">
                <a:solidFill>
                  <a:schemeClr val="bg2"/>
                </a:solidFill>
              </a:rPr>
              <a:t>, with limitations in its value due to transient requirements.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DCA9D7A-0EF1-1561-13F2-92435F071FC9}"/>
              </a:ext>
            </a:extLst>
          </p:cNvPr>
          <p:cNvSpPr txBox="1"/>
          <p:nvPr/>
        </p:nvSpPr>
        <p:spPr>
          <a:xfrm>
            <a:off x="3215148" y="252689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noProof="0" dirty="0">
                <a:solidFill>
                  <a:schemeClr val="bg2"/>
                </a:solidFill>
              </a:rPr>
              <a:t>P, V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76CA3E-3AE4-9778-913D-288FDB238B45}"/>
              </a:ext>
            </a:extLst>
          </p:cNvPr>
          <p:cNvSpPr/>
          <p:nvPr/>
        </p:nvSpPr>
        <p:spPr>
          <a:xfrm>
            <a:off x="892455" y="4149232"/>
            <a:ext cx="1486952" cy="9340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Controller + Weight Feedforward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350C774-B0A8-9288-4BD0-4069470AD421}"/>
              </a:ext>
            </a:extLst>
          </p:cNvPr>
          <p:cNvCxnSpPr>
            <a:cxnSpLocks/>
          </p:cNvCxnSpPr>
          <p:nvPr/>
        </p:nvCxnSpPr>
        <p:spPr>
          <a:xfrm>
            <a:off x="2375438" y="4616245"/>
            <a:ext cx="839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0A6CE61-1A89-B710-4A6C-C6975B439DF9}"/>
              </a:ext>
            </a:extLst>
          </p:cNvPr>
          <p:cNvCxnSpPr>
            <a:cxnSpLocks/>
          </p:cNvCxnSpPr>
          <p:nvPr/>
        </p:nvCxnSpPr>
        <p:spPr>
          <a:xfrm>
            <a:off x="428531" y="4775507"/>
            <a:ext cx="0" cy="909466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DB702B5-1325-8AA3-A812-E4167216BED4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28531" y="4616245"/>
            <a:ext cx="463924" cy="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8774E76-D1DE-B7C6-2729-182829196220}"/>
                  </a:ext>
                </a:extLst>
              </p:cNvPr>
              <p:cNvSpPr txBox="1"/>
              <p:nvPr/>
            </p:nvSpPr>
            <p:spPr>
              <a:xfrm>
                <a:off x="2392552" y="4748068"/>
                <a:ext cx="1339115" cy="375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bl</m:t>
                          </m:r>
                          <m: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8774E76-D1DE-B7C6-2729-182829196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552" y="4748068"/>
                <a:ext cx="1339115" cy="375167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CuadroTexto 34">
            <a:extLst>
              <a:ext uri="{FF2B5EF4-FFF2-40B4-BE49-F238E27FC236}">
                <a16:creationId xmlns:a16="http://schemas.microsoft.com/office/drawing/2014/main" id="{BF965E95-A0F3-E337-B219-2FB09C9B1A76}"/>
              </a:ext>
            </a:extLst>
          </p:cNvPr>
          <p:cNvSpPr txBox="1"/>
          <p:nvPr/>
        </p:nvSpPr>
        <p:spPr>
          <a:xfrm>
            <a:off x="3075215" y="5667615"/>
            <a:ext cx="57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noProof="0" dirty="0">
                <a:solidFill>
                  <a:schemeClr val="bg2"/>
                </a:solidFill>
              </a:rPr>
              <a:t>P,V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8CEC6B1-8626-73F2-C865-12E6A7189E61}"/>
              </a:ext>
            </a:extLst>
          </p:cNvPr>
          <p:cNvSpPr/>
          <p:nvPr/>
        </p:nvSpPr>
        <p:spPr>
          <a:xfrm>
            <a:off x="4739148" y="4193220"/>
            <a:ext cx="2182761" cy="9340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Plant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29D71FB1-62A1-A490-A1A8-1A0C737784BD}"/>
              </a:ext>
            </a:extLst>
          </p:cNvPr>
          <p:cNvCxnSpPr>
            <a:cxnSpLocks/>
          </p:cNvCxnSpPr>
          <p:nvPr/>
        </p:nvCxnSpPr>
        <p:spPr>
          <a:xfrm>
            <a:off x="0" y="1617406"/>
            <a:ext cx="463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BE5CCB22-E17A-CE1D-E00C-D4DB8C5ABC0B}"/>
              </a:ext>
            </a:extLst>
          </p:cNvPr>
          <p:cNvSpPr/>
          <p:nvPr/>
        </p:nvSpPr>
        <p:spPr>
          <a:xfrm>
            <a:off x="475283" y="1532424"/>
            <a:ext cx="215904" cy="196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F8DF5598-95A9-55E4-87E1-591161804252}"/>
              </a:ext>
            </a:extLst>
          </p:cNvPr>
          <p:cNvCxnSpPr>
            <a:cxnSpLocks/>
          </p:cNvCxnSpPr>
          <p:nvPr/>
        </p:nvCxnSpPr>
        <p:spPr>
          <a:xfrm>
            <a:off x="0" y="4602875"/>
            <a:ext cx="286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D687CB73-16CE-AFEF-665D-5DBA0B4D0DE7}"/>
              </a:ext>
            </a:extLst>
          </p:cNvPr>
          <p:cNvSpPr/>
          <p:nvPr/>
        </p:nvSpPr>
        <p:spPr>
          <a:xfrm>
            <a:off x="297623" y="4517893"/>
            <a:ext cx="215904" cy="196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610C8B56-457F-3F77-8984-C83A637FB565}"/>
              </a:ext>
            </a:extLst>
          </p:cNvPr>
          <p:cNvSpPr/>
          <p:nvPr/>
        </p:nvSpPr>
        <p:spPr>
          <a:xfrm>
            <a:off x="3262166" y="4517892"/>
            <a:ext cx="215904" cy="1967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C5FCA3CF-077E-A27A-A59A-12EBBD197BA9}"/>
              </a:ext>
            </a:extLst>
          </p:cNvPr>
          <p:cNvCxnSpPr>
            <a:cxnSpLocks/>
          </p:cNvCxnSpPr>
          <p:nvPr/>
        </p:nvCxnSpPr>
        <p:spPr>
          <a:xfrm flipH="1" flipV="1">
            <a:off x="405575" y="5679620"/>
            <a:ext cx="5424952" cy="53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4DA8698E-023F-F263-830E-498FF45F010D}"/>
              </a:ext>
            </a:extLst>
          </p:cNvPr>
          <p:cNvCxnSpPr>
            <a:cxnSpLocks/>
          </p:cNvCxnSpPr>
          <p:nvPr/>
        </p:nvCxnSpPr>
        <p:spPr>
          <a:xfrm flipH="1">
            <a:off x="5830527" y="5148754"/>
            <a:ext cx="2" cy="49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A0F3072-0CFE-CF09-0652-65576569A1BF}"/>
              </a:ext>
            </a:extLst>
          </p:cNvPr>
          <p:cNvCxnSpPr>
            <a:cxnSpLocks/>
          </p:cNvCxnSpPr>
          <p:nvPr/>
        </p:nvCxnSpPr>
        <p:spPr>
          <a:xfrm>
            <a:off x="3506502" y="4616243"/>
            <a:ext cx="11539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222214D4-1A77-964B-4E49-D955592433F8}"/>
              </a:ext>
            </a:extLst>
          </p:cNvPr>
          <p:cNvSpPr/>
          <p:nvPr/>
        </p:nvSpPr>
        <p:spPr>
          <a:xfrm>
            <a:off x="2630688" y="3270656"/>
            <a:ext cx="1694763" cy="6828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Predictor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2BD8D9C2-9D5A-8010-0989-CD274AD25C03}"/>
              </a:ext>
            </a:extLst>
          </p:cNvPr>
          <p:cNvCxnSpPr>
            <a:cxnSpLocks/>
          </p:cNvCxnSpPr>
          <p:nvPr/>
        </p:nvCxnSpPr>
        <p:spPr>
          <a:xfrm>
            <a:off x="2882222" y="3987025"/>
            <a:ext cx="0" cy="61585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1257919F-F463-5BF0-BF67-2C9F57CD0C14}"/>
              </a:ext>
            </a:extLst>
          </p:cNvPr>
          <p:cNvCxnSpPr>
            <a:cxnSpLocks/>
          </p:cNvCxnSpPr>
          <p:nvPr/>
        </p:nvCxnSpPr>
        <p:spPr>
          <a:xfrm flipH="1">
            <a:off x="5830525" y="3674358"/>
            <a:ext cx="2" cy="49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C35DC96F-0E98-809C-FE2E-4EE6066201F7}"/>
              </a:ext>
            </a:extLst>
          </p:cNvPr>
          <p:cNvCxnSpPr>
            <a:cxnSpLocks/>
          </p:cNvCxnSpPr>
          <p:nvPr/>
        </p:nvCxnSpPr>
        <p:spPr>
          <a:xfrm flipH="1">
            <a:off x="4447794" y="3638693"/>
            <a:ext cx="1382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075BBBBB-AC4A-3A48-6A1C-7E4ABB8BCB4F}"/>
              </a:ext>
            </a:extLst>
          </p:cNvPr>
          <p:cNvSpPr txBox="1"/>
          <p:nvPr/>
        </p:nvSpPr>
        <p:spPr>
          <a:xfrm>
            <a:off x="5319564" y="3307066"/>
            <a:ext cx="57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V</a:t>
            </a:r>
          </a:p>
        </p:txBody>
      </p: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705CC674-A07B-1183-1571-36C5C6CA5E06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3364952" y="3960700"/>
            <a:ext cx="5166" cy="557192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18AFD0D-1BF4-0EF3-2299-FC59858BF689}"/>
              </a:ext>
            </a:extLst>
          </p:cNvPr>
          <p:cNvSpPr txBox="1"/>
          <p:nvPr/>
        </p:nvSpPr>
        <p:spPr>
          <a:xfrm>
            <a:off x="7059002" y="3229091"/>
            <a:ext cx="50046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With the initial estimation of the parameters, the predictor </a:t>
            </a:r>
            <a:r>
              <a:rPr lang="en-US" sz="1800" b="1" noProof="0" dirty="0">
                <a:solidFill>
                  <a:schemeClr val="bg2"/>
                </a:solidFill>
              </a:rPr>
              <a:t>compares the internal simulation </a:t>
            </a:r>
            <a:r>
              <a:rPr lang="en-US" sz="1800" noProof="0" dirty="0">
                <a:solidFill>
                  <a:schemeClr val="bg2"/>
                </a:solidFill>
              </a:rPr>
              <a:t>results (with the baseline controller as input) </a:t>
            </a:r>
            <a:r>
              <a:rPr lang="en-US" sz="1800" b="1" noProof="0" dirty="0">
                <a:solidFill>
                  <a:schemeClr val="bg2"/>
                </a:solidFill>
              </a:rPr>
              <a:t>with the real state </a:t>
            </a:r>
            <a:r>
              <a:rPr lang="en-US" sz="1800" noProof="0" dirty="0">
                <a:solidFill>
                  <a:schemeClr val="bg2"/>
                </a:solidFill>
              </a:rPr>
              <a:t>of the UAV,  </a:t>
            </a:r>
            <a:r>
              <a:rPr lang="en-US" sz="1800" b="1" noProof="0" dirty="0">
                <a:solidFill>
                  <a:schemeClr val="bg2"/>
                </a:solidFill>
              </a:rPr>
              <a:t>updates</a:t>
            </a:r>
            <a:r>
              <a:rPr lang="en-US" sz="1800" noProof="0" dirty="0">
                <a:solidFill>
                  <a:schemeClr val="bg2"/>
                </a:solidFill>
              </a:rPr>
              <a:t> the values of the </a:t>
            </a:r>
            <a:r>
              <a:rPr lang="en-US" sz="1800" b="1" noProof="0" dirty="0">
                <a:solidFill>
                  <a:schemeClr val="bg2"/>
                </a:solidFill>
              </a:rPr>
              <a:t>estimations</a:t>
            </a:r>
            <a:r>
              <a:rPr lang="en-US" sz="1800" noProof="0" dirty="0">
                <a:solidFill>
                  <a:schemeClr val="bg2"/>
                </a:solidFill>
              </a:rPr>
              <a:t> and ads a controller force that </a:t>
            </a:r>
            <a:r>
              <a:rPr lang="en-US" sz="1800" b="1" noProof="0" dirty="0">
                <a:solidFill>
                  <a:schemeClr val="bg2"/>
                </a:solidFill>
              </a:rPr>
              <a:t>complements the baseline</a:t>
            </a:r>
            <a:r>
              <a:rPr lang="en-US" sz="1800" noProof="0" dirty="0">
                <a:solidFill>
                  <a:schemeClr val="bg2"/>
                </a:solidFill>
              </a:rPr>
              <a:t> one to vanish the predictor error.</a:t>
            </a:r>
          </a:p>
          <a:p>
            <a:r>
              <a:rPr lang="en-US" sz="1800" dirty="0">
                <a:solidFill>
                  <a:schemeClr val="bg2"/>
                </a:solidFill>
              </a:rPr>
              <a:t>Does not need to know the structure of the baseline controller and can be unplugged if necessary.</a:t>
            </a:r>
            <a:endParaRPr lang="en-US" sz="1800" noProof="0" dirty="0">
              <a:solidFill>
                <a:schemeClr val="bg2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9D5EFA-453B-0BBB-9955-7F5046E63BFF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05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2950158-F830-F494-C2DB-08DA510D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84D0CC38-E232-DE49-182D-33D0815D3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9520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Equations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5931DFA6-1D10-4091-84FB-0A7798A6367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59B441E-766C-3202-9804-CD6ED84C3EDD}"/>
                  </a:ext>
                </a:extLst>
              </p:cNvPr>
              <p:cNvSpPr txBox="1"/>
              <p:nvPr/>
            </p:nvSpPr>
            <p:spPr>
              <a:xfrm>
                <a:off x="3907281" y="1734953"/>
                <a:ext cx="3101618" cy="336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̇"/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𝑚𝑔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59B441E-766C-3202-9804-CD6ED84C3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281" y="1734953"/>
                <a:ext cx="3101618" cy="336887"/>
              </a:xfrm>
              <a:prstGeom prst="rect">
                <a:avLst/>
              </a:prstGeom>
              <a:blipFill>
                <a:blip r:embed="rId3"/>
                <a:stretch>
                  <a:fillRect l="-589" t="-3636" b="-2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6AEF591-58F8-FE82-A5D9-2268ED99D837}"/>
                  </a:ext>
                </a:extLst>
              </p:cNvPr>
              <p:cNvSpPr txBox="1"/>
              <p:nvPr/>
            </p:nvSpPr>
            <p:spPr>
              <a:xfrm>
                <a:off x="2295617" y="2137333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𝒘𝒊𝒏𝒅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6AEF591-58F8-FE82-A5D9-2268ED99D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17" y="2137333"/>
                <a:ext cx="6096000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92147A-F799-4CE3-458E-6F6EB0FA52B8}"/>
                  </a:ext>
                </a:extLst>
              </p:cNvPr>
              <p:cNvSpPr txBox="1"/>
              <p:nvPr/>
            </p:nvSpPr>
            <p:spPr>
              <a:xfrm>
                <a:off x="821309" y="1197600"/>
                <a:ext cx="3103735" cy="15303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Parameter uncertainties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𝑈𝐴𝑉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800" b="0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Bias (Wind)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92147A-F799-4CE3-458E-6F6EB0FA5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" y="1197600"/>
                <a:ext cx="3103735" cy="1530355"/>
              </a:xfrm>
              <a:prstGeom prst="rect">
                <a:avLst/>
              </a:prstGeom>
              <a:blipFill>
                <a:blip r:embed="rId5"/>
                <a:stretch>
                  <a:fillRect l="-2161" t="-1594" r="-1375" b="-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E42EBE5-1F83-1F25-B4D9-2F92DF907C7A}"/>
                  </a:ext>
                </a:extLst>
              </p:cNvPr>
              <p:cNvSpPr txBox="1"/>
              <p:nvPr/>
            </p:nvSpPr>
            <p:spPr>
              <a:xfrm>
                <a:off x="7561027" y="1558221"/>
                <a:ext cx="4505079" cy="464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𝚲</m:t>
                          </m:r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𝝋</m:t>
                          </m:r>
                          <m:sSup>
                            <m:sSup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e>
                      </m:d>
                      <m:r>
                        <a:rPr lang="en-US" sz="20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0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sz="1600" b="1" noProof="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E42EBE5-1F83-1F25-B4D9-2F92DF907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27" y="1558221"/>
                <a:ext cx="4505079" cy="4641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E936698D-31B6-E7F3-C253-B9C2FF320E33}"/>
              </a:ext>
            </a:extLst>
          </p:cNvPr>
          <p:cNvSpPr txBox="1"/>
          <p:nvPr/>
        </p:nvSpPr>
        <p:spPr>
          <a:xfrm>
            <a:off x="4610296" y="1218136"/>
            <a:ext cx="2093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noProof="0" dirty="0">
                <a:solidFill>
                  <a:schemeClr val="bg2"/>
                </a:solidFill>
              </a:rPr>
              <a:t>Plant equations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0D70119C-EE83-58EB-10C4-F0CEB2C8E8E8}"/>
              </a:ext>
            </a:extLst>
          </p:cNvPr>
          <p:cNvSpPr/>
          <p:nvPr/>
        </p:nvSpPr>
        <p:spPr>
          <a:xfrm>
            <a:off x="7078486" y="1783515"/>
            <a:ext cx="412954" cy="575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6DF6D37-584A-C139-2584-A3D233DD1071}"/>
                  </a:ext>
                </a:extLst>
              </p:cNvPr>
              <p:cNvSpPr txBox="1"/>
              <p:nvPr/>
            </p:nvSpPr>
            <p:spPr>
              <a:xfrm>
                <a:off x="8019559" y="2854724"/>
                <a:ext cx="3956775" cy="1221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known, all</a:t>
                </a: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uncertainties (constant) in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  <m:sub>
                        <m:r>
                          <a:rPr lang="en-US" sz="1800" b="1" i="0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their regressor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Term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̂"/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acc>
                  </m:oMath>
                </a14:m>
                <a:r>
                  <a:rPr lang="en-US" sz="1800" b="1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works on predictor and UAV dynamics to converge.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6DF6D37-584A-C139-2584-A3D233DD1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559" y="2854724"/>
                <a:ext cx="3956775" cy="1221745"/>
              </a:xfrm>
              <a:prstGeom prst="rect">
                <a:avLst/>
              </a:prstGeom>
              <a:blipFill>
                <a:blip r:embed="rId7"/>
                <a:stretch>
                  <a:fillRect l="-1387" t="-2488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B9CB50B-5F66-E722-A42C-2EB720360ABE}"/>
                  </a:ext>
                </a:extLst>
              </p:cNvPr>
              <p:cNvSpPr txBox="1"/>
              <p:nvPr/>
            </p:nvSpPr>
            <p:spPr>
              <a:xfrm>
                <a:off x="996772" y="3113617"/>
                <a:ext cx="953723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sz="2000" b="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B9CB50B-5F66-E722-A42C-2EB720360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2" y="3113617"/>
                <a:ext cx="953723" cy="331437"/>
              </a:xfrm>
              <a:prstGeom prst="rect">
                <a:avLst/>
              </a:prstGeom>
              <a:blipFill>
                <a:blip r:embed="rId8"/>
                <a:stretch>
                  <a:fillRect l="-5769" r="-512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838878E-D084-3D40-C9B3-C6F318711691}"/>
                  </a:ext>
                </a:extLst>
              </p:cNvPr>
              <p:cNvSpPr txBox="1"/>
              <p:nvPr/>
            </p:nvSpPr>
            <p:spPr>
              <a:xfrm>
                <a:off x="6704139" y="2042718"/>
                <a:ext cx="6096000" cy="556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r>
                                    <a:rPr lang="en-US" sz="2000" b="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sz="1600" b="1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838878E-D084-3D40-C9B3-C6F318711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39" y="2042718"/>
                <a:ext cx="6096000" cy="5564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13EC882E-F32E-F5FC-3CC9-48EEF082E585}"/>
              </a:ext>
            </a:extLst>
          </p:cNvPr>
          <p:cNvSpPr txBox="1"/>
          <p:nvPr/>
        </p:nvSpPr>
        <p:spPr>
          <a:xfrm>
            <a:off x="9342959" y="1159502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noProof="0" dirty="0">
                <a:solidFill>
                  <a:schemeClr val="bg2"/>
                </a:solidFill>
              </a:rPr>
              <a:t>Predictor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F9E3A7-DF56-2892-AF47-A7DFF3C3C978}"/>
              </a:ext>
            </a:extLst>
          </p:cNvPr>
          <p:cNvSpPr txBox="1"/>
          <p:nvPr/>
        </p:nvSpPr>
        <p:spPr>
          <a:xfrm>
            <a:off x="2890683" y="4320557"/>
            <a:ext cx="6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A50E024-5691-8E78-FE04-3A5C23AB2B42}"/>
                  </a:ext>
                </a:extLst>
              </p:cNvPr>
              <p:cNvSpPr txBox="1"/>
              <p:nvPr/>
            </p:nvSpPr>
            <p:spPr>
              <a:xfrm>
                <a:off x="996772" y="3975728"/>
                <a:ext cx="5821017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noProof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2000" b="0" i="1" noProof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A50E024-5691-8E78-FE04-3A5C23AB2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2" y="3975728"/>
                <a:ext cx="5821017" cy="9908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FD0628-6701-1015-ECD6-E02F902E6C51}"/>
                  </a:ext>
                </a:extLst>
              </p:cNvPr>
              <p:cNvSpPr txBox="1"/>
              <p:nvPr/>
            </p:nvSpPr>
            <p:spPr>
              <a:xfrm>
                <a:off x="996772" y="5195770"/>
                <a:ext cx="7212359" cy="3424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[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0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acc>
                        <m:accPr>
                          <m:chr m:val="̅"/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acc>
                        <m:accPr>
                          <m:chr m:val="̅"/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sz="20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];</m:t>
                      </m: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FD0628-6701-1015-ECD6-E02F902E6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72" y="5195770"/>
                <a:ext cx="7212359" cy="342401"/>
              </a:xfrm>
              <a:prstGeom prst="rect">
                <a:avLst/>
              </a:prstGeom>
              <a:blipFill>
                <a:blip r:embed="rId11"/>
                <a:stretch>
                  <a:fillRect l="-338" r="-16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67EF5B5E-3FE3-881D-CEAD-76697BED84A9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E8ABABF-CBC3-43D9-17A2-826C33B6D288}"/>
                  </a:ext>
                </a:extLst>
              </p:cNvPr>
              <p:cNvSpPr txBox="1"/>
              <p:nvPr/>
            </p:nvSpPr>
            <p:spPr>
              <a:xfrm>
                <a:off x="-1726767" y="3465596"/>
                <a:ext cx="6400800" cy="423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lit/>
                        </m:rP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sz="2000" i="1" dirty="0">
                  <a:solidFill>
                    <a:schemeClr val="bg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E8ABABF-CBC3-43D9-17A2-826C33B6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26767" y="3465596"/>
                <a:ext cx="6400800" cy="423770"/>
              </a:xfrm>
              <a:prstGeom prst="rect">
                <a:avLst/>
              </a:prstGeom>
              <a:blipFill>
                <a:blip r:embed="rId12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147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A875CF67-901C-DE25-3450-C6C576EB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748EDB6-894D-333F-C313-26DA92AFF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9520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</a:t>
            </a:r>
            <a:r>
              <a:rPr lang="en-US" dirty="0">
                <a:latin typeface="Arial Black" panose="020B0A04020102020204" pitchFamily="34" charset="0"/>
              </a:rPr>
              <a:t>Equations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32A4B49-928A-DAEA-DC89-B1F8D4E786E8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8D5997D-ABAC-EBF3-8621-D365424D66DB}"/>
                  </a:ext>
                </a:extLst>
              </p:cNvPr>
              <p:cNvSpPr txBox="1"/>
              <p:nvPr/>
            </p:nvSpPr>
            <p:spPr>
              <a:xfrm>
                <a:off x="821309" y="1554732"/>
                <a:ext cx="637802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20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0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𝚲</m:t>
                                      </m:r>
                                      <m:r>
                                        <a:rPr lang="en-US" sz="20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0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𝚲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b="1" i="0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𝚫𝚲</m:t>
                              </m:r>
                            </m:lim>
                          </m:limLow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limLow>
                            <m:limLow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20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  <m:r>
                                        <a:rPr lang="en-US" sz="20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b="1" i="0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e>
                      </m:d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8D5997D-ABAC-EBF3-8621-D365424D6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" y="1554732"/>
                <a:ext cx="6378028" cy="691536"/>
              </a:xfrm>
              <a:prstGeom prst="rect">
                <a:avLst/>
              </a:prstGeom>
              <a:blipFill>
                <a:blip r:embed="rId3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4E0ADC50-5FD8-8E58-4C77-F2A71A838B6B}"/>
              </a:ext>
            </a:extLst>
          </p:cNvPr>
          <p:cNvSpPr txBox="1"/>
          <p:nvPr/>
        </p:nvSpPr>
        <p:spPr>
          <a:xfrm>
            <a:off x="909484" y="1037769"/>
            <a:ext cx="3089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Predictor error dynamic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7C23A382-9891-BB49-6B29-D4D7061F616B}"/>
              </a:ext>
            </a:extLst>
          </p:cNvPr>
          <p:cNvSpPr/>
          <p:nvPr/>
        </p:nvSpPr>
        <p:spPr>
          <a:xfrm>
            <a:off x="7242135" y="1790916"/>
            <a:ext cx="643334" cy="589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5A85400-22BF-A9F8-41F6-DB79B56E12D2}"/>
                  </a:ext>
                </a:extLst>
              </p:cNvPr>
              <p:cNvSpPr txBox="1"/>
              <p:nvPr/>
            </p:nvSpPr>
            <p:spPr>
              <a:xfrm>
                <a:off x="7928267" y="1579471"/>
                <a:ext cx="3584443" cy="464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  <m:r>
                                    <a:rPr lang="en-US" sz="2000" b="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𝜟</m:t>
                              </m:r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d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5A85400-22BF-A9F8-41F6-DB79B56E1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267" y="1579471"/>
                <a:ext cx="3584443" cy="4641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D80582E-DB70-7BE2-9C4F-974A16069597}"/>
                  </a:ext>
                </a:extLst>
              </p:cNvPr>
              <p:cNvSpPr txBox="1"/>
              <p:nvPr/>
            </p:nvSpPr>
            <p:spPr>
              <a:xfrm>
                <a:off x="1263445" y="2928450"/>
                <a:ext cx="376801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0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d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i="0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0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D80582E-DB70-7BE2-9C4F-974A16069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445" y="2928450"/>
                <a:ext cx="3768019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7774932-B66E-2A43-CC2B-8554C3BF6C4F}"/>
                  </a:ext>
                </a:extLst>
              </p:cNvPr>
              <p:cNvSpPr txBox="1"/>
              <p:nvPr/>
            </p:nvSpPr>
            <p:spPr>
              <a:xfrm>
                <a:off x="821309" y="2426882"/>
                <a:ext cx="4698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noProof="0" dirty="0">
                    <a:solidFill>
                      <a:schemeClr val="bg2"/>
                    </a:solidFill>
                  </a:rPr>
                  <a:t>Lyapunov function proposed 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sz="18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800" b="1" i="1" noProof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) :</a:t>
                </a: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7774932-B66E-2A43-CC2B-8554C3BF6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09" y="2426882"/>
                <a:ext cx="4698337" cy="369332"/>
              </a:xfrm>
              <a:prstGeom prst="rect">
                <a:avLst/>
              </a:prstGeom>
              <a:blipFill>
                <a:blip r:embed="rId6"/>
                <a:stretch>
                  <a:fillRect l="-909" t="-8197" r="-103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74C9BCB-500C-CFBE-588B-869C922E21AA}"/>
                  </a:ext>
                </a:extLst>
              </p:cNvPr>
              <p:cNvSpPr txBox="1"/>
              <p:nvPr/>
            </p:nvSpPr>
            <p:spPr>
              <a:xfrm>
                <a:off x="5980076" y="3040678"/>
                <a:ext cx="5213670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𝒻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 i="0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acc>
                            <m:accPr>
                              <m:chr m:val="̂"/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0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𝚪</m:t>
                              </m:r>
                            </m:e>
                            <m:sub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sz="2000" b="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acc>
                            <m:accPr>
                              <m:chr m:val="̇"/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74C9BCB-500C-CFBE-588B-869C922E2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076" y="3040678"/>
                <a:ext cx="5213670" cy="4606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8592F4F4-5F60-B3FA-E3A7-C5C20B681958}"/>
              </a:ext>
            </a:extLst>
          </p:cNvPr>
          <p:cNvSpPr txBox="1"/>
          <p:nvPr/>
        </p:nvSpPr>
        <p:spPr>
          <a:xfrm>
            <a:off x="3359031" y="3703948"/>
            <a:ext cx="5473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For Lie Derivative of V to be </a:t>
            </a:r>
            <a:r>
              <a:rPr lang="en-US" sz="1800" b="1" noProof="0" dirty="0">
                <a:solidFill>
                  <a:schemeClr val="bg2"/>
                </a:solidFill>
              </a:rPr>
              <a:t>negative semidefinite</a:t>
            </a:r>
            <a:r>
              <a:rPr lang="en-US" sz="1800" noProof="0" dirty="0">
                <a:solidFill>
                  <a:schemeClr val="bg2"/>
                </a:solidFill>
              </a:rPr>
              <a:t>, the </a:t>
            </a:r>
            <a:r>
              <a:rPr lang="en-US" sz="1800" b="1" noProof="0" dirty="0">
                <a:solidFill>
                  <a:schemeClr val="bg2"/>
                </a:solidFill>
              </a:rPr>
              <a:t>parenthesis</a:t>
            </a:r>
            <a:r>
              <a:rPr lang="en-US" sz="1800" noProof="0" dirty="0">
                <a:solidFill>
                  <a:schemeClr val="bg2"/>
                </a:solidFill>
              </a:rPr>
              <a:t> needs to be </a:t>
            </a:r>
            <a:r>
              <a:rPr lang="en-US" sz="1800" b="1" noProof="0" dirty="0">
                <a:solidFill>
                  <a:schemeClr val="bg2"/>
                </a:solidFill>
              </a:rPr>
              <a:t>null: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3EBCB90-3250-9CDE-5278-256A6F78DBD5}"/>
                  </a:ext>
                </a:extLst>
              </p:cNvPr>
              <p:cNvSpPr txBox="1"/>
              <p:nvPr/>
            </p:nvSpPr>
            <p:spPr>
              <a:xfrm>
                <a:off x="4611329" y="4409051"/>
                <a:ext cx="2489399" cy="403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0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sz="20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𝝋</m:t>
                          </m:r>
                        </m:e>
                        <m:sub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0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3EBCB90-3250-9CDE-5278-256A6F78D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329" y="4409051"/>
                <a:ext cx="2489399" cy="4035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2893ED8E-E04E-B9AF-3AF3-6C49E454C690}"/>
                  </a:ext>
                </a:extLst>
              </p:cNvPr>
              <p:cNvSpPr txBox="1"/>
              <p:nvPr/>
            </p:nvSpPr>
            <p:spPr>
              <a:xfrm>
                <a:off x="4230911" y="4958997"/>
                <a:ext cx="34983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noProof="0" dirty="0">
                    <a:solidFill>
                      <a:schemeClr val="bg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Gain update law to assure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acc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sz="1800" noProof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2893ED8E-E04E-B9AF-3AF3-6C49E454C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11" y="4958997"/>
                <a:ext cx="3498330" cy="369332"/>
              </a:xfrm>
              <a:prstGeom prst="rect">
                <a:avLst/>
              </a:prstGeom>
              <a:blipFill>
                <a:blip r:embed="rId9"/>
                <a:stretch>
                  <a:fillRect l="-139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DCF0F387-CD10-C60E-3F66-C8953A36283D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657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E8085B58-FDA5-3E22-BD1D-41009A81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444E5ED-D91E-1DA0-F004-D0D3F5687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9520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Equations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BBAA42B5-56E8-396B-7A89-89A1B04079CF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B1BB6BD-54FF-0026-B761-37AFA9965ACD}"/>
                  </a:ext>
                </a:extLst>
              </p:cNvPr>
              <p:cNvSpPr txBox="1"/>
              <p:nvPr/>
            </p:nvSpPr>
            <p:spPr>
              <a:xfrm>
                <a:off x="2003784" y="2093682"/>
                <a:ext cx="7200241" cy="41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 noProof="0" smtClean="0">
                                      <a:solidFill>
                                        <a:srgbClr val="1F49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noProof="0" smtClean="0">
                                      <a:solidFill>
                                        <a:srgbClr val="1F497D"/>
                                      </a:solidFill>
                                      <a:latin typeface="Cambria Math" panose="02040503050406030204" pitchFamily="18" charset="0"/>
                                    </a:rPr>
                                    <m:t>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800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1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  <m:t>𝜦</m:t>
                              </m:r>
                            </m:e>
                          </m:acc>
                        </m:e>
                        <m:sup>
                          <m:r>
                            <a:rPr lang="en-US" sz="180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𝝋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 → </m:t>
                      </m:r>
                      <m:r>
                        <a:rPr lang="en-US" sz="18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18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1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1" noProof="0" smtClean="0">
                                  <a:solidFill>
                                    <a:srgbClr val="1F497D"/>
                                  </a:solidFill>
                                  <a:latin typeface="Cambria Math" panose="02040503050406030204" pitchFamily="18" charset="0"/>
                                </a:rPr>
                                <m:t>𝜦</m:t>
                              </m:r>
                            </m:e>
                          </m:acc>
                        </m:e>
                        <m:sup>
                          <m:r>
                            <a:rPr lang="en-US" sz="1800" i="1" noProof="0" smtClean="0">
                              <a:solidFill>
                                <a:srgbClr val="1F497D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1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 b="1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noProof="0"/>
                            <m:t> </m:t>
                          </m:r>
                        </m:e>
                      </m:d>
                    </m:oMath>
                  </m:oMathPara>
                </a14:m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B1BB6BD-54FF-0026-B761-37AFA996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784" y="2093682"/>
                <a:ext cx="7200241" cy="417678"/>
              </a:xfrm>
              <a:prstGeom prst="rect">
                <a:avLst/>
              </a:prstGeom>
              <a:blipFill>
                <a:blip r:embed="rId3"/>
                <a:stretch>
                  <a:fillRect l="-339" t="-2899" r="-1609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0FB232F-65A0-BD86-F078-E4FA302A98F2}"/>
                  </a:ext>
                </a:extLst>
              </p:cNvPr>
              <p:cNvSpPr txBox="1"/>
              <p:nvPr/>
            </p:nvSpPr>
            <p:spPr>
              <a:xfrm>
                <a:off x="4405500" y="1193610"/>
                <a:ext cx="2396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Adaptive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endParaRPr lang="en-US" sz="20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0FB232F-65A0-BD86-F078-E4FA302A9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500" y="1193610"/>
                <a:ext cx="2396810" cy="400110"/>
              </a:xfrm>
              <a:prstGeom prst="rect">
                <a:avLst/>
              </a:prstGeom>
              <a:blipFill>
                <a:blip r:embed="rId4"/>
                <a:stretch>
                  <a:fillRect l="-2799"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E53953-8078-5D72-82E0-1C24ECCF3506}"/>
                  </a:ext>
                </a:extLst>
              </p:cNvPr>
              <p:cNvSpPr txBox="1"/>
              <p:nvPr/>
            </p:nvSpPr>
            <p:spPr>
              <a:xfrm>
                <a:off x="4811075" y="1665683"/>
                <a:ext cx="14671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E53953-8078-5D72-82E0-1C24ECCF3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075" y="1665683"/>
                <a:ext cx="1467133" cy="307777"/>
              </a:xfrm>
              <a:prstGeom prst="rect">
                <a:avLst/>
              </a:prstGeom>
              <a:blipFill>
                <a:blip r:embed="rId5"/>
                <a:stretch>
                  <a:fillRect l="-1660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724753E-5B87-0F19-11E0-801258F91255}"/>
                  </a:ext>
                </a:extLst>
              </p:cNvPr>
              <p:cNvSpPr txBox="1"/>
              <p:nvPr/>
            </p:nvSpPr>
            <p:spPr>
              <a:xfrm>
                <a:off x="1371601" y="2699747"/>
                <a:ext cx="8666988" cy="41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800" b="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0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𝚲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noProof="0" smtClean="0">
                                      <a:solidFill>
                                        <a:srgbClr val="1F497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b="1" i="1" noProof="0" smtClean="0">
                                          <a:solidFill>
                                            <a:srgbClr val="1F49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 noProof="0" smtClean="0">
                                          <a:solidFill>
                                            <a:srgbClr val="1F497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800" i="1" noProof="0" smtClean="0">
                                      <a:solidFill>
                                        <a:srgbClr val="1F497D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𝝋</m:t>
                                  </m:r>
                                </m:e>
                                <m:sub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1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800" i="1" noProof="0">
                                              <a:solidFill>
                                                <a:schemeClr val="bg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b="1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 noProof="0" smtClean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 noProof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 i="1" noProof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i="1" noProof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noProof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 noProof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  <m:r>
                        <a:rPr lang="en-US" sz="1800" b="0" i="1" noProof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800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1" noProof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acc>
                    </m:oMath>
                  </m:oMathPara>
                </a14:m>
                <a:endParaRPr lang="en-US" sz="1800" b="1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724753E-5B87-0F19-11E0-801258F91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2699747"/>
                <a:ext cx="8666988" cy="417678"/>
              </a:xfrm>
              <a:prstGeom prst="rect">
                <a:avLst/>
              </a:prstGeom>
              <a:blipFill>
                <a:blip r:embed="rId6"/>
                <a:stretch>
                  <a:fillRect l="-211" r="-344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17E6177-BDD5-53F3-DFC0-6D961C8E79F5}"/>
                  </a:ext>
                </a:extLst>
              </p:cNvPr>
              <p:cNvSpPr txBox="1"/>
              <p:nvPr/>
            </p:nvSpPr>
            <p:spPr>
              <a:xfrm>
                <a:off x="2740758" y="3387156"/>
                <a:ext cx="560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noProof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acc>
                    <m:r>
                      <a:rPr lang="en-US" sz="1800" b="1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, predictor behavior is identical to the plant 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17E6177-BDD5-53F3-DFC0-6D961C8E7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758" y="3387156"/>
                <a:ext cx="5601470" cy="369332"/>
              </a:xfrm>
              <a:prstGeom prst="rect">
                <a:avLst/>
              </a:prstGeom>
              <a:blipFill>
                <a:blip r:embed="rId7"/>
                <a:stretch>
                  <a:fillRect l="-980" t="-10000" r="-10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6A5C8FB1-622F-A929-24C5-F67F3B1595F9}"/>
              </a:ext>
            </a:extLst>
          </p:cNvPr>
          <p:cNvSpPr txBox="1"/>
          <p:nvPr/>
        </p:nvSpPr>
        <p:spPr>
          <a:xfrm>
            <a:off x="3661907" y="3875397"/>
            <a:ext cx="4086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Why no attitude augmentation?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04E5E3-02F5-E2E8-8A1E-F1E9FEC0B10E}"/>
              </a:ext>
            </a:extLst>
          </p:cNvPr>
          <p:cNvSpPr txBox="1"/>
          <p:nvPr/>
        </p:nvSpPr>
        <p:spPr>
          <a:xfrm>
            <a:off x="767255" y="4427688"/>
            <a:ext cx="11017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Expected modification of attitude parameters is not as high as the position ones. However, the </a:t>
            </a:r>
            <a:r>
              <a:rPr lang="en-US" sz="1800" b="1" noProof="0" dirty="0">
                <a:solidFill>
                  <a:schemeClr val="bg2"/>
                </a:solidFill>
              </a:rPr>
              <a:t>presence of expected bias</a:t>
            </a:r>
            <a:r>
              <a:rPr lang="en-US" sz="1800" noProof="0" dirty="0">
                <a:solidFill>
                  <a:schemeClr val="bg2"/>
                </a:solidFill>
              </a:rPr>
              <a:t> in the behavior , i.e. a displacement in XY plane of the CG position, makes </a:t>
            </a:r>
            <a:r>
              <a:rPr lang="en-US" sz="1800" b="1" noProof="0" dirty="0">
                <a:solidFill>
                  <a:schemeClr val="bg2"/>
                </a:solidFill>
              </a:rPr>
              <a:t>impossible for the baseline attitude controller to converge</a:t>
            </a:r>
            <a:r>
              <a:rPr lang="en-US" sz="1800" noProof="0" dirty="0">
                <a:solidFill>
                  <a:schemeClr val="bg2"/>
                </a:solidFill>
              </a:rPr>
              <a:t> to the desired orientation due to </a:t>
            </a:r>
            <a:r>
              <a:rPr lang="en-US" sz="1800" b="1" noProof="0" dirty="0">
                <a:solidFill>
                  <a:schemeClr val="bg2"/>
                </a:solidFill>
              </a:rPr>
              <a:t>lack of integral action</a:t>
            </a:r>
            <a:r>
              <a:rPr lang="en-US" sz="1800" noProof="0" dirty="0">
                <a:solidFill>
                  <a:schemeClr val="bg2"/>
                </a:solidFill>
              </a:rPr>
              <a:t>, so it would be needed to model the attitude uncertainties in the predictor.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73903F-41DE-B6C0-EAC1-7FF7E0334C66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09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50C904B-1667-B6FF-98E5-26502B99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2E3411A-D2CE-C90A-6B55-54EBE6E3C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95200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	Projector + e modification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7F4BE9D6-1D63-8561-BEE9-64218585DCC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402AB6-E913-ADC4-1DAA-D7AEAC59A0D2}"/>
              </a:ext>
            </a:extLst>
          </p:cNvPr>
          <p:cNvSpPr txBox="1"/>
          <p:nvPr/>
        </p:nvSpPr>
        <p:spPr>
          <a:xfrm>
            <a:off x="7254159" y="2322436"/>
            <a:ext cx="2680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>
                <a:solidFill>
                  <a:schemeClr val="bg2"/>
                </a:solidFill>
              </a:rPr>
              <a:t>e-modification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2E6D7D-5B3A-56AE-E4C5-7345FE890E4E}"/>
              </a:ext>
            </a:extLst>
          </p:cNvPr>
          <p:cNvSpPr txBox="1"/>
          <p:nvPr/>
        </p:nvSpPr>
        <p:spPr>
          <a:xfrm>
            <a:off x="1150612" y="3041233"/>
            <a:ext cx="4729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Operator in the adaptive laws </a:t>
            </a:r>
            <a:r>
              <a:rPr lang="en-US" sz="1800" b="1" dirty="0">
                <a:solidFill>
                  <a:schemeClr val="bg2"/>
                </a:solidFill>
              </a:rPr>
              <a:t>that avoids drift of the gains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b="1" dirty="0">
                <a:solidFill>
                  <a:schemeClr val="bg2"/>
                </a:solidFill>
              </a:rPr>
              <a:t>bounding them </a:t>
            </a:r>
            <a:r>
              <a:rPr lang="en-US" sz="1800" dirty="0">
                <a:solidFill>
                  <a:schemeClr val="bg2"/>
                </a:solidFill>
              </a:rPr>
              <a:t>in a predefined space and while keeping the Lie Derivative of Lyapunov function negative semidefinite.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DB1202-D341-D815-7083-E0F4F5DEF15D}"/>
              </a:ext>
            </a:extLst>
          </p:cNvPr>
          <p:cNvSpPr txBox="1"/>
          <p:nvPr/>
        </p:nvSpPr>
        <p:spPr>
          <a:xfrm>
            <a:off x="2526890" y="232243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>
                <a:solidFill>
                  <a:schemeClr val="bg2"/>
                </a:solidFill>
              </a:rPr>
              <a:t>Projector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1B6700-D14D-5B0B-75A6-2D7F0B1213E8}"/>
              </a:ext>
            </a:extLst>
          </p:cNvPr>
          <p:cNvSpPr txBox="1"/>
          <p:nvPr/>
        </p:nvSpPr>
        <p:spPr>
          <a:xfrm>
            <a:off x="6599222" y="3063475"/>
            <a:ext cx="472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Modification to the adaptive laws that provides damping</a:t>
            </a:r>
            <a:r>
              <a:rPr lang="en-US" sz="1800" b="1" dirty="0">
                <a:solidFill>
                  <a:schemeClr val="bg2"/>
                </a:solidFill>
              </a:rPr>
              <a:t>, slowing down </a:t>
            </a:r>
            <a:r>
              <a:rPr lang="en-US" sz="1800" dirty="0">
                <a:solidFill>
                  <a:schemeClr val="bg2"/>
                </a:solidFill>
              </a:rPr>
              <a:t>the</a:t>
            </a:r>
            <a:r>
              <a:rPr lang="en-US" sz="1800" b="1" dirty="0">
                <a:solidFill>
                  <a:schemeClr val="bg2"/>
                </a:solidFill>
              </a:rPr>
              <a:t> evolution</a:t>
            </a:r>
            <a:r>
              <a:rPr lang="en-US" sz="1800" dirty="0">
                <a:solidFill>
                  <a:schemeClr val="bg2"/>
                </a:solidFill>
              </a:rPr>
              <a:t> of the gains.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F8A4B8-E219-D850-ECF6-3A65DFAD11E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36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A6BE9D1-3056-E022-EC6C-D8923C66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ED396DE-72B3-C0D6-C6A4-E4190374D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</a:t>
            </a:r>
            <a:r>
              <a:rPr lang="en-US" dirty="0">
                <a:latin typeface="Arial Black" panose="020B0A04020102020204" pitchFamily="34" charset="0"/>
              </a:rPr>
              <a:t>Static desired position test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CFF5EFA-50EC-C225-F4C7-7939A9D7C3E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2C4EC5-5F5F-A9A5-E8ED-8BA05A85F2FB}"/>
              </a:ext>
            </a:extLst>
          </p:cNvPr>
          <p:cNvSpPr txBox="1"/>
          <p:nvPr/>
        </p:nvSpPr>
        <p:spPr>
          <a:xfrm>
            <a:off x="652576" y="2744037"/>
            <a:ext cx="27395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2"/>
                </a:solidFill>
              </a:rPr>
              <a:t>Mass uncertainty</a:t>
            </a:r>
            <a:endParaRPr lang="en-US" sz="2000" noProof="0" dirty="0">
              <a:solidFill>
                <a:schemeClr val="bg2"/>
              </a:solidFill>
            </a:endParaRPr>
          </a:p>
          <a:p>
            <a:r>
              <a:rPr lang="en-US" sz="1800" noProof="0" dirty="0">
                <a:solidFill>
                  <a:schemeClr val="bg2"/>
                </a:solidFill>
              </a:rPr>
              <a:t>Assuming maximum package weight (1 kg).</a:t>
            </a:r>
          </a:p>
          <a:p>
            <a:endParaRPr lang="en-US" sz="1800" noProof="0" dirty="0">
              <a:solidFill>
                <a:schemeClr val="bg2"/>
              </a:solidFill>
            </a:endParaRPr>
          </a:p>
          <a:p>
            <a:endParaRPr lang="en-US" sz="2000" b="1" noProof="0" dirty="0">
              <a:solidFill>
                <a:schemeClr val="bg2"/>
              </a:solidFill>
            </a:endParaRPr>
          </a:p>
          <a:p>
            <a:endParaRPr lang="en-US" sz="2000" noProof="0" dirty="0">
              <a:solidFill>
                <a:schemeClr val="bg2"/>
              </a:solidFill>
            </a:endParaRPr>
          </a:p>
          <a:p>
            <a:endParaRPr lang="en-US" sz="1800" noProof="0" dirty="0">
              <a:solidFill>
                <a:schemeClr val="bg2"/>
              </a:solidFill>
            </a:endParaRPr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600B09E9-4DAC-2253-796B-E112D7C1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606" y="1425498"/>
            <a:ext cx="8308258" cy="400700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6F68F55-A59E-26A3-543C-27B56D2B93E0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27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A6FA533-E8FE-FD24-5103-8EFAD67C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88BBB02-E8B6-164B-3B79-8CF7872B4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</a:t>
            </a:r>
            <a:r>
              <a:rPr lang="en-US" dirty="0">
                <a:latin typeface="Arial Black" panose="020B0A04020102020204" pitchFamily="34" charset="0"/>
              </a:rPr>
              <a:t>Trajectory Test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7E8A2D9-C7DE-64DA-9277-EF068856DA25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6DD78C-0181-024B-011C-3790148F0324}"/>
                  </a:ext>
                </a:extLst>
              </p:cNvPr>
              <p:cNvSpPr txBox="1"/>
              <p:nvPr/>
            </p:nvSpPr>
            <p:spPr>
              <a:xfrm>
                <a:off x="534160" y="1448782"/>
                <a:ext cx="414556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bg2"/>
                    </a:solidFill>
                  </a:rPr>
                  <a:t>Mass uncertainty + Propeller efficiency reduction</a:t>
                </a: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Mass uncertainty is matched in less than 3 seconds, with an initial descent of less than 20 centimeters (0.16 kg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Δm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). Small package enough to avoid saturation.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After a transient with an overshoot of 2 meters, the UAV converges in around 5 seconds and recovers trajectory tracking performance.</a:t>
                </a:r>
              </a:p>
              <a:p>
                <a:endParaRPr lang="en-US" sz="2000" b="1" noProof="0" dirty="0">
                  <a:solidFill>
                    <a:schemeClr val="bg2"/>
                  </a:solidFill>
                </a:endParaRPr>
              </a:p>
              <a:p>
                <a:endParaRPr lang="en-US" sz="2000" noProof="0" dirty="0">
                  <a:solidFill>
                    <a:schemeClr val="bg2"/>
                  </a:solidFill>
                </a:endParaRPr>
              </a:p>
              <a:p>
                <a:endParaRPr lang="en-US" sz="1800" noProof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6DD78C-0181-024B-011C-3790148F0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60" y="1448782"/>
                <a:ext cx="4145566" cy="4524315"/>
              </a:xfrm>
              <a:prstGeom prst="rect">
                <a:avLst/>
              </a:prstGeom>
              <a:blipFill>
                <a:blip r:embed="rId3"/>
                <a:stretch>
                  <a:fillRect l="-1618" t="-674" r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FECFD789-17E0-C68A-ED50-A4A189165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726" y="884903"/>
            <a:ext cx="7146360" cy="452431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B4C4F4D-C937-A419-1853-16E104653B9B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901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9C16ECC-D057-47EE-1FD2-EE79BA4C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DA61C199-F827-4029-A804-E82CA8C7B1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dirty="0">
                <a:latin typeface="Arial Black" panose="020B0A04020102020204" pitchFamily="34" charset="0"/>
                <a:sym typeface="Calibri"/>
              </a:rPr>
              <a:t>3.2. PBMRAC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</a:t>
            </a:r>
            <a:r>
              <a:rPr lang="en-US" dirty="0">
                <a:latin typeface="Arial Black" panose="020B0A04020102020204" pitchFamily="34" charset="0"/>
              </a:rPr>
              <a:t>Trajectory Test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630D9FDD-24B8-47F8-ACBC-5E01B7DA7615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E39D8A-EA0B-3000-1526-B5CE783040D9}"/>
              </a:ext>
            </a:extLst>
          </p:cNvPr>
          <p:cNvSpPr txBox="1"/>
          <p:nvPr/>
        </p:nvSpPr>
        <p:spPr>
          <a:xfrm>
            <a:off x="1691147" y="4575815"/>
            <a:ext cx="899333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2"/>
                </a:solidFill>
              </a:rPr>
              <a:t>Wind </a:t>
            </a:r>
            <a:r>
              <a:rPr lang="en-US" sz="2000" b="1" dirty="0">
                <a:solidFill>
                  <a:schemeClr val="bg2"/>
                </a:solidFill>
              </a:rPr>
              <a:t>of</a:t>
            </a:r>
            <a:r>
              <a:rPr lang="en-US" sz="2000" b="1" noProof="0" dirty="0">
                <a:solidFill>
                  <a:schemeClr val="bg2"/>
                </a:solidFill>
              </a:rPr>
              <a:t> -5 m/s Y at end of ascend</a:t>
            </a:r>
          </a:p>
          <a:p>
            <a:pPr algn="ctr"/>
            <a:endParaRPr lang="en-US" sz="2000" noProof="0" dirty="0">
              <a:solidFill>
                <a:schemeClr val="bg2"/>
              </a:solidFill>
            </a:endParaRPr>
          </a:p>
          <a:p>
            <a:pPr algn="ctr"/>
            <a:r>
              <a:rPr lang="en-US" sz="1800" noProof="0" dirty="0">
                <a:solidFill>
                  <a:schemeClr val="bg2"/>
                </a:solidFill>
              </a:rPr>
              <a:t>Mass uncertainty not considered. </a:t>
            </a:r>
          </a:p>
          <a:p>
            <a:pPr algn="ctr"/>
            <a:endParaRPr lang="en-US" sz="1800" noProof="0" dirty="0">
              <a:solidFill>
                <a:schemeClr val="bg2"/>
              </a:solidFill>
            </a:endParaRPr>
          </a:p>
          <a:p>
            <a:pPr algn="ctr"/>
            <a:r>
              <a:rPr lang="en-US" sz="1800" noProof="0" dirty="0">
                <a:solidFill>
                  <a:schemeClr val="bg2"/>
                </a:solidFill>
              </a:rPr>
              <a:t>A </a:t>
            </a:r>
            <a:r>
              <a:rPr lang="en-US" sz="1800" b="1" noProof="0" dirty="0">
                <a:solidFill>
                  <a:schemeClr val="bg2"/>
                </a:solidFill>
              </a:rPr>
              <a:t>smaller overshoot and good convergence </a:t>
            </a:r>
            <a:r>
              <a:rPr lang="en-US" sz="1800" noProof="0" dirty="0">
                <a:solidFill>
                  <a:schemeClr val="bg2"/>
                </a:solidFill>
              </a:rPr>
              <a:t>of the behavior just before the right turn</a:t>
            </a:r>
            <a:endParaRPr lang="en-US" sz="1800" b="1" noProof="0" dirty="0">
              <a:solidFill>
                <a:schemeClr val="bg2"/>
              </a:solidFill>
            </a:endParaRPr>
          </a:p>
          <a:p>
            <a:pPr algn="ctr"/>
            <a:endParaRPr lang="en-US" sz="2000" noProof="0" dirty="0">
              <a:solidFill>
                <a:schemeClr val="bg2"/>
              </a:solidFill>
            </a:endParaRPr>
          </a:p>
          <a:p>
            <a:endParaRPr lang="en-US" sz="1800" noProof="0" dirty="0">
              <a:solidFill>
                <a:schemeClr val="bg2"/>
              </a:solidFill>
            </a:endParaRP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AD8003AA-77B1-D400-752D-DA276C377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7" y="1034249"/>
            <a:ext cx="4128152" cy="3541566"/>
          </a:xfrm>
          <a:prstGeom prst="rect">
            <a:avLst/>
          </a:prstGeom>
        </p:spPr>
      </p:pic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C54C1759-94A7-2E9C-F403-7B1C2E32E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617" y="1015334"/>
            <a:ext cx="4128151" cy="36064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2C7D83B-7A2F-CEA8-5948-0FF4A2CC181E}"/>
              </a:ext>
            </a:extLst>
          </p:cNvPr>
          <p:cNvSpPr txBox="1"/>
          <p:nvPr/>
        </p:nvSpPr>
        <p:spPr>
          <a:xfrm>
            <a:off x="9838768" y="226142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Adaptive </a:t>
            </a:r>
            <a:r>
              <a:rPr lang="en-US" sz="1800" b="1" noProof="0" dirty="0">
                <a:solidFill>
                  <a:schemeClr val="bg2"/>
                </a:solidFill>
              </a:rPr>
              <a:t>OFF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E4209B-8382-46E7-A2F9-86803553E2AF}"/>
              </a:ext>
            </a:extLst>
          </p:cNvPr>
          <p:cNvSpPr txBox="1"/>
          <p:nvPr/>
        </p:nvSpPr>
        <p:spPr>
          <a:xfrm>
            <a:off x="198431" y="230777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Adaptive </a:t>
            </a:r>
            <a:r>
              <a:rPr lang="en-US" sz="1800" b="1" noProof="0" dirty="0">
                <a:solidFill>
                  <a:schemeClr val="bg2"/>
                </a:solidFill>
              </a:rPr>
              <a:t>ON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0F05B3-A1D2-0774-E84B-BB2CA1F1E055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869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D5A611D-1682-479F-81C0-EDB42A5B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BE76B7EE-6524-AE56-D153-AE6F1D9DDEDF}"/>
              </a:ext>
            </a:extLst>
          </p:cNvPr>
          <p:cNvSpPr txBox="1"/>
          <p:nvPr/>
        </p:nvSpPr>
        <p:spPr>
          <a:xfrm>
            <a:off x="272715" y="2326125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4. Test delivery scenario</a:t>
            </a:r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0F678C-E3BA-1A10-A72A-B01E75DEA3D8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F1FE14-FB22-ECA0-C040-90215A0EFAAC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7195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3DDAF0-4102-1BB8-53EC-F16A9165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sym typeface="Calibri"/>
              </a:rPr>
              <a:t>4. Test delivery scenario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Map &amp; Trajectory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A34D32A9-F0BF-BBAD-86B7-A5F926A97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90" r="32581"/>
          <a:stretch>
            <a:fillRect/>
          </a:stretch>
        </p:blipFill>
        <p:spPr>
          <a:xfrm>
            <a:off x="6469628" y="449002"/>
            <a:ext cx="3319389" cy="55919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9B008EE-47D6-082C-5E7F-171DAD2D5105}"/>
                  </a:ext>
                </a:extLst>
              </p:cNvPr>
              <p:cNvSpPr txBox="1"/>
              <p:nvPr/>
            </p:nvSpPr>
            <p:spPr>
              <a:xfrm>
                <a:off x="776749" y="1675302"/>
                <a:ext cx="5102942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Trajectory around buildings of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characteristic length 10 meters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. Start in 2.5 meters height, with ascension to 5 meters and package delivery in 7.5 meters. </a:t>
                </a:r>
              </a:p>
              <a:p>
                <a:r>
                  <a:rPr lang="en-US" sz="1800" b="1" noProof="0" dirty="0">
                    <a:solidFill>
                      <a:schemeClr val="bg2"/>
                    </a:solidFill>
                  </a:rPr>
                  <a:t>Total length 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60 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800" noProof="0" dirty="0">
                    <a:solidFill>
                      <a:schemeClr val="bg2"/>
                    </a:solidFill>
                  </a:rPr>
                  <a:t>, reference achieves it in 22 seconds (around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2.7 m/s mean velocity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).</a:t>
                </a:r>
              </a:p>
              <a:p>
                <a:r>
                  <a:rPr lang="en-US" sz="1800" noProof="0" dirty="0">
                    <a:solidFill>
                      <a:schemeClr val="bg2"/>
                    </a:solidFill>
                  </a:rPr>
                  <a:t>For the test, two considerations of </a:t>
                </a:r>
                <a:r>
                  <a:rPr lang="en-US" sz="1800" b="1" noProof="0" dirty="0">
                    <a:solidFill>
                      <a:schemeClr val="bg2"/>
                    </a:solidFill>
                  </a:rPr>
                  <a:t>unforeseen events</a:t>
                </a:r>
                <a:r>
                  <a:rPr lang="en-US" sz="1800" noProof="0" dirty="0">
                    <a:solidFill>
                      <a:schemeClr val="bg2"/>
                    </a:solidFill>
                  </a:rPr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Crosswind in –Y direction, intensified in the crossroads.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noProof="0" dirty="0">
                    <a:solidFill>
                      <a:schemeClr val="bg2"/>
                    </a:solidFill>
                  </a:rPr>
                  <a:t>Degradation of 10 % of all propellers’ forces.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9B008EE-47D6-082C-5E7F-171DAD2D5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9" y="1675302"/>
                <a:ext cx="5102942" cy="3139321"/>
              </a:xfrm>
              <a:prstGeom prst="rect">
                <a:avLst/>
              </a:prstGeom>
              <a:blipFill>
                <a:blip r:embed="rId3"/>
                <a:stretch>
                  <a:fillRect l="-955" t="-1165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FC9B2B8C-4698-8F65-4910-C3165393BD70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306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0EF6-9465-15EE-AAA0-71A0C698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4134E23-664D-699E-BCB5-21034A46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sym typeface="Calibri"/>
              </a:rPr>
              <a:t>4. Test delivery scenario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Base Trajectory tracking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2568D42-9751-CE41-AAEA-C9ACE9119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17" y="1153791"/>
            <a:ext cx="5034117" cy="377285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346444A-15AF-158E-A348-40554A1D2858}"/>
              </a:ext>
            </a:extLst>
          </p:cNvPr>
          <p:cNvSpPr txBox="1"/>
          <p:nvPr/>
        </p:nvSpPr>
        <p:spPr>
          <a:xfrm>
            <a:off x="707923" y="4985719"/>
            <a:ext cx="11248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noProof="0" dirty="0">
                <a:solidFill>
                  <a:schemeClr val="bg2"/>
                </a:solidFill>
              </a:rPr>
              <a:t>Mean distance of 1.4 meters </a:t>
            </a:r>
            <a:r>
              <a:rPr lang="en-US" sz="1800" noProof="0" dirty="0">
                <a:solidFill>
                  <a:schemeClr val="bg2"/>
                </a:solidFill>
              </a:rPr>
              <a:t>between reference and UAV, with peaks of 9 meters in the straight (RMSE of 4.5 m).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Fulfilment of the trajectory in 30 seconds (2 m/s mean velocity).</a:t>
            </a:r>
          </a:p>
          <a:p>
            <a:r>
              <a:rPr lang="en-US" sz="1800" noProof="0" dirty="0">
                <a:solidFill>
                  <a:schemeClr val="bg2"/>
                </a:solidFill>
              </a:rPr>
              <a:t>For 40 seconds (slower reference), RMSE is 3.6 meters, with peaks of 6 meters in the straight.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C24B2535-889B-EA3D-DC68-2B6DA5C80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567" y="1279241"/>
            <a:ext cx="4478594" cy="358833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BEF90DBF-7C0B-0889-8164-9B34A7A276E4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C372A12-8F54-23EC-C9DB-AF83B6721113}"/>
              </a:ext>
            </a:extLst>
          </p:cNvPr>
          <p:cNvSpPr txBox="1"/>
          <p:nvPr/>
        </p:nvSpPr>
        <p:spPr>
          <a:xfrm>
            <a:off x="298634" y="279797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30 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88CE01-BBF9-2CF7-C358-6E5BBA62CBDC}"/>
              </a:ext>
            </a:extLst>
          </p:cNvPr>
          <p:cNvSpPr txBox="1"/>
          <p:nvPr/>
        </p:nvSpPr>
        <p:spPr>
          <a:xfrm>
            <a:off x="10935928" y="2797976"/>
            <a:ext cx="67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40 s</a:t>
            </a:r>
          </a:p>
        </p:txBody>
      </p:sp>
    </p:spTree>
    <p:extLst>
      <p:ext uri="{BB962C8B-B14F-4D97-AF65-F5344CB8AC3E}">
        <p14:creationId xmlns:p14="http://schemas.microsoft.com/office/powerpoint/2010/main" val="12322645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39CF-4CDF-DE3C-B956-CE483539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35BA95-2C8A-89B0-E08E-C5010074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sym typeface="Calibri"/>
              </a:rPr>
              <a:t>4. Test delivery scenario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Trajectory tracking with wind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EA1217-4969-2417-EA01-D20AF3324601}"/>
              </a:ext>
            </a:extLst>
          </p:cNvPr>
          <p:cNvSpPr txBox="1"/>
          <p:nvPr/>
        </p:nvSpPr>
        <p:spPr>
          <a:xfrm>
            <a:off x="5771535" y="1100922"/>
            <a:ext cx="6302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*To avoid saturation, a windspeed of 5 m/s (1 Newton force) has been considered in crossroads and 1 m/s in the rest. 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F44DDC4-7706-1C8E-1A64-38F6C349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890" y="1966485"/>
            <a:ext cx="6617110" cy="319137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89434A1-E776-2AA2-449A-63C5D62A1D4D}"/>
              </a:ext>
            </a:extLst>
          </p:cNvPr>
          <p:cNvSpPr/>
          <p:nvPr/>
        </p:nvSpPr>
        <p:spPr>
          <a:xfrm>
            <a:off x="8308258" y="2242109"/>
            <a:ext cx="427703" cy="25813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2ED1C8-04DE-104D-2FA5-47CBFCE1F425}"/>
              </a:ext>
            </a:extLst>
          </p:cNvPr>
          <p:cNvSpPr/>
          <p:nvPr/>
        </p:nvSpPr>
        <p:spPr>
          <a:xfrm>
            <a:off x="6420466" y="2242109"/>
            <a:ext cx="1120876" cy="25813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4C0B17-193C-8B55-8381-08DDBE019891}"/>
              </a:ext>
            </a:extLst>
          </p:cNvPr>
          <p:cNvSpPr/>
          <p:nvPr/>
        </p:nvSpPr>
        <p:spPr>
          <a:xfrm>
            <a:off x="9289025" y="2242109"/>
            <a:ext cx="2224549" cy="25813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Imagen 12" descr="Gráfico&#10;&#10;El contenido generado por IA puede ser incorrecto.">
            <a:extLst>
              <a:ext uri="{FF2B5EF4-FFF2-40B4-BE49-F238E27FC236}">
                <a16:creationId xmlns:a16="http://schemas.microsoft.com/office/drawing/2014/main" id="{31DDF6B2-4F82-C2CB-3DFE-DC76CAFE4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0" y="1747253"/>
            <a:ext cx="5485385" cy="361656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401BDFD-A3F1-653D-05EB-86B5E8FB1EEC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17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1190-3AD0-BE2C-23A0-8DA09C42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1CB28B9-886D-1B6E-6493-A20768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latin typeface="Arial Black" panose="020B0A04020102020204" pitchFamily="34" charset="0"/>
                <a:sym typeface="Calibri"/>
              </a:rPr>
              <a:t>4. Test delivery scenario</a:t>
            </a:r>
            <a:br>
              <a:rPr lang="en-US" sz="2700" dirty="0">
                <a:latin typeface="Arial Black" panose="020B0A04020102020204" pitchFamily="34" charset="0"/>
              </a:rPr>
            </a:br>
            <a:r>
              <a:rPr lang="en-US" sz="2700" dirty="0">
                <a:latin typeface="Arial Black" panose="020B0A04020102020204" pitchFamily="34" charset="0"/>
              </a:rPr>
              <a:t>	</a:t>
            </a:r>
            <a:r>
              <a:rPr lang="en-US" dirty="0">
                <a:latin typeface="Arial Black" panose="020B0A04020102020204" pitchFamily="34" charset="0"/>
              </a:rPr>
              <a:t>Trajectory tracking with wind &amp; propeller effectiveness reduction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C78413-ADEF-B641-41A3-190680748CB5}"/>
              </a:ext>
            </a:extLst>
          </p:cNvPr>
          <p:cNvSpPr txBox="1"/>
          <p:nvPr/>
        </p:nvSpPr>
        <p:spPr>
          <a:xfrm>
            <a:off x="6469627" y="2329514"/>
            <a:ext cx="5232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chemeClr val="bg2"/>
                </a:solidFill>
              </a:rPr>
              <a:t>Reduction of all propellers’ effectiveness in t = 0.</a:t>
            </a:r>
          </a:p>
          <a:p>
            <a:endParaRPr lang="en-US" sz="1800" noProof="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Overshoot in lambda estimation leads to overshoot in height, but fast convergence leads to no lateral displacement that could cause a collision of the UAV with surroundings.</a:t>
            </a:r>
            <a:endParaRPr lang="en-US" sz="1800" noProof="0" dirty="0">
              <a:solidFill>
                <a:schemeClr val="bg2"/>
              </a:solidFill>
            </a:endParaRPr>
          </a:p>
        </p:txBody>
      </p: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4CE72432-09F9-ED8B-5C71-298FAA79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4" y="1278350"/>
            <a:ext cx="5979556" cy="448152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A34BD1C-0100-F355-EAAB-3ED630BBBB88}"/>
              </a:ext>
            </a:extLst>
          </p:cNvPr>
          <p:cNvSpPr/>
          <p:nvPr/>
        </p:nvSpPr>
        <p:spPr>
          <a:xfrm>
            <a:off x="4611329" y="6272981"/>
            <a:ext cx="7580671" cy="585019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310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2F7EF2F5-44CA-5AFA-B017-BD3CD91C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">
            <a:extLst>
              <a:ext uri="{FF2B5EF4-FFF2-40B4-BE49-F238E27FC236}">
                <a16:creationId xmlns:a16="http://schemas.microsoft.com/office/drawing/2014/main" id="{B769321E-ABC7-FD2D-F3A8-0ACC73865603}"/>
              </a:ext>
            </a:extLst>
          </p:cNvPr>
          <p:cNvSpPr txBox="1"/>
          <p:nvPr/>
        </p:nvSpPr>
        <p:spPr>
          <a:xfrm>
            <a:off x="272715" y="2286796"/>
            <a:ext cx="11646570" cy="6170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i="0" u="none" strike="noStrike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Thanks for your attention</a:t>
            </a:r>
            <a:endParaRPr lang="en-US" noProof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FE8A69-16B9-C586-2BB9-293AE1E1E658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186E5F-F4DB-23F8-5D68-9545A341223B}"/>
              </a:ext>
            </a:extLst>
          </p:cNvPr>
          <p:cNvSpPr/>
          <p:nvPr/>
        </p:nvSpPr>
        <p:spPr>
          <a:xfrm>
            <a:off x="5751871" y="5727291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1522534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4030CE45C36B4A83D9CDC536671415" ma:contentTypeVersion="17" ma:contentTypeDescription="Crear nuevo documento." ma:contentTypeScope="" ma:versionID="f60326b8b4c25fa41f58c61f6e0f6e64">
  <xsd:schema xmlns:xsd="http://www.w3.org/2001/XMLSchema" xmlns:xs="http://www.w3.org/2001/XMLSchema" xmlns:p="http://schemas.microsoft.com/office/2006/metadata/properties" xmlns:ns3="1278d7d4-dd0b-4055-b1a9-17fe5d740a4d" xmlns:ns4="5ee1f9d4-7756-44e8-a52d-17df586bfe7e" targetNamespace="http://schemas.microsoft.com/office/2006/metadata/properties" ma:root="true" ma:fieldsID="540dfc212b133c32cb979f5817de94c4" ns3:_="" ns4:_="">
    <xsd:import namespace="1278d7d4-dd0b-4055-b1a9-17fe5d740a4d"/>
    <xsd:import namespace="5ee1f9d4-7756-44e8-a52d-17df586bf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8d7d4-dd0b-4055-b1a9-17fe5d740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1f9d4-7756-44e8-a52d-17df586bf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78d7d4-dd0b-4055-b1a9-17fe5d740a4d" xsi:nil="true"/>
  </documentManagement>
</p:properties>
</file>

<file path=customXml/itemProps1.xml><?xml version="1.0" encoding="utf-8"?>
<ds:datastoreItem xmlns:ds="http://schemas.openxmlformats.org/officeDocument/2006/customXml" ds:itemID="{D374F291-9728-4788-A539-8BFDC5F28A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78d7d4-dd0b-4055-b1a9-17fe5d740a4d"/>
    <ds:schemaRef ds:uri="5ee1f9d4-7756-44e8-a52d-17df586bf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8E9DC8-A8C7-4E46-8642-F4F793EE9D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1EDDED-CDCD-4B2F-BCED-5C86DCD8D7A9}">
  <ds:schemaRefs>
    <ds:schemaRef ds:uri="http://schemas.microsoft.com/office/2006/documentManagement/types"/>
    <ds:schemaRef ds:uri="5ee1f9d4-7756-44e8-a52d-17df586bfe7e"/>
    <ds:schemaRef ds:uri="1278d7d4-dd0b-4055-b1a9-17fe5d740a4d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2752</TotalTime>
  <Words>3705</Words>
  <Application>Microsoft Office PowerPoint</Application>
  <PresentationFormat>Panorámica</PresentationFormat>
  <Paragraphs>620</Paragraphs>
  <Slides>50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7" baseType="lpstr">
      <vt:lpstr>Arial</vt:lpstr>
      <vt:lpstr>Cambria Math</vt:lpstr>
      <vt:lpstr>Calibri</vt:lpstr>
      <vt:lpstr>Aptos Narrow</vt:lpstr>
      <vt:lpstr>Arial Black</vt:lpstr>
      <vt:lpstr>Noto Sans Symbols</vt:lpstr>
      <vt:lpstr>POLI</vt:lpstr>
      <vt:lpstr>Presentación de PowerPoint</vt:lpstr>
      <vt:lpstr>Presentación de PowerPoint</vt:lpstr>
      <vt:lpstr>Presentación de PowerPoint</vt:lpstr>
      <vt:lpstr>1.1. Simulink Model     </vt:lpstr>
      <vt:lpstr>1.2. Model Trim  Static Position Trim    </vt:lpstr>
      <vt:lpstr>1.2. Model Trim  Constant x velocity    </vt:lpstr>
      <vt:lpstr>Presentación de PowerPoint</vt:lpstr>
      <vt:lpstr>2.1 Control architecture for position-heading tracking control    </vt:lpstr>
      <vt:lpstr>2.1 Control architecture for position-heading tracking control  Time scales separation    </vt:lpstr>
      <vt:lpstr>2.1. Control architecture for position-heading tracking control  Velocity and position control architecture chosen    </vt:lpstr>
      <vt:lpstr>2.1. Control architecture for position-heading tracking control  Velocity and position control architecture chosen    </vt:lpstr>
      <vt:lpstr>2.1. Control architecture for position-heading tracking control  Attitude Planner and Control    </vt:lpstr>
      <vt:lpstr>2.1. Control architecture for position-heading tracking control  Allocation    </vt:lpstr>
      <vt:lpstr>2.2. Control architecture for position-heading tracking control  Attitude Controller Tuning – Roll &amp; Pitch    </vt:lpstr>
      <vt:lpstr>2.2. Control architecture for position-heading tracking control  Attitude Controller Tuning - Yaw    </vt:lpstr>
      <vt:lpstr>2.2. Control architecture for position-heading tracking control  Roll &amp; Pitch attitude control behavior – simplified model    </vt:lpstr>
      <vt:lpstr>2.2. Control architecture for position-heading tracking control  Yaw attitude control behavior – simplified model    </vt:lpstr>
      <vt:lpstr>2.2. Control architecture for position-heading tracking control  Velocity Control – X &amp; Y    </vt:lpstr>
      <vt:lpstr>2.1. Control architecture for position-heading tracking control  Velocity Control step response - XY    </vt:lpstr>
      <vt:lpstr>2.2. Control architecture for position-heading tracking control   Velocity Control – Z    </vt:lpstr>
      <vt:lpstr>2.1. Control architecture for position-heading tracking control  Velocity Control step response - z    </vt:lpstr>
      <vt:lpstr>2.2. Control architecture for position-heading tracking control  Position Control    </vt:lpstr>
      <vt:lpstr>2.1. Control architecture for position-heading tracking control  Position Control step response - XY    </vt:lpstr>
      <vt:lpstr>2.1. Control architecture for position-heading tracking control  Position Control step response - Z    </vt:lpstr>
      <vt:lpstr>2.3. Control architecture for position-heading tracking control  Full model test    </vt:lpstr>
      <vt:lpstr>2.1. Control architecture for position-heading tracking control   Step response full model - XY    </vt:lpstr>
      <vt:lpstr>2.1. Control architecture for position-heading tracking control  Step response full model - Z    </vt:lpstr>
      <vt:lpstr>2.3. Control architecture for position-heading tracking control  Full model test – 8 Shape</vt:lpstr>
      <vt:lpstr>2.3. Control architecture for position-heading tracking control  Full model test – 8 Shape</vt:lpstr>
      <vt:lpstr>2.3. Control architecture for position-heading tracking control  Full model test – trajectory</vt:lpstr>
      <vt:lpstr>2.3. Control architecture for position-heading tracking control  Full model test – trajectory</vt:lpstr>
      <vt:lpstr>2.3. Control architecture for position-heading tracking control  Full model test – trajectory</vt:lpstr>
      <vt:lpstr>Presentación de PowerPoint</vt:lpstr>
      <vt:lpstr>3.1. Adaptive Augmentation  Package definition    </vt:lpstr>
      <vt:lpstr>3.1. Adaptive Augmentation  Package definition – Z position control update    </vt:lpstr>
      <vt:lpstr>3.1. Adaptive Augmentation  Package definition - Tracking    </vt:lpstr>
      <vt:lpstr>3.2. PBMRAC  Reason and Objectives    </vt:lpstr>
      <vt:lpstr>3.2. PBMRAC  Equations    </vt:lpstr>
      <vt:lpstr>3.2. PBMRAC  Equations    </vt:lpstr>
      <vt:lpstr>3.2. PBMRAC  Equations    </vt:lpstr>
      <vt:lpstr>3.2. PBMRAC  Projector + e modification    </vt:lpstr>
      <vt:lpstr>3.2. PBMRAC  Static desired position test    </vt:lpstr>
      <vt:lpstr>3.2. PBMRAC  Trajectory Test    </vt:lpstr>
      <vt:lpstr>3.2. PBMRAC  Trajectory Test    </vt:lpstr>
      <vt:lpstr>Presentación de PowerPoint</vt:lpstr>
      <vt:lpstr>4. Test delivery scenario  Map &amp; Trajectory </vt:lpstr>
      <vt:lpstr>4. Test delivery scenario  Base Trajectory tracking </vt:lpstr>
      <vt:lpstr>4. Test delivery scenario  Trajectory tracking with wind </vt:lpstr>
      <vt:lpstr>4. Test delivery scenario  Trajectory tracking with wind &amp; propeller effectiveness reduction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Alessandro Colleoni</dc:creator>
  <cp:lastModifiedBy>FRANCISCO JAVIER MARTIN LOPEZ</cp:lastModifiedBy>
  <cp:revision>18</cp:revision>
  <dcterms:created xsi:type="dcterms:W3CDTF">2015-05-26T12:27:57Z</dcterms:created>
  <dcterms:modified xsi:type="dcterms:W3CDTF">2026-02-25T11:54:09Z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0x0101005E4030CE45C36B4A83D9CDC536671415</vt:lpwstr>
  </property>
</Properties>
</file>