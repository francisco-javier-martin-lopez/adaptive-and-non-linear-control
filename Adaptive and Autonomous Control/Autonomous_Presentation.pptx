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355" r:id="rId6"/>
    <p:sldId id="356" r:id="rId7"/>
    <p:sldId id="365" r:id="rId8"/>
    <p:sldId id="357" r:id="rId9"/>
    <p:sldId id="366" r:id="rId10"/>
    <p:sldId id="258" r:id="rId11"/>
    <p:sldId id="358" r:id="rId12"/>
    <p:sldId id="359" r:id="rId13"/>
    <p:sldId id="360" r:id="rId14"/>
    <p:sldId id="361" r:id="rId15"/>
    <p:sldId id="368" r:id="rId16"/>
    <p:sldId id="362" r:id="rId17"/>
    <p:sldId id="364" r:id="rId18"/>
    <p:sldId id="367" r:id="rId19"/>
    <p:sldId id="284" r:id="rId20"/>
  </p:sldIdLst>
  <p:sldSz cx="12192000" cy="6858000"/>
  <p:notesSz cx="6858000" cy="9144000"/>
  <p:embeddedFontLst>
    <p:embeddedFont>
      <p:font typeface="Arial Black" panose="020B0A04020102020204" pitchFamily="34" charset="0"/>
      <p:regular r:id="rId22"/>
      <p:bold r:id="rId23"/>
    </p:embeddedFont>
    <p:embeddedFont>
      <p:font typeface="Cambria Math" panose="02040503050406030204" pitchFamily="18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4" roundtripDataSignature="AMtx7mhQ1xXRAqFcrv9UOBD5WSIIojR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6D11E4-C3FA-4688-95FB-FC74C53831E7}">
  <a:tblStyle styleId="{646D11E4-C3FA-4688-95FB-FC74C53831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74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7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517537-6582-4D49-A138-75ABD0D69CEF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E77A91-B6AF-4468-8012-E8149F5E97AD}">
      <dgm:prSet phldrT="[Texto]" phldr="0"/>
      <dgm:spPr/>
      <dgm:t>
        <a:bodyPr/>
        <a:lstStyle/>
        <a:p>
          <a:r>
            <a:rPr lang="en-US" b="1" noProof="0" dirty="0"/>
            <a:t>Cognition</a:t>
          </a:r>
        </a:p>
      </dgm:t>
    </dgm:pt>
    <dgm:pt modelId="{1E724BD3-DB67-45D5-87BF-46DFE1F2A04C}" type="parTrans" cxnId="{4563FDB3-73DA-4FC7-90E7-58F61ADCC0F6}">
      <dgm:prSet/>
      <dgm:spPr/>
      <dgm:t>
        <a:bodyPr/>
        <a:lstStyle/>
        <a:p>
          <a:endParaRPr lang="en-US"/>
        </a:p>
      </dgm:t>
    </dgm:pt>
    <dgm:pt modelId="{41E6D23F-4DD7-49B7-83D3-E1211DB492A7}" type="sibTrans" cxnId="{4563FDB3-73DA-4FC7-90E7-58F61ADCC0F6}">
      <dgm:prSet/>
      <dgm:spPr/>
      <dgm:t>
        <a:bodyPr/>
        <a:lstStyle/>
        <a:p>
          <a:endParaRPr lang="en-US"/>
        </a:p>
      </dgm:t>
    </dgm:pt>
    <dgm:pt modelId="{F411230A-3691-4800-A617-AD5E500B065A}">
      <dgm:prSet phldrT="[Texto]" phldr="0"/>
      <dgm:spPr/>
      <dgm:t>
        <a:bodyPr/>
        <a:lstStyle/>
        <a:p>
          <a:r>
            <a:rPr lang="en-US" b="1" noProof="0" dirty="0"/>
            <a:t>Action</a:t>
          </a:r>
        </a:p>
      </dgm:t>
    </dgm:pt>
    <dgm:pt modelId="{69B81984-A171-4217-9F52-4A677BDC6198}" type="parTrans" cxnId="{2D2AD84A-AAF3-417D-B3B0-52BB378DD9D8}">
      <dgm:prSet/>
      <dgm:spPr/>
      <dgm:t>
        <a:bodyPr/>
        <a:lstStyle/>
        <a:p>
          <a:endParaRPr lang="en-US"/>
        </a:p>
      </dgm:t>
    </dgm:pt>
    <dgm:pt modelId="{A153011D-88FA-42C4-9CF9-050540A4B3EC}" type="sibTrans" cxnId="{2D2AD84A-AAF3-417D-B3B0-52BB378DD9D8}">
      <dgm:prSet/>
      <dgm:spPr/>
      <dgm:t>
        <a:bodyPr/>
        <a:lstStyle/>
        <a:p>
          <a:endParaRPr lang="en-US"/>
        </a:p>
      </dgm:t>
    </dgm:pt>
    <dgm:pt modelId="{3288672D-9187-43DB-B73F-3127E5AAF0DC}">
      <dgm:prSet phldrT="[Texto]" phldr="0" custT="1"/>
      <dgm:spPr/>
      <dgm:t>
        <a:bodyPr/>
        <a:lstStyle/>
        <a:p>
          <a:r>
            <a:rPr lang="en-US" sz="1400" b="1" noProof="0" dirty="0"/>
            <a:t>Perception</a:t>
          </a:r>
        </a:p>
      </dgm:t>
    </dgm:pt>
    <dgm:pt modelId="{0829AD37-DBA2-46DA-9C56-BF0BC9F3322F}" type="parTrans" cxnId="{8ED12AA1-F169-4042-80DC-6C952B366C9E}">
      <dgm:prSet/>
      <dgm:spPr/>
      <dgm:t>
        <a:bodyPr/>
        <a:lstStyle/>
        <a:p>
          <a:endParaRPr lang="en-US"/>
        </a:p>
      </dgm:t>
    </dgm:pt>
    <dgm:pt modelId="{2D7B9DB7-91A6-438B-A631-838D908BABF4}" type="sibTrans" cxnId="{8ED12AA1-F169-4042-80DC-6C952B366C9E}">
      <dgm:prSet/>
      <dgm:spPr/>
      <dgm:t>
        <a:bodyPr/>
        <a:lstStyle/>
        <a:p>
          <a:endParaRPr lang="en-US"/>
        </a:p>
      </dgm:t>
    </dgm:pt>
    <dgm:pt modelId="{7C98F8D6-6F12-48F2-AF55-8F19709ED305}" type="pres">
      <dgm:prSet presAssocID="{97517537-6582-4D49-A138-75ABD0D69CEF}" presName="compositeShape" presStyleCnt="0">
        <dgm:presLayoutVars>
          <dgm:chMax val="7"/>
          <dgm:dir/>
          <dgm:resizeHandles val="exact"/>
        </dgm:presLayoutVars>
      </dgm:prSet>
      <dgm:spPr/>
    </dgm:pt>
    <dgm:pt modelId="{11F1F10F-B003-48EB-8C8F-A29C145F0687}" type="pres">
      <dgm:prSet presAssocID="{97517537-6582-4D49-A138-75ABD0D69CEF}" presName="wedge1" presStyleLbl="node1" presStyleIdx="0" presStyleCnt="3"/>
      <dgm:spPr/>
    </dgm:pt>
    <dgm:pt modelId="{4B87D4B0-FAD2-4825-91AF-C55507463938}" type="pres">
      <dgm:prSet presAssocID="{97517537-6582-4D49-A138-75ABD0D69CEF}" presName="dummy1a" presStyleCnt="0"/>
      <dgm:spPr/>
    </dgm:pt>
    <dgm:pt modelId="{D5513A0E-0239-4D43-8059-E26885B37FAC}" type="pres">
      <dgm:prSet presAssocID="{97517537-6582-4D49-A138-75ABD0D69CEF}" presName="dummy1b" presStyleCnt="0"/>
      <dgm:spPr/>
    </dgm:pt>
    <dgm:pt modelId="{C12C99CE-0E3E-445C-A466-DCE169E2D3F6}" type="pres">
      <dgm:prSet presAssocID="{97517537-6582-4D49-A138-75ABD0D69CEF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EE0B6FA-E123-475C-AE8D-2258A9BF0E9C}" type="pres">
      <dgm:prSet presAssocID="{97517537-6582-4D49-A138-75ABD0D69CEF}" presName="wedge2" presStyleLbl="node1" presStyleIdx="1" presStyleCnt="3"/>
      <dgm:spPr/>
    </dgm:pt>
    <dgm:pt modelId="{2971CAD5-B803-4C20-98B0-24D946A577D1}" type="pres">
      <dgm:prSet presAssocID="{97517537-6582-4D49-A138-75ABD0D69CEF}" presName="dummy2a" presStyleCnt="0"/>
      <dgm:spPr/>
    </dgm:pt>
    <dgm:pt modelId="{42074FBE-570C-487B-B623-DD21092AEF37}" type="pres">
      <dgm:prSet presAssocID="{97517537-6582-4D49-A138-75ABD0D69CEF}" presName="dummy2b" presStyleCnt="0"/>
      <dgm:spPr/>
    </dgm:pt>
    <dgm:pt modelId="{351C2493-D7F6-416B-8F59-63B4084DA1E1}" type="pres">
      <dgm:prSet presAssocID="{97517537-6582-4D49-A138-75ABD0D69CEF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81A9CBB-878D-4B82-8A84-9E2412194604}" type="pres">
      <dgm:prSet presAssocID="{97517537-6582-4D49-A138-75ABD0D69CEF}" presName="wedge3" presStyleLbl="node1" presStyleIdx="2" presStyleCnt="3"/>
      <dgm:spPr/>
    </dgm:pt>
    <dgm:pt modelId="{5C3BB63A-91C6-4080-AE9A-397B444B1205}" type="pres">
      <dgm:prSet presAssocID="{97517537-6582-4D49-A138-75ABD0D69CEF}" presName="dummy3a" presStyleCnt="0"/>
      <dgm:spPr/>
    </dgm:pt>
    <dgm:pt modelId="{4E066ED2-2D4E-44A2-928C-118A81AEF84A}" type="pres">
      <dgm:prSet presAssocID="{97517537-6582-4D49-A138-75ABD0D69CEF}" presName="dummy3b" presStyleCnt="0"/>
      <dgm:spPr/>
    </dgm:pt>
    <dgm:pt modelId="{264BE663-72DE-4197-ACDD-58D64D052623}" type="pres">
      <dgm:prSet presAssocID="{97517537-6582-4D49-A138-75ABD0D69CEF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7A43CEAC-D266-493E-B585-1FD77A061A84}" type="pres">
      <dgm:prSet presAssocID="{41E6D23F-4DD7-49B7-83D3-E1211DB492A7}" presName="arrowWedge1" presStyleLbl="fgSibTrans2D1" presStyleIdx="0" presStyleCnt="3"/>
      <dgm:spPr/>
    </dgm:pt>
    <dgm:pt modelId="{E9F43259-E87B-4041-AEBB-8D06C1CF0173}" type="pres">
      <dgm:prSet presAssocID="{A153011D-88FA-42C4-9CF9-050540A4B3EC}" presName="arrowWedge2" presStyleLbl="fgSibTrans2D1" presStyleIdx="1" presStyleCnt="3"/>
      <dgm:spPr/>
    </dgm:pt>
    <dgm:pt modelId="{59B97258-3304-4F8C-8BE0-6D0E06E8CE7A}" type="pres">
      <dgm:prSet presAssocID="{2D7B9DB7-91A6-438B-A631-838D908BABF4}" presName="arrowWedge3" presStyleLbl="fgSibTrans2D1" presStyleIdx="2" presStyleCnt="3"/>
      <dgm:spPr/>
    </dgm:pt>
  </dgm:ptLst>
  <dgm:cxnLst>
    <dgm:cxn modelId="{4F21D02D-8F51-41D7-A00F-D98D6E7BEC66}" type="presOf" srcId="{34E77A91-B6AF-4468-8012-E8149F5E97AD}" destId="{C12C99CE-0E3E-445C-A466-DCE169E2D3F6}" srcOrd="1" destOrd="0" presId="urn:microsoft.com/office/officeart/2005/8/layout/cycle8"/>
    <dgm:cxn modelId="{A6A33A32-833F-4E5D-B284-3B5847A3F77E}" type="presOf" srcId="{97517537-6582-4D49-A138-75ABD0D69CEF}" destId="{7C98F8D6-6F12-48F2-AF55-8F19709ED305}" srcOrd="0" destOrd="0" presId="urn:microsoft.com/office/officeart/2005/8/layout/cycle8"/>
    <dgm:cxn modelId="{74CA4D62-C2DC-47BC-8E5A-E8C871FC1B25}" type="presOf" srcId="{F411230A-3691-4800-A617-AD5E500B065A}" destId="{CEE0B6FA-E123-475C-AE8D-2258A9BF0E9C}" srcOrd="0" destOrd="0" presId="urn:microsoft.com/office/officeart/2005/8/layout/cycle8"/>
    <dgm:cxn modelId="{2D2AD84A-AAF3-417D-B3B0-52BB378DD9D8}" srcId="{97517537-6582-4D49-A138-75ABD0D69CEF}" destId="{F411230A-3691-4800-A617-AD5E500B065A}" srcOrd="1" destOrd="0" parTransId="{69B81984-A171-4217-9F52-4A677BDC6198}" sibTransId="{A153011D-88FA-42C4-9CF9-050540A4B3EC}"/>
    <dgm:cxn modelId="{D86C569C-54E2-4AE6-B80C-34DBB3213972}" type="presOf" srcId="{3288672D-9187-43DB-B73F-3127E5AAF0DC}" destId="{B81A9CBB-878D-4B82-8A84-9E2412194604}" srcOrd="0" destOrd="0" presId="urn:microsoft.com/office/officeart/2005/8/layout/cycle8"/>
    <dgm:cxn modelId="{8ED12AA1-F169-4042-80DC-6C952B366C9E}" srcId="{97517537-6582-4D49-A138-75ABD0D69CEF}" destId="{3288672D-9187-43DB-B73F-3127E5AAF0DC}" srcOrd="2" destOrd="0" parTransId="{0829AD37-DBA2-46DA-9C56-BF0BC9F3322F}" sibTransId="{2D7B9DB7-91A6-438B-A631-838D908BABF4}"/>
    <dgm:cxn modelId="{4563FDB3-73DA-4FC7-90E7-58F61ADCC0F6}" srcId="{97517537-6582-4D49-A138-75ABD0D69CEF}" destId="{34E77A91-B6AF-4468-8012-E8149F5E97AD}" srcOrd="0" destOrd="0" parTransId="{1E724BD3-DB67-45D5-87BF-46DFE1F2A04C}" sibTransId="{41E6D23F-4DD7-49B7-83D3-E1211DB492A7}"/>
    <dgm:cxn modelId="{976D12D2-699A-4F88-A975-9973EBF58089}" type="presOf" srcId="{34E77A91-B6AF-4468-8012-E8149F5E97AD}" destId="{11F1F10F-B003-48EB-8C8F-A29C145F0687}" srcOrd="0" destOrd="0" presId="urn:microsoft.com/office/officeart/2005/8/layout/cycle8"/>
    <dgm:cxn modelId="{226E1CD8-3396-4D67-B7E0-A239B02BBD89}" type="presOf" srcId="{F411230A-3691-4800-A617-AD5E500B065A}" destId="{351C2493-D7F6-416B-8F59-63B4084DA1E1}" srcOrd="1" destOrd="0" presId="urn:microsoft.com/office/officeart/2005/8/layout/cycle8"/>
    <dgm:cxn modelId="{469B5DEF-3317-4432-B267-EF4E350913E9}" type="presOf" srcId="{3288672D-9187-43DB-B73F-3127E5AAF0DC}" destId="{264BE663-72DE-4197-ACDD-58D64D052623}" srcOrd="1" destOrd="0" presId="urn:microsoft.com/office/officeart/2005/8/layout/cycle8"/>
    <dgm:cxn modelId="{6D2DE8CF-D40B-4D7A-AC36-EF9D0AEEE50D}" type="presParOf" srcId="{7C98F8D6-6F12-48F2-AF55-8F19709ED305}" destId="{11F1F10F-B003-48EB-8C8F-A29C145F0687}" srcOrd="0" destOrd="0" presId="urn:microsoft.com/office/officeart/2005/8/layout/cycle8"/>
    <dgm:cxn modelId="{2FCE382D-080A-4095-B6AD-79EDBF1D6DFB}" type="presParOf" srcId="{7C98F8D6-6F12-48F2-AF55-8F19709ED305}" destId="{4B87D4B0-FAD2-4825-91AF-C55507463938}" srcOrd="1" destOrd="0" presId="urn:microsoft.com/office/officeart/2005/8/layout/cycle8"/>
    <dgm:cxn modelId="{E9BB3805-810B-496C-8280-8D379C49BE03}" type="presParOf" srcId="{7C98F8D6-6F12-48F2-AF55-8F19709ED305}" destId="{D5513A0E-0239-4D43-8059-E26885B37FAC}" srcOrd="2" destOrd="0" presId="urn:microsoft.com/office/officeart/2005/8/layout/cycle8"/>
    <dgm:cxn modelId="{44E90BFD-92AF-478F-82D0-A4EC8A8D8A4A}" type="presParOf" srcId="{7C98F8D6-6F12-48F2-AF55-8F19709ED305}" destId="{C12C99CE-0E3E-445C-A466-DCE169E2D3F6}" srcOrd="3" destOrd="0" presId="urn:microsoft.com/office/officeart/2005/8/layout/cycle8"/>
    <dgm:cxn modelId="{7486397B-C860-40FB-BA9A-5A590CC6DF68}" type="presParOf" srcId="{7C98F8D6-6F12-48F2-AF55-8F19709ED305}" destId="{CEE0B6FA-E123-475C-AE8D-2258A9BF0E9C}" srcOrd="4" destOrd="0" presId="urn:microsoft.com/office/officeart/2005/8/layout/cycle8"/>
    <dgm:cxn modelId="{DC062BC6-02FF-4335-9E8F-78223E240B9E}" type="presParOf" srcId="{7C98F8D6-6F12-48F2-AF55-8F19709ED305}" destId="{2971CAD5-B803-4C20-98B0-24D946A577D1}" srcOrd="5" destOrd="0" presId="urn:microsoft.com/office/officeart/2005/8/layout/cycle8"/>
    <dgm:cxn modelId="{22269394-DFC0-4A95-BEC1-C13DA65BF052}" type="presParOf" srcId="{7C98F8D6-6F12-48F2-AF55-8F19709ED305}" destId="{42074FBE-570C-487B-B623-DD21092AEF37}" srcOrd="6" destOrd="0" presId="urn:microsoft.com/office/officeart/2005/8/layout/cycle8"/>
    <dgm:cxn modelId="{609478EC-3FC3-4C1B-BD7C-38B476CEC4C7}" type="presParOf" srcId="{7C98F8D6-6F12-48F2-AF55-8F19709ED305}" destId="{351C2493-D7F6-416B-8F59-63B4084DA1E1}" srcOrd="7" destOrd="0" presId="urn:microsoft.com/office/officeart/2005/8/layout/cycle8"/>
    <dgm:cxn modelId="{7031F066-74C7-4D7F-8822-EFCD3664D9AD}" type="presParOf" srcId="{7C98F8D6-6F12-48F2-AF55-8F19709ED305}" destId="{B81A9CBB-878D-4B82-8A84-9E2412194604}" srcOrd="8" destOrd="0" presId="urn:microsoft.com/office/officeart/2005/8/layout/cycle8"/>
    <dgm:cxn modelId="{35F46F4A-4D3A-491E-8EF1-2FDA7384405D}" type="presParOf" srcId="{7C98F8D6-6F12-48F2-AF55-8F19709ED305}" destId="{5C3BB63A-91C6-4080-AE9A-397B444B1205}" srcOrd="9" destOrd="0" presId="urn:microsoft.com/office/officeart/2005/8/layout/cycle8"/>
    <dgm:cxn modelId="{A1A3A58A-6D17-4AC4-8824-E2D027468715}" type="presParOf" srcId="{7C98F8D6-6F12-48F2-AF55-8F19709ED305}" destId="{4E066ED2-2D4E-44A2-928C-118A81AEF84A}" srcOrd="10" destOrd="0" presId="urn:microsoft.com/office/officeart/2005/8/layout/cycle8"/>
    <dgm:cxn modelId="{C380214D-FA9E-44EB-ABAA-522ABBCEC9DA}" type="presParOf" srcId="{7C98F8D6-6F12-48F2-AF55-8F19709ED305}" destId="{264BE663-72DE-4197-ACDD-58D64D052623}" srcOrd="11" destOrd="0" presId="urn:microsoft.com/office/officeart/2005/8/layout/cycle8"/>
    <dgm:cxn modelId="{16B32FAE-0858-4008-AE8A-22CC4E935BAE}" type="presParOf" srcId="{7C98F8D6-6F12-48F2-AF55-8F19709ED305}" destId="{7A43CEAC-D266-493E-B585-1FD77A061A84}" srcOrd="12" destOrd="0" presId="urn:microsoft.com/office/officeart/2005/8/layout/cycle8"/>
    <dgm:cxn modelId="{90508A0C-A8F5-44FF-AADD-7097DB1E01EE}" type="presParOf" srcId="{7C98F8D6-6F12-48F2-AF55-8F19709ED305}" destId="{E9F43259-E87B-4041-AEBB-8D06C1CF0173}" srcOrd="13" destOrd="0" presId="urn:microsoft.com/office/officeart/2005/8/layout/cycle8"/>
    <dgm:cxn modelId="{CA93D593-6173-4336-81BE-2634228EE266}" type="presParOf" srcId="{7C98F8D6-6F12-48F2-AF55-8F19709ED305}" destId="{59B97258-3304-4F8C-8BE0-6D0E06E8CE7A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192625-A819-4D4D-8B85-0AE7B7FBE19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33EA68-6EE6-4B4D-A029-AB894D3BF463}">
      <dgm:prSet phldrT="[Texto]" phldr="0"/>
      <dgm:spPr/>
      <dgm:t>
        <a:bodyPr/>
        <a:lstStyle/>
        <a:p>
          <a:r>
            <a:rPr lang="en-US" b="1" noProof="0" dirty="0"/>
            <a:t>Initialize node</a:t>
          </a:r>
        </a:p>
        <a:p>
          <a:r>
            <a:rPr lang="en-US" noProof="0" dirty="0"/>
            <a:t>Set starting node value to 0</a:t>
          </a:r>
        </a:p>
      </dgm:t>
    </dgm:pt>
    <dgm:pt modelId="{BE6FCF7D-998C-4D9A-91FA-BC05CE368DAB}" type="parTrans" cxnId="{EC25AB8E-825D-4214-9D07-A57A20EE659C}">
      <dgm:prSet/>
      <dgm:spPr/>
      <dgm:t>
        <a:bodyPr/>
        <a:lstStyle/>
        <a:p>
          <a:endParaRPr lang="en-US"/>
        </a:p>
      </dgm:t>
    </dgm:pt>
    <dgm:pt modelId="{CD24156A-2F6D-4CAD-BD5B-2827457831E4}" type="sibTrans" cxnId="{EC25AB8E-825D-4214-9D07-A57A20EE659C}">
      <dgm:prSet/>
      <dgm:spPr/>
      <dgm:t>
        <a:bodyPr/>
        <a:lstStyle/>
        <a:p>
          <a:endParaRPr lang="en-US" noProof="0" dirty="0"/>
        </a:p>
      </dgm:t>
    </dgm:pt>
    <dgm:pt modelId="{4CA65FB2-61A6-4C26-B5BA-9769DFFBC6F2}">
      <dgm:prSet phldrT="[Texto]" phldr="0"/>
      <dgm:spPr/>
      <dgm:t>
        <a:bodyPr/>
        <a:lstStyle/>
        <a:p>
          <a:r>
            <a:rPr lang="en-US" b="1" noProof="0" dirty="0"/>
            <a:t>Explore unvisited nodes</a:t>
          </a:r>
        </a:p>
        <a:p>
          <a:r>
            <a:rPr lang="en-US" noProof="0" dirty="0"/>
            <a:t>Calculation of new cost (initial node cost + edge distance)</a:t>
          </a:r>
        </a:p>
      </dgm:t>
    </dgm:pt>
    <dgm:pt modelId="{EF2EBFB8-5016-4C84-9D15-17C17277574E}" type="parTrans" cxnId="{29D00258-CB65-4139-B8DE-5AAE6A62F447}">
      <dgm:prSet/>
      <dgm:spPr/>
      <dgm:t>
        <a:bodyPr/>
        <a:lstStyle/>
        <a:p>
          <a:endParaRPr lang="en-US"/>
        </a:p>
      </dgm:t>
    </dgm:pt>
    <dgm:pt modelId="{E388BF38-1BB0-4A20-8D67-18AA00ECDD1A}" type="sibTrans" cxnId="{29D00258-CB65-4139-B8DE-5AAE6A62F447}">
      <dgm:prSet/>
      <dgm:spPr/>
      <dgm:t>
        <a:bodyPr/>
        <a:lstStyle/>
        <a:p>
          <a:endParaRPr lang="en-US" noProof="0" dirty="0"/>
        </a:p>
      </dgm:t>
    </dgm:pt>
    <dgm:pt modelId="{0CA91BFA-E81F-4439-9B64-85DB6515BCDD}">
      <dgm:prSet phldrT="[Texto]" phldr="0"/>
      <dgm:spPr/>
      <dgm:t>
        <a:bodyPr/>
        <a:lstStyle/>
        <a:p>
          <a:r>
            <a:rPr lang="en-US" b="1" noProof="0" dirty="0"/>
            <a:t>Update</a:t>
          </a:r>
        </a:p>
        <a:p>
          <a:r>
            <a:rPr lang="en-US" noProof="0" dirty="0"/>
            <a:t>Check if this new cost is cheaper than the previous </a:t>
          </a:r>
        </a:p>
      </dgm:t>
    </dgm:pt>
    <dgm:pt modelId="{5D0813B2-1116-4F4E-8100-A188B432618C}" type="parTrans" cxnId="{68D3A58F-5B8D-45A4-ACB3-C8EE7015E842}">
      <dgm:prSet/>
      <dgm:spPr/>
      <dgm:t>
        <a:bodyPr/>
        <a:lstStyle/>
        <a:p>
          <a:endParaRPr lang="en-US"/>
        </a:p>
      </dgm:t>
    </dgm:pt>
    <dgm:pt modelId="{FB606814-102E-4E69-975C-7D5D3A5B7A19}" type="sibTrans" cxnId="{68D3A58F-5B8D-45A4-ACB3-C8EE7015E842}">
      <dgm:prSet/>
      <dgm:spPr/>
      <dgm:t>
        <a:bodyPr/>
        <a:lstStyle/>
        <a:p>
          <a:endParaRPr lang="en-US" noProof="0" dirty="0"/>
        </a:p>
      </dgm:t>
    </dgm:pt>
    <dgm:pt modelId="{7A5B8ED7-347D-4DC9-9A8E-4A5FDFCD645D}">
      <dgm:prSet/>
      <dgm:spPr/>
      <dgm:t>
        <a:bodyPr/>
        <a:lstStyle/>
        <a:p>
          <a:r>
            <a:rPr lang="en-US" b="1" noProof="0" dirty="0"/>
            <a:t>Close</a:t>
          </a:r>
        </a:p>
        <a:p>
          <a:r>
            <a:rPr lang="en-US" noProof="0" dirty="0"/>
            <a:t>Once every neighbor has been checked, it is already known the shortest path to this node. Check as visited.</a:t>
          </a:r>
        </a:p>
      </dgm:t>
    </dgm:pt>
    <dgm:pt modelId="{DD542CE9-E3B2-4A64-B32F-E1415C6EA363}" type="parTrans" cxnId="{5034CBA6-E3B2-4799-B15B-2154E9F83B14}">
      <dgm:prSet/>
      <dgm:spPr/>
      <dgm:t>
        <a:bodyPr/>
        <a:lstStyle/>
        <a:p>
          <a:endParaRPr lang="en-US"/>
        </a:p>
      </dgm:t>
    </dgm:pt>
    <dgm:pt modelId="{15EAE0D6-FE7A-4FBA-9295-500280208488}" type="sibTrans" cxnId="{5034CBA6-E3B2-4799-B15B-2154E9F83B14}">
      <dgm:prSet/>
      <dgm:spPr/>
      <dgm:t>
        <a:bodyPr/>
        <a:lstStyle/>
        <a:p>
          <a:endParaRPr lang="en-US" noProof="0" dirty="0"/>
        </a:p>
      </dgm:t>
    </dgm:pt>
    <dgm:pt modelId="{7019F71D-A4E5-4A48-B101-BA86367F5611}">
      <dgm:prSet/>
      <dgm:spPr/>
      <dgm:t>
        <a:bodyPr/>
        <a:lstStyle/>
        <a:p>
          <a:r>
            <a:rPr lang="en-US" b="1" noProof="0" dirty="0"/>
            <a:t>Repeat</a:t>
          </a:r>
        </a:p>
        <a:p>
          <a:r>
            <a:rPr lang="en-US" noProof="0" dirty="0"/>
            <a:t>Pick the next unvisited node </a:t>
          </a:r>
        </a:p>
      </dgm:t>
    </dgm:pt>
    <dgm:pt modelId="{29BF6FFE-B08F-40CF-80DF-FEE6B605A723}" type="parTrans" cxnId="{921A3F3D-706C-4F8B-B549-D490DD10EEE3}">
      <dgm:prSet/>
      <dgm:spPr/>
      <dgm:t>
        <a:bodyPr/>
        <a:lstStyle/>
        <a:p>
          <a:endParaRPr lang="en-US"/>
        </a:p>
      </dgm:t>
    </dgm:pt>
    <dgm:pt modelId="{AB7D4359-CC6E-4B02-BEFE-C32554DA86AF}" type="sibTrans" cxnId="{921A3F3D-706C-4F8B-B549-D490DD10EEE3}">
      <dgm:prSet/>
      <dgm:spPr/>
      <dgm:t>
        <a:bodyPr/>
        <a:lstStyle/>
        <a:p>
          <a:endParaRPr lang="en-US"/>
        </a:p>
      </dgm:t>
    </dgm:pt>
    <dgm:pt modelId="{C4856A0D-099F-4CAD-BC04-B03E0D37F7B4}" type="pres">
      <dgm:prSet presAssocID="{67192625-A819-4D4D-8B85-0AE7B7FBE199}" presName="Name0" presStyleCnt="0">
        <dgm:presLayoutVars>
          <dgm:dir/>
          <dgm:resizeHandles val="exact"/>
        </dgm:presLayoutVars>
      </dgm:prSet>
      <dgm:spPr/>
    </dgm:pt>
    <dgm:pt modelId="{E96C0000-7C79-42A3-BF6E-C052EAD23F7A}" type="pres">
      <dgm:prSet presAssocID="{B733EA68-6EE6-4B4D-A029-AB894D3BF463}" presName="node" presStyleLbl="node1" presStyleIdx="0" presStyleCnt="5">
        <dgm:presLayoutVars>
          <dgm:bulletEnabled val="1"/>
        </dgm:presLayoutVars>
      </dgm:prSet>
      <dgm:spPr/>
    </dgm:pt>
    <dgm:pt modelId="{52CFE92C-E0B4-41A8-83A9-81F55FF82809}" type="pres">
      <dgm:prSet presAssocID="{CD24156A-2F6D-4CAD-BD5B-2827457831E4}" presName="sibTrans" presStyleLbl="sibTrans2D1" presStyleIdx="0" presStyleCnt="4"/>
      <dgm:spPr/>
    </dgm:pt>
    <dgm:pt modelId="{5765CB82-B7ED-4006-A55E-EEC58F3F7420}" type="pres">
      <dgm:prSet presAssocID="{CD24156A-2F6D-4CAD-BD5B-2827457831E4}" presName="connectorText" presStyleLbl="sibTrans2D1" presStyleIdx="0" presStyleCnt="4"/>
      <dgm:spPr/>
    </dgm:pt>
    <dgm:pt modelId="{17D045DE-60EB-481D-B125-6D905FCA8786}" type="pres">
      <dgm:prSet presAssocID="{4CA65FB2-61A6-4C26-B5BA-9769DFFBC6F2}" presName="node" presStyleLbl="node1" presStyleIdx="1" presStyleCnt="5" custScaleX="126722" custLinFactNeighborX="-5736" custLinFactNeighborY="2189">
        <dgm:presLayoutVars>
          <dgm:bulletEnabled val="1"/>
        </dgm:presLayoutVars>
      </dgm:prSet>
      <dgm:spPr/>
    </dgm:pt>
    <dgm:pt modelId="{80795D70-BD69-4350-BD5B-36E2F18BF5CA}" type="pres">
      <dgm:prSet presAssocID="{E388BF38-1BB0-4A20-8D67-18AA00ECDD1A}" presName="sibTrans" presStyleLbl="sibTrans2D1" presStyleIdx="1" presStyleCnt="4"/>
      <dgm:spPr/>
    </dgm:pt>
    <dgm:pt modelId="{63DC87AA-703F-4BFB-8712-EFD40D64F785}" type="pres">
      <dgm:prSet presAssocID="{E388BF38-1BB0-4A20-8D67-18AA00ECDD1A}" presName="connectorText" presStyleLbl="sibTrans2D1" presStyleIdx="1" presStyleCnt="4"/>
      <dgm:spPr/>
    </dgm:pt>
    <dgm:pt modelId="{3361B364-2A5D-43E8-B10D-7401E88BB416}" type="pres">
      <dgm:prSet presAssocID="{0CA91BFA-E81F-4439-9B64-85DB6515BCDD}" presName="node" presStyleLbl="node1" presStyleIdx="2" presStyleCnt="5">
        <dgm:presLayoutVars>
          <dgm:bulletEnabled val="1"/>
        </dgm:presLayoutVars>
      </dgm:prSet>
      <dgm:spPr/>
    </dgm:pt>
    <dgm:pt modelId="{EE444C66-DC54-4BBD-A027-9A8EF0BE4C98}" type="pres">
      <dgm:prSet presAssocID="{FB606814-102E-4E69-975C-7D5D3A5B7A19}" presName="sibTrans" presStyleLbl="sibTrans2D1" presStyleIdx="2" presStyleCnt="4"/>
      <dgm:spPr/>
    </dgm:pt>
    <dgm:pt modelId="{4EAA4A5F-14E8-4B7C-8262-CDAC1269A501}" type="pres">
      <dgm:prSet presAssocID="{FB606814-102E-4E69-975C-7D5D3A5B7A19}" presName="connectorText" presStyleLbl="sibTrans2D1" presStyleIdx="2" presStyleCnt="4"/>
      <dgm:spPr/>
    </dgm:pt>
    <dgm:pt modelId="{40FA0007-E723-420C-879E-D7C625F4AE96}" type="pres">
      <dgm:prSet presAssocID="{7A5B8ED7-347D-4DC9-9A8E-4A5FDFCD645D}" presName="node" presStyleLbl="node1" presStyleIdx="3" presStyleCnt="5" custScaleX="121657">
        <dgm:presLayoutVars>
          <dgm:bulletEnabled val="1"/>
        </dgm:presLayoutVars>
      </dgm:prSet>
      <dgm:spPr/>
    </dgm:pt>
    <dgm:pt modelId="{CFD7FD60-A8F1-4DFF-87C2-AE1680C2658C}" type="pres">
      <dgm:prSet presAssocID="{15EAE0D6-FE7A-4FBA-9295-500280208488}" presName="sibTrans" presStyleLbl="sibTrans2D1" presStyleIdx="3" presStyleCnt="4"/>
      <dgm:spPr/>
    </dgm:pt>
    <dgm:pt modelId="{DE401FC6-D807-4C47-81D5-13BF3ECBFCEA}" type="pres">
      <dgm:prSet presAssocID="{15EAE0D6-FE7A-4FBA-9295-500280208488}" presName="connectorText" presStyleLbl="sibTrans2D1" presStyleIdx="3" presStyleCnt="4"/>
      <dgm:spPr/>
    </dgm:pt>
    <dgm:pt modelId="{DD5B5F50-1D1F-4D3E-9A01-B72193F1C8D3}" type="pres">
      <dgm:prSet presAssocID="{7019F71D-A4E5-4A48-B101-BA86367F5611}" presName="node" presStyleLbl="node1" presStyleIdx="4" presStyleCnt="5">
        <dgm:presLayoutVars>
          <dgm:bulletEnabled val="1"/>
        </dgm:presLayoutVars>
      </dgm:prSet>
      <dgm:spPr/>
    </dgm:pt>
  </dgm:ptLst>
  <dgm:cxnLst>
    <dgm:cxn modelId="{A5CEF20C-6A38-4F29-B683-EDBAB35F0FF2}" type="presOf" srcId="{E388BF38-1BB0-4A20-8D67-18AA00ECDD1A}" destId="{63DC87AA-703F-4BFB-8712-EFD40D64F785}" srcOrd="1" destOrd="0" presId="urn:microsoft.com/office/officeart/2005/8/layout/process1"/>
    <dgm:cxn modelId="{8B7BE226-3BF3-4F55-801B-7451E6AF7045}" type="presOf" srcId="{4CA65FB2-61A6-4C26-B5BA-9769DFFBC6F2}" destId="{17D045DE-60EB-481D-B125-6D905FCA8786}" srcOrd="0" destOrd="0" presId="urn:microsoft.com/office/officeart/2005/8/layout/process1"/>
    <dgm:cxn modelId="{921A3F3D-706C-4F8B-B549-D490DD10EEE3}" srcId="{67192625-A819-4D4D-8B85-0AE7B7FBE199}" destId="{7019F71D-A4E5-4A48-B101-BA86367F5611}" srcOrd="4" destOrd="0" parTransId="{29BF6FFE-B08F-40CF-80DF-FEE6B605A723}" sibTransId="{AB7D4359-CC6E-4B02-BEFE-C32554DA86AF}"/>
    <dgm:cxn modelId="{21471F64-8DE1-4E11-B465-8ACDFF6A72F1}" type="presOf" srcId="{0CA91BFA-E81F-4439-9B64-85DB6515BCDD}" destId="{3361B364-2A5D-43E8-B10D-7401E88BB416}" srcOrd="0" destOrd="0" presId="urn:microsoft.com/office/officeart/2005/8/layout/process1"/>
    <dgm:cxn modelId="{B8351F4E-E662-4315-927E-508DF6F5D940}" type="presOf" srcId="{CD24156A-2F6D-4CAD-BD5B-2827457831E4}" destId="{5765CB82-B7ED-4006-A55E-EEC58F3F7420}" srcOrd="1" destOrd="0" presId="urn:microsoft.com/office/officeart/2005/8/layout/process1"/>
    <dgm:cxn modelId="{29D00258-CB65-4139-B8DE-5AAE6A62F447}" srcId="{67192625-A819-4D4D-8B85-0AE7B7FBE199}" destId="{4CA65FB2-61A6-4C26-B5BA-9769DFFBC6F2}" srcOrd="1" destOrd="0" parTransId="{EF2EBFB8-5016-4C84-9D15-17C17277574E}" sibTransId="{E388BF38-1BB0-4A20-8D67-18AA00ECDD1A}"/>
    <dgm:cxn modelId="{3352587A-AA0C-4833-B32F-5B5386BDE98B}" type="presOf" srcId="{15EAE0D6-FE7A-4FBA-9295-500280208488}" destId="{CFD7FD60-A8F1-4DFF-87C2-AE1680C2658C}" srcOrd="0" destOrd="0" presId="urn:microsoft.com/office/officeart/2005/8/layout/process1"/>
    <dgm:cxn modelId="{ABE29D7C-6796-4731-86F0-2DE41903F58C}" type="presOf" srcId="{CD24156A-2F6D-4CAD-BD5B-2827457831E4}" destId="{52CFE92C-E0B4-41A8-83A9-81F55FF82809}" srcOrd="0" destOrd="0" presId="urn:microsoft.com/office/officeart/2005/8/layout/process1"/>
    <dgm:cxn modelId="{B3F60888-568E-462F-8E02-11DB8B9DFED4}" type="presOf" srcId="{7A5B8ED7-347D-4DC9-9A8E-4A5FDFCD645D}" destId="{40FA0007-E723-420C-879E-D7C625F4AE96}" srcOrd="0" destOrd="0" presId="urn:microsoft.com/office/officeart/2005/8/layout/process1"/>
    <dgm:cxn modelId="{EC25AB8E-825D-4214-9D07-A57A20EE659C}" srcId="{67192625-A819-4D4D-8B85-0AE7B7FBE199}" destId="{B733EA68-6EE6-4B4D-A029-AB894D3BF463}" srcOrd="0" destOrd="0" parTransId="{BE6FCF7D-998C-4D9A-91FA-BC05CE368DAB}" sibTransId="{CD24156A-2F6D-4CAD-BD5B-2827457831E4}"/>
    <dgm:cxn modelId="{68D3A58F-5B8D-45A4-ACB3-C8EE7015E842}" srcId="{67192625-A819-4D4D-8B85-0AE7B7FBE199}" destId="{0CA91BFA-E81F-4439-9B64-85DB6515BCDD}" srcOrd="2" destOrd="0" parTransId="{5D0813B2-1116-4F4E-8100-A188B432618C}" sibTransId="{FB606814-102E-4E69-975C-7D5D3A5B7A19}"/>
    <dgm:cxn modelId="{67A75F98-F930-4218-9E0D-AF76CACC8C56}" type="presOf" srcId="{67192625-A819-4D4D-8B85-0AE7B7FBE199}" destId="{C4856A0D-099F-4CAD-BC04-B03E0D37F7B4}" srcOrd="0" destOrd="0" presId="urn:microsoft.com/office/officeart/2005/8/layout/process1"/>
    <dgm:cxn modelId="{66E2B69C-009F-42A0-8183-729CE4F5E3E4}" type="presOf" srcId="{15EAE0D6-FE7A-4FBA-9295-500280208488}" destId="{DE401FC6-D807-4C47-81D5-13BF3ECBFCEA}" srcOrd="1" destOrd="0" presId="urn:microsoft.com/office/officeart/2005/8/layout/process1"/>
    <dgm:cxn modelId="{5034CBA6-E3B2-4799-B15B-2154E9F83B14}" srcId="{67192625-A819-4D4D-8B85-0AE7B7FBE199}" destId="{7A5B8ED7-347D-4DC9-9A8E-4A5FDFCD645D}" srcOrd="3" destOrd="0" parTransId="{DD542CE9-E3B2-4A64-B32F-E1415C6EA363}" sibTransId="{15EAE0D6-FE7A-4FBA-9295-500280208488}"/>
    <dgm:cxn modelId="{1B9325A7-276E-407D-B68C-650919151F42}" type="presOf" srcId="{B733EA68-6EE6-4B4D-A029-AB894D3BF463}" destId="{E96C0000-7C79-42A3-BF6E-C052EAD23F7A}" srcOrd="0" destOrd="0" presId="urn:microsoft.com/office/officeart/2005/8/layout/process1"/>
    <dgm:cxn modelId="{9C38F3B8-1F50-4980-9688-BE35DD01FEBA}" type="presOf" srcId="{E388BF38-1BB0-4A20-8D67-18AA00ECDD1A}" destId="{80795D70-BD69-4350-BD5B-36E2F18BF5CA}" srcOrd="0" destOrd="0" presId="urn:microsoft.com/office/officeart/2005/8/layout/process1"/>
    <dgm:cxn modelId="{C602FDE9-2ACF-4C3E-B0B4-200CA7F38CBA}" type="presOf" srcId="{FB606814-102E-4E69-975C-7D5D3A5B7A19}" destId="{EE444C66-DC54-4BBD-A027-9A8EF0BE4C98}" srcOrd="0" destOrd="0" presId="urn:microsoft.com/office/officeart/2005/8/layout/process1"/>
    <dgm:cxn modelId="{E10533F7-F5A7-418F-AD82-977A237D536F}" type="presOf" srcId="{7019F71D-A4E5-4A48-B101-BA86367F5611}" destId="{DD5B5F50-1D1F-4D3E-9A01-B72193F1C8D3}" srcOrd="0" destOrd="0" presId="urn:microsoft.com/office/officeart/2005/8/layout/process1"/>
    <dgm:cxn modelId="{3EE37AFB-ED12-4B0C-B713-D6B381A0DC89}" type="presOf" srcId="{FB606814-102E-4E69-975C-7D5D3A5B7A19}" destId="{4EAA4A5F-14E8-4B7C-8262-CDAC1269A501}" srcOrd="1" destOrd="0" presId="urn:microsoft.com/office/officeart/2005/8/layout/process1"/>
    <dgm:cxn modelId="{1BEB9661-228E-4E3B-8C93-FC9D6E0CD240}" type="presParOf" srcId="{C4856A0D-099F-4CAD-BC04-B03E0D37F7B4}" destId="{E96C0000-7C79-42A3-BF6E-C052EAD23F7A}" srcOrd="0" destOrd="0" presId="urn:microsoft.com/office/officeart/2005/8/layout/process1"/>
    <dgm:cxn modelId="{9A93121D-C203-4B51-9CDF-3070B5FAAE37}" type="presParOf" srcId="{C4856A0D-099F-4CAD-BC04-B03E0D37F7B4}" destId="{52CFE92C-E0B4-41A8-83A9-81F55FF82809}" srcOrd="1" destOrd="0" presId="urn:microsoft.com/office/officeart/2005/8/layout/process1"/>
    <dgm:cxn modelId="{4FE77F8E-A3C6-49A0-88CC-D4F20E8DCA57}" type="presParOf" srcId="{52CFE92C-E0B4-41A8-83A9-81F55FF82809}" destId="{5765CB82-B7ED-4006-A55E-EEC58F3F7420}" srcOrd="0" destOrd="0" presId="urn:microsoft.com/office/officeart/2005/8/layout/process1"/>
    <dgm:cxn modelId="{7AAAC256-3CB0-490A-953F-BB4306EE5669}" type="presParOf" srcId="{C4856A0D-099F-4CAD-BC04-B03E0D37F7B4}" destId="{17D045DE-60EB-481D-B125-6D905FCA8786}" srcOrd="2" destOrd="0" presId="urn:microsoft.com/office/officeart/2005/8/layout/process1"/>
    <dgm:cxn modelId="{0E525036-6BFC-4BAD-86FE-9666D82BC6FE}" type="presParOf" srcId="{C4856A0D-099F-4CAD-BC04-B03E0D37F7B4}" destId="{80795D70-BD69-4350-BD5B-36E2F18BF5CA}" srcOrd="3" destOrd="0" presId="urn:microsoft.com/office/officeart/2005/8/layout/process1"/>
    <dgm:cxn modelId="{BF7A0AA2-7EDD-4548-B1A9-3F06BCDFB4ED}" type="presParOf" srcId="{80795D70-BD69-4350-BD5B-36E2F18BF5CA}" destId="{63DC87AA-703F-4BFB-8712-EFD40D64F785}" srcOrd="0" destOrd="0" presId="urn:microsoft.com/office/officeart/2005/8/layout/process1"/>
    <dgm:cxn modelId="{48DA8C73-F7B6-45DF-B048-C4EA84C3A3CA}" type="presParOf" srcId="{C4856A0D-099F-4CAD-BC04-B03E0D37F7B4}" destId="{3361B364-2A5D-43E8-B10D-7401E88BB416}" srcOrd="4" destOrd="0" presId="urn:microsoft.com/office/officeart/2005/8/layout/process1"/>
    <dgm:cxn modelId="{5BD3AAD6-30DD-4EDD-9E19-DC952ED2DF6F}" type="presParOf" srcId="{C4856A0D-099F-4CAD-BC04-B03E0D37F7B4}" destId="{EE444C66-DC54-4BBD-A027-9A8EF0BE4C98}" srcOrd="5" destOrd="0" presId="urn:microsoft.com/office/officeart/2005/8/layout/process1"/>
    <dgm:cxn modelId="{6EAC07DD-3AB3-48B3-9A56-DEEA28648E53}" type="presParOf" srcId="{EE444C66-DC54-4BBD-A027-9A8EF0BE4C98}" destId="{4EAA4A5F-14E8-4B7C-8262-CDAC1269A501}" srcOrd="0" destOrd="0" presId="urn:microsoft.com/office/officeart/2005/8/layout/process1"/>
    <dgm:cxn modelId="{F8DD78F3-03D3-4450-BE56-5DF26A0AB848}" type="presParOf" srcId="{C4856A0D-099F-4CAD-BC04-B03E0D37F7B4}" destId="{40FA0007-E723-420C-879E-D7C625F4AE96}" srcOrd="6" destOrd="0" presId="urn:microsoft.com/office/officeart/2005/8/layout/process1"/>
    <dgm:cxn modelId="{912ED4D4-A1DC-4FE3-B257-A3C3F39E4114}" type="presParOf" srcId="{C4856A0D-099F-4CAD-BC04-B03E0D37F7B4}" destId="{CFD7FD60-A8F1-4DFF-87C2-AE1680C2658C}" srcOrd="7" destOrd="0" presId="urn:microsoft.com/office/officeart/2005/8/layout/process1"/>
    <dgm:cxn modelId="{35B888A5-1510-4727-8A9B-2F8A5822AD90}" type="presParOf" srcId="{CFD7FD60-A8F1-4DFF-87C2-AE1680C2658C}" destId="{DE401FC6-D807-4C47-81D5-13BF3ECBFCEA}" srcOrd="0" destOrd="0" presId="urn:microsoft.com/office/officeart/2005/8/layout/process1"/>
    <dgm:cxn modelId="{C98B9F49-43C1-4A5E-8AEF-98587276C11E}" type="presParOf" srcId="{C4856A0D-099F-4CAD-BC04-B03E0D37F7B4}" destId="{DD5B5F50-1D1F-4D3E-9A01-B72193F1C8D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1F10F-B003-48EB-8C8F-A29C145F0687}">
      <dsp:nvSpPr>
        <dsp:cNvPr id="0" name=""/>
        <dsp:cNvSpPr/>
      </dsp:nvSpPr>
      <dsp:spPr>
        <a:xfrm>
          <a:off x="1637011" y="218490"/>
          <a:ext cx="2823571" cy="2823571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/>
            <a:t>Cognition</a:t>
          </a:r>
        </a:p>
      </dsp:txBody>
      <dsp:txXfrm>
        <a:off x="3125100" y="816818"/>
        <a:ext cx="1008418" cy="840348"/>
      </dsp:txXfrm>
    </dsp:sp>
    <dsp:sp modelId="{CEE0B6FA-E123-475C-AE8D-2258A9BF0E9C}">
      <dsp:nvSpPr>
        <dsp:cNvPr id="0" name=""/>
        <dsp:cNvSpPr/>
      </dsp:nvSpPr>
      <dsp:spPr>
        <a:xfrm>
          <a:off x="1578859" y="319332"/>
          <a:ext cx="2823571" cy="2823571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/>
            <a:t>Action</a:t>
          </a:r>
        </a:p>
      </dsp:txBody>
      <dsp:txXfrm>
        <a:off x="2251138" y="2151292"/>
        <a:ext cx="1512627" cy="739506"/>
      </dsp:txXfrm>
    </dsp:sp>
    <dsp:sp modelId="{B81A9CBB-878D-4B82-8A84-9E2412194604}">
      <dsp:nvSpPr>
        <dsp:cNvPr id="0" name=""/>
        <dsp:cNvSpPr/>
      </dsp:nvSpPr>
      <dsp:spPr>
        <a:xfrm>
          <a:off x="1520706" y="218490"/>
          <a:ext cx="2823571" cy="2823571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/>
            <a:t>Perception</a:t>
          </a:r>
        </a:p>
      </dsp:txBody>
      <dsp:txXfrm>
        <a:off x="1847770" y="816818"/>
        <a:ext cx="1008418" cy="840348"/>
      </dsp:txXfrm>
    </dsp:sp>
    <dsp:sp modelId="{7A43CEAC-D266-493E-B585-1FD77A061A84}">
      <dsp:nvSpPr>
        <dsp:cNvPr id="0" name=""/>
        <dsp:cNvSpPr/>
      </dsp:nvSpPr>
      <dsp:spPr>
        <a:xfrm>
          <a:off x="1462451" y="43698"/>
          <a:ext cx="3173156" cy="3173156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43259-E87B-4041-AEBB-8D06C1CF0173}">
      <dsp:nvSpPr>
        <dsp:cNvPr id="0" name=""/>
        <dsp:cNvSpPr/>
      </dsp:nvSpPr>
      <dsp:spPr>
        <a:xfrm>
          <a:off x="1404066" y="144361"/>
          <a:ext cx="3173156" cy="3173156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97258-3304-4F8C-8BE0-6D0E06E8CE7A}">
      <dsp:nvSpPr>
        <dsp:cNvPr id="0" name=""/>
        <dsp:cNvSpPr/>
      </dsp:nvSpPr>
      <dsp:spPr>
        <a:xfrm>
          <a:off x="1345681" y="43698"/>
          <a:ext cx="3173156" cy="3173156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C0000-7C79-42A3-BF6E-C052EAD23F7A}">
      <dsp:nvSpPr>
        <dsp:cNvPr id="0" name=""/>
        <dsp:cNvSpPr/>
      </dsp:nvSpPr>
      <dsp:spPr>
        <a:xfrm>
          <a:off x="2169" y="899944"/>
          <a:ext cx="1597941" cy="16472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noProof="0" dirty="0"/>
            <a:t>Initialize node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Set starting node value to 0</a:t>
          </a:r>
        </a:p>
      </dsp:txBody>
      <dsp:txXfrm>
        <a:off x="48971" y="946746"/>
        <a:ext cx="1504337" cy="1553644"/>
      </dsp:txXfrm>
    </dsp:sp>
    <dsp:sp modelId="{52CFE92C-E0B4-41A8-83A9-81F55FF82809}">
      <dsp:nvSpPr>
        <dsp:cNvPr id="0" name=""/>
        <dsp:cNvSpPr/>
      </dsp:nvSpPr>
      <dsp:spPr>
        <a:xfrm rot="51347">
          <a:off x="1750721" y="1541993"/>
          <a:ext cx="319367" cy="396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noProof="0" dirty="0"/>
        </a:p>
      </dsp:txBody>
      <dsp:txXfrm>
        <a:off x="1750726" y="1620536"/>
        <a:ext cx="223557" cy="237773"/>
      </dsp:txXfrm>
    </dsp:sp>
    <dsp:sp modelId="{17D045DE-60EB-481D-B125-6D905FCA8786}">
      <dsp:nvSpPr>
        <dsp:cNvPr id="0" name=""/>
        <dsp:cNvSpPr/>
      </dsp:nvSpPr>
      <dsp:spPr>
        <a:xfrm>
          <a:off x="2202624" y="936003"/>
          <a:ext cx="2024943" cy="16472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noProof="0" dirty="0"/>
            <a:t>Explore unvisited nodes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Calculation of new cost (initial node cost + edge distance)</a:t>
          </a:r>
        </a:p>
      </dsp:txBody>
      <dsp:txXfrm>
        <a:off x="2250870" y="984249"/>
        <a:ext cx="1928451" cy="1550756"/>
      </dsp:txXfrm>
    </dsp:sp>
    <dsp:sp modelId="{80795D70-BD69-4350-BD5B-36E2F18BF5CA}">
      <dsp:nvSpPr>
        <dsp:cNvPr id="0" name=""/>
        <dsp:cNvSpPr/>
      </dsp:nvSpPr>
      <dsp:spPr>
        <a:xfrm rot="21550166">
          <a:off x="4396509" y="1541758"/>
          <a:ext cx="358232" cy="396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noProof="0" dirty="0"/>
        </a:p>
      </dsp:txBody>
      <dsp:txXfrm>
        <a:off x="4396515" y="1621795"/>
        <a:ext cx="250762" cy="237773"/>
      </dsp:txXfrm>
    </dsp:sp>
    <dsp:sp modelId="{3361B364-2A5D-43E8-B10D-7401E88BB416}">
      <dsp:nvSpPr>
        <dsp:cNvPr id="0" name=""/>
        <dsp:cNvSpPr/>
      </dsp:nvSpPr>
      <dsp:spPr>
        <a:xfrm>
          <a:off x="4903408" y="899944"/>
          <a:ext cx="1597941" cy="16472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noProof="0" dirty="0"/>
            <a:t>Update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Check if this new cost is cheaper than the previous </a:t>
          </a:r>
        </a:p>
      </dsp:txBody>
      <dsp:txXfrm>
        <a:off x="4950210" y="946746"/>
        <a:ext cx="1504337" cy="1553644"/>
      </dsp:txXfrm>
    </dsp:sp>
    <dsp:sp modelId="{EE444C66-DC54-4BBD-A027-9A8EF0BE4C98}">
      <dsp:nvSpPr>
        <dsp:cNvPr id="0" name=""/>
        <dsp:cNvSpPr/>
      </dsp:nvSpPr>
      <dsp:spPr>
        <a:xfrm>
          <a:off x="6661143" y="1525424"/>
          <a:ext cx="338763" cy="396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noProof="0" dirty="0"/>
        </a:p>
      </dsp:txBody>
      <dsp:txXfrm>
        <a:off x="6661143" y="1604682"/>
        <a:ext cx="237134" cy="237773"/>
      </dsp:txXfrm>
    </dsp:sp>
    <dsp:sp modelId="{40FA0007-E723-420C-879E-D7C625F4AE96}">
      <dsp:nvSpPr>
        <dsp:cNvPr id="0" name=""/>
        <dsp:cNvSpPr/>
      </dsp:nvSpPr>
      <dsp:spPr>
        <a:xfrm>
          <a:off x="7140526" y="899944"/>
          <a:ext cx="1944007" cy="16472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noProof="0" dirty="0"/>
            <a:t>Close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Once every neighbor has been checked, it is already known the shortest path to this node. Check as visited.</a:t>
          </a:r>
        </a:p>
      </dsp:txBody>
      <dsp:txXfrm>
        <a:off x="7188772" y="948190"/>
        <a:ext cx="1847515" cy="1550756"/>
      </dsp:txXfrm>
    </dsp:sp>
    <dsp:sp modelId="{CFD7FD60-A8F1-4DFF-87C2-AE1680C2658C}">
      <dsp:nvSpPr>
        <dsp:cNvPr id="0" name=""/>
        <dsp:cNvSpPr/>
      </dsp:nvSpPr>
      <dsp:spPr>
        <a:xfrm>
          <a:off x="9244328" y="1525424"/>
          <a:ext cx="338763" cy="396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noProof="0" dirty="0"/>
        </a:p>
      </dsp:txBody>
      <dsp:txXfrm>
        <a:off x="9244328" y="1604682"/>
        <a:ext cx="237134" cy="237773"/>
      </dsp:txXfrm>
    </dsp:sp>
    <dsp:sp modelId="{DD5B5F50-1D1F-4D3E-9A01-B72193F1C8D3}">
      <dsp:nvSpPr>
        <dsp:cNvPr id="0" name=""/>
        <dsp:cNvSpPr/>
      </dsp:nvSpPr>
      <dsp:spPr>
        <a:xfrm>
          <a:off x="9723710" y="899944"/>
          <a:ext cx="1597941" cy="16472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noProof="0" dirty="0"/>
            <a:t>Repeat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Pick the next unvisited node </a:t>
          </a:r>
        </a:p>
      </dsp:txBody>
      <dsp:txXfrm>
        <a:off x="9770512" y="946746"/>
        <a:ext cx="1504337" cy="1553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08FFCF5-AEA3-0BE3-1257-7D9295C1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>
            <a:extLst>
              <a:ext uri="{FF2B5EF4-FFF2-40B4-BE49-F238E27FC236}">
                <a16:creationId xmlns:a16="http://schemas.microsoft.com/office/drawing/2014/main" id="{C4450BF8-920E-FF20-8E30-BE9F21A5A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E4FABB35-79D9-2585-8E47-D14013AC8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6128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BFD0CAE4-587C-5A76-3264-CB89F53D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4F9CFB67-0E6F-89B0-4E3B-D98D2AAE0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81F9E056-2C7F-6B57-7356-0E9C83FD0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7332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4EF97556-8288-2463-1BC2-D91FC09B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7C8BB59E-03CC-135D-9B7F-C4462756F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8C0AFCD0-AD18-92AF-E2AC-1021ECF69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4614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6FCF5DE6-301C-EEE0-9418-AE86FF18F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A03C7187-2A49-3EAE-88FB-31EA27F8E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D0BADCBB-B48E-3D8A-D0EE-8D71C0E73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7338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A3528EA1-4AB4-0C8B-76D0-42D089432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D46D045C-BC0F-6AA9-B881-DDF794B74A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B6E7C4FC-1F78-C706-AD10-4C6D667A7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7698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050880A-3157-3E7E-4547-14FCB9B4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B3DA495A-E5DD-7DE2-9D46-D587521F29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45C28E4F-6CC5-05A3-9EC9-8C3F9A0B2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441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A281E8CA-C293-32D1-B9C5-060B8C6C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07C875F8-2C06-59F9-98BA-09FC974EE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25956C7E-8979-672D-753C-98019C5A5C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363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D051377-5899-1477-DE20-FF417EB7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52E10833-100D-159D-A177-F71A94049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3B938403-A17E-0768-E111-CD486EFF7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812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13C578AF-83A0-3BB3-770E-FBAB53B2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D339723A-9D32-2DB0-6F3A-8D97CBB4A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63C5C60A-2AFE-76F7-91CF-11A264AC4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126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802888B8-A74E-3EA4-8FED-00ACFFA9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92831DBC-2162-EAFD-15DF-417EF72FD2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894B479B-DB52-7114-8A06-932EBCA2F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022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F987FF98-8623-9997-55F4-CEF3FBC8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>
            <a:extLst>
              <a:ext uri="{FF2B5EF4-FFF2-40B4-BE49-F238E27FC236}">
                <a16:creationId xmlns:a16="http://schemas.microsoft.com/office/drawing/2014/main" id="{AD03C398-EF09-9F2A-5D9C-001DBDC82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63E908FE-ACEC-C04A-EFC8-395CE8E1C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534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AABCAA4A-1249-A230-1E65-D8EF504C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A7F127C1-1A84-D68B-C214-2B424AC36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E5E3BF42-2F74-D422-5632-1D657F305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2140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4F38FB3C-9C37-5921-E77A-46493344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F88F18D8-D604-5E5B-775F-90FE9D997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E23315E0-79B3-043E-C97E-A209E1209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1309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24B51BB4-FCBA-B2DE-DFFB-90D2E0B4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>
            <a:extLst>
              <a:ext uri="{FF2B5EF4-FFF2-40B4-BE49-F238E27FC236}">
                <a16:creationId xmlns:a16="http://schemas.microsoft.com/office/drawing/2014/main" id="{FF8BFA17-388D-584C-A48A-0C0D59760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0:notes">
            <a:extLst>
              <a:ext uri="{FF2B5EF4-FFF2-40B4-BE49-F238E27FC236}">
                <a16:creationId xmlns:a16="http://schemas.microsoft.com/office/drawing/2014/main" id="{5DC34AB8-0EF1-F65A-49CC-43971234D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7830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titolo">
  <p:cSld name="1_Diapositiva titol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>
            <a:off x="0" y="0"/>
            <a:ext cx="12192000" cy="1847850"/>
          </a:xfrm>
          <a:prstGeom prst="rect">
            <a:avLst/>
          </a:prstGeom>
          <a:solidFill>
            <a:srgbClr val="1A4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14;p13"/>
          <p:cNvGrpSpPr/>
          <p:nvPr/>
        </p:nvGrpSpPr>
        <p:grpSpPr>
          <a:xfrm>
            <a:off x="64010" y="1654176"/>
            <a:ext cx="12048863" cy="180000"/>
            <a:chOff x="1218340" y="275867"/>
            <a:chExt cx="17715122" cy="567843"/>
          </a:xfrm>
        </p:grpSpPr>
        <p:cxnSp>
          <p:nvCxnSpPr>
            <p:cNvPr id="15" name="Google Shape;15;p13"/>
            <p:cNvCxnSpPr/>
            <p:nvPr/>
          </p:nvCxnSpPr>
          <p:spPr>
            <a:xfrm>
              <a:off x="12183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13"/>
            <p:cNvCxnSpPr/>
            <p:nvPr/>
          </p:nvCxnSpPr>
          <p:spPr>
            <a:xfrm>
              <a:off x="13672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13"/>
            <p:cNvCxnSpPr/>
            <p:nvPr/>
          </p:nvCxnSpPr>
          <p:spPr>
            <a:xfrm>
              <a:off x="15160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13"/>
            <p:cNvCxnSpPr/>
            <p:nvPr/>
          </p:nvCxnSpPr>
          <p:spPr>
            <a:xfrm>
              <a:off x="16649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13"/>
            <p:cNvCxnSpPr/>
            <p:nvPr/>
          </p:nvCxnSpPr>
          <p:spPr>
            <a:xfrm>
              <a:off x="18138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13"/>
            <p:cNvCxnSpPr/>
            <p:nvPr/>
          </p:nvCxnSpPr>
          <p:spPr>
            <a:xfrm>
              <a:off x="19626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13"/>
            <p:cNvCxnSpPr/>
            <p:nvPr/>
          </p:nvCxnSpPr>
          <p:spPr>
            <a:xfrm>
              <a:off x="21115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13"/>
            <p:cNvCxnSpPr/>
            <p:nvPr/>
          </p:nvCxnSpPr>
          <p:spPr>
            <a:xfrm>
              <a:off x="22604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24092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25581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13"/>
            <p:cNvCxnSpPr/>
            <p:nvPr/>
          </p:nvCxnSpPr>
          <p:spPr>
            <a:xfrm>
              <a:off x="27070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3"/>
            <p:cNvCxnSpPr/>
            <p:nvPr/>
          </p:nvCxnSpPr>
          <p:spPr>
            <a:xfrm>
              <a:off x="28558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13"/>
            <p:cNvCxnSpPr/>
            <p:nvPr/>
          </p:nvCxnSpPr>
          <p:spPr>
            <a:xfrm>
              <a:off x="30047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13"/>
            <p:cNvCxnSpPr/>
            <p:nvPr/>
          </p:nvCxnSpPr>
          <p:spPr>
            <a:xfrm>
              <a:off x="31536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13"/>
            <p:cNvCxnSpPr/>
            <p:nvPr/>
          </p:nvCxnSpPr>
          <p:spPr>
            <a:xfrm>
              <a:off x="33024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13"/>
            <p:cNvCxnSpPr/>
            <p:nvPr/>
          </p:nvCxnSpPr>
          <p:spPr>
            <a:xfrm>
              <a:off x="34513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13"/>
            <p:cNvCxnSpPr/>
            <p:nvPr/>
          </p:nvCxnSpPr>
          <p:spPr>
            <a:xfrm>
              <a:off x="36002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13"/>
            <p:cNvCxnSpPr/>
            <p:nvPr/>
          </p:nvCxnSpPr>
          <p:spPr>
            <a:xfrm>
              <a:off x="37490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13"/>
            <p:cNvCxnSpPr/>
            <p:nvPr/>
          </p:nvCxnSpPr>
          <p:spPr>
            <a:xfrm>
              <a:off x="38979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13"/>
            <p:cNvCxnSpPr/>
            <p:nvPr/>
          </p:nvCxnSpPr>
          <p:spPr>
            <a:xfrm>
              <a:off x="404681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13"/>
            <p:cNvCxnSpPr/>
            <p:nvPr/>
          </p:nvCxnSpPr>
          <p:spPr>
            <a:xfrm>
              <a:off x="419568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13"/>
            <p:cNvCxnSpPr/>
            <p:nvPr/>
          </p:nvCxnSpPr>
          <p:spPr>
            <a:xfrm>
              <a:off x="434454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13"/>
            <p:cNvCxnSpPr/>
            <p:nvPr/>
          </p:nvCxnSpPr>
          <p:spPr>
            <a:xfrm>
              <a:off x="449341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38;p13"/>
            <p:cNvCxnSpPr/>
            <p:nvPr/>
          </p:nvCxnSpPr>
          <p:spPr>
            <a:xfrm>
              <a:off x="464228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39;p13"/>
            <p:cNvCxnSpPr/>
            <p:nvPr/>
          </p:nvCxnSpPr>
          <p:spPr>
            <a:xfrm>
              <a:off x="479114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40;p13"/>
            <p:cNvCxnSpPr/>
            <p:nvPr/>
          </p:nvCxnSpPr>
          <p:spPr>
            <a:xfrm>
              <a:off x="494001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" name="Google Shape;41;p13"/>
            <p:cNvCxnSpPr/>
            <p:nvPr/>
          </p:nvCxnSpPr>
          <p:spPr>
            <a:xfrm>
              <a:off x="508888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" name="Google Shape;42;p13"/>
            <p:cNvCxnSpPr/>
            <p:nvPr/>
          </p:nvCxnSpPr>
          <p:spPr>
            <a:xfrm>
              <a:off x="523774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" name="Google Shape;43;p13"/>
            <p:cNvCxnSpPr/>
            <p:nvPr/>
          </p:nvCxnSpPr>
          <p:spPr>
            <a:xfrm>
              <a:off x="538661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13"/>
            <p:cNvCxnSpPr/>
            <p:nvPr/>
          </p:nvCxnSpPr>
          <p:spPr>
            <a:xfrm>
              <a:off x="553548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13"/>
            <p:cNvCxnSpPr/>
            <p:nvPr/>
          </p:nvCxnSpPr>
          <p:spPr>
            <a:xfrm>
              <a:off x="568435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13"/>
            <p:cNvCxnSpPr/>
            <p:nvPr/>
          </p:nvCxnSpPr>
          <p:spPr>
            <a:xfrm>
              <a:off x="583321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13"/>
            <p:cNvCxnSpPr/>
            <p:nvPr/>
          </p:nvCxnSpPr>
          <p:spPr>
            <a:xfrm>
              <a:off x="598208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13"/>
            <p:cNvCxnSpPr/>
            <p:nvPr/>
          </p:nvCxnSpPr>
          <p:spPr>
            <a:xfrm>
              <a:off x="613095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13"/>
            <p:cNvCxnSpPr/>
            <p:nvPr/>
          </p:nvCxnSpPr>
          <p:spPr>
            <a:xfrm>
              <a:off x="627981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13"/>
            <p:cNvCxnSpPr/>
            <p:nvPr/>
          </p:nvCxnSpPr>
          <p:spPr>
            <a:xfrm>
              <a:off x="642868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13"/>
            <p:cNvCxnSpPr/>
            <p:nvPr/>
          </p:nvCxnSpPr>
          <p:spPr>
            <a:xfrm>
              <a:off x="657755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13"/>
            <p:cNvCxnSpPr/>
            <p:nvPr/>
          </p:nvCxnSpPr>
          <p:spPr>
            <a:xfrm>
              <a:off x="672641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687528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702415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717302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732188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747075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61962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776848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791735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806622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821508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836395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851282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866169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881055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895942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13"/>
            <p:cNvCxnSpPr/>
            <p:nvPr/>
          </p:nvCxnSpPr>
          <p:spPr>
            <a:xfrm>
              <a:off x="910829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13"/>
            <p:cNvCxnSpPr/>
            <p:nvPr/>
          </p:nvCxnSpPr>
          <p:spPr>
            <a:xfrm>
              <a:off x="925715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3"/>
            <p:cNvCxnSpPr/>
            <p:nvPr/>
          </p:nvCxnSpPr>
          <p:spPr>
            <a:xfrm>
              <a:off x="940602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13"/>
            <p:cNvCxnSpPr/>
            <p:nvPr/>
          </p:nvCxnSpPr>
          <p:spPr>
            <a:xfrm>
              <a:off x="955489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2" name="Google Shape;72;p13"/>
            <p:cNvCxnSpPr/>
            <p:nvPr/>
          </p:nvCxnSpPr>
          <p:spPr>
            <a:xfrm>
              <a:off x="970375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" name="Google Shape;73;p13"/>
            <p:cNvCxnSpPr/>
            <p:nvPr/>
          </p:nvCxnSpPr>
          <p:spPr>
            <a:xfrm>
              <a:off x="985262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" name="Google Shape;74;p13"/>
            <p:cNvCxnSpPr/>
            <p:nvPr/>
          </p:nvCxnSpPr>
          <p:spPr>
            <a:xfrm>
              <a:off x="1000149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5" name="Google Shape;75;p13"/>
            <p:cNvCxnSpPr/>
            <p:nvPr/>
          </p:nvCxnSpPr>
          <p:spPr>
            <a:xfrm>
              <a:off x="1015036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13"/>
            <p:cNvCxnSpPr/>
            <p:nvPr/>
          </p:nvCxnSpPr>
          <p:spPr>
            <a:xfrm>
              <a:off x="1029922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13"/>
            <p:cNvCxnSpPr/>
            <p:nvPr/>
          </p:nvCxnSpPr>
          <p:spPr>
            <a:xfrm>
              <a:off x="1044809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13"/>
            <p:cNvCxnSpPr/>
            <p:nvPr/>
          </p:nvCxnSpPr>
          <p:spPr>
            <a:xfrm>
              <a:off x="1059696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3"/>
            <p:cNvCxnSpPr/>
            <p:nvPr/>
          </p:nvCxnSpPr>
          <p:spPr>
            <a:xfrm>
              <a:off x="1074582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3"/>
            <p:cNvCxnSpPr/>
            <p:nvPr/>
          </p:nvCxnSpPr>
          <p:spPr>
            <a:xfrm>
              <a:off x="1089469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3"/>
            <p:cNvCxnSpPr/>
            <p:nvPr/>
          </p:nvCxnSpPr>
          <p:spPr>
            <a:xfrm>
              <a:off x="110435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3"/>
            <p:cNvCxnSpPr/>
            <p:nvPr/>
          </p:nvCxnSpPr>
          <p:spPr>
            <a:xfrm>
              <a:off x="1119242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3"/>
            <p:cNvCxnSpPr/>
            <p:nvPr/>
          </p:nvCxnSpPr>
          <p:spPr>
            <a:xfrm>
              <a:off x="1134129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3"/>
            <p:cNvCxnSpPr/>
            <p:nvPr/>
          </p:nvCxnSpPr>
          <p:spPr>
            <a:xfrm>
              <a:off x="1149016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3"/>
            <p:cNvCxnSpPr/>
            <p:nvPr/>
          </p:nvCxnSpPr>
          <p:spPr>
            <a:xfrm>
              <a:off x="1163903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3"/>
            <p:cNvCxnSpPr/>
            <p:nvPr/>
          </p:nvCxnSpPr>
          <p:spPr>
            <a:xfrm>
              <a:off x="1178789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3"/>
            <p:cNvCxnSpPr/>
            <p:nvPr/>
          </p:nvCxnSpPr>
          <p:spPr>
            <a:xfrm>
              <a:off x="1193676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3"/>
            <p:cNvCxnSpPr/>
            <p:nvPr/>
          </p:nvCxnSpPr>
          <p:spPr>
            <a:xfrm>
              <a:off x="1208563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3"/>
            <p:cNvCxnSpPr/>
            <p:nvPr/>
          </p:nvCxnSpPr>
          <p:spPr>
            <a:xfrm>
              <a:off x="1223449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3"/>
            <p:cNvCxnSpPr/>
            <p:nvPr/>
          </p:nvCxnSpPr>
          <p:spPr>
            <a:xfrm>
              <a:off x="1238336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3"/>
            <p:cNvCxnSpPr/>
            <p:nvPr/>
          </p:nvCxnSpPr>
          <p:spPr>
            <a:xfrm>
              <a:off x="1253223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3"/>
            <p:cNvCxnSpPr/>
            <p:nvPr/>
          </p:nvCxnSpPr>
          <p:spPr>
            <a:xfrm>
              <a:off x="1268109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1282996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3"/>
            <p:cNvCxnSpPr/>
            <p:nvPr/>
          </p:nvCxnSpPr>
          <p:spPr>
            <a:xfrm>
              <a:off x="1297883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3"/>
            <p:cNvCxnSpPr/>
            <p:nvPr/>
          </p:nvCxnSpPr>
          <p:spPr>
            <a:xfrm>
              <a:off x="1312770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3"/>
            <p:cNvCxnSpPr/>
            <p:nvPr/>
          </p:nvCxnSpPr>
          <p:spPr>
            <a:xfrm>
              <a:off x="1327656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1342543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3"/>
            <p:cNvCxnSpPr/>
            <p:nvPr/>
          </p:nvCxnSpPr>
          <p:spPr>
            <a:xfrm>
              <a:off x="1357430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3"/>
            <p:cNvCxnSpPr/>
            <p:nvPr/>
          </p:nvCxnSpPr>
          <p:spPr>
            <a:xfrm>
              <a:off x="1372316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3"/>
            <p:cNvCxnSpPr/>
            <p:nvPr/>
          </p:nvCxnSpPr>
          <p:spPr>
            <a:xfrm>
              <a:off x="1387203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3"/>
            <p:cNvCxnSpPr/>
            <p:nvPr/>
          </p:nvCxnSpPr>
          <p:spPr>
            <a:xfrm>
              <a:off x="1402090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13"/>
            <p:cNvCxnSpPr/>
            <p:nvPr/>
          </p:nvCxnSpPr>
          <p:spPr>
            <a:xfrm>
              <a:off x="1416976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13"/>
            <p:cNvCxnSpPr/>
            <p:nvPr/>
          </p:nvCxnSpPr>
          <p:spPr>
            <a:xfrm>
              <a:off x="1431863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13"/>
            <p:cNvCxnSpPr/>
            <p:nvPr/>
          </p:nvCxnSpPr>
          <p:spPr>
            <a:xfrm>
              <a:off x="1446750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13"/>
            <p:cNvCxnSpPr/>
            <p:nvPr/>
          </p:nvCxnSpPr>
          <p:spPr>
            <a:xfrm>
              <a:off x="1461637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13"/>
            <p:cNvCxnSpPr/>
            <p:nvPr/>
          </p:nvCxnSpPr>
          <p:spPr>
            <a:xfrm>
              <a:off x="1476523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13"/>
            <p:cNvCxnSpPr/>
            <p:nvPr/>
          </p:nvCxnSpPr>
          <p:spPr>
            <a:xfrm>
              <a:off x="1491410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13"/>
            <p:cNvCxnSpPr/>
            <p:nvPr/>
          </p:nvCxnSpPr>
          <p:spPr>
            <a:xfrm>
              <a:off x="1506297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13"/>
            <p:cNvCxnSpPr/>
            <p:nvPr/>
          </p:nvCxnSpPr>
          <p:spPr>
            <a:xfrm>
              <a:off x="1521183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13"/>
            <p:cNvCxnSpPr/>
            <p:nvPr/>
          </p:nvCxnSpPr>
          <p:spPr>
            <a:xfrm>
              <a:off x="1536070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13"/>
            <p:cNvCxnSpPr/>
            <p:nvPr/>
          </p:nvCxnSpPr>
          <p:spPr>
            <a:xfrm>
              <a:off x="1550957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13"/>
            <p:cNvCxnSpPr/>
            <p:nvPr/>
          </p:nvCxnSpPr>
          <p:spPr>
            <a:xfrm>
              <a:off x="1565843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13"/>
            <p:cNvCxnSpPr/>
            <p:nvPr/>
          </p:nvCxnSpPr>
          <p:spPr>
            <a:xfrm>
              <a:off x="1580730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13"/>
            <p:cNvCxnSpPr/>
            <p:nvPr/>
          </p:nvCxnSpPr>
          <p:spPr>
            <a:xfrm>
              <a:off x="1595617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13"/>
            <p:cNvCxnSpPr/>
            <p:nvPr/>
          </p:nvCxnSpPr>
          <p:spPr>
            <a:xfrm>
              <a:off x="161050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13"/>
            <p:cNvCxnSpPr/>
            <p:nvPr/>
          </p:nvCxnSpPr>
          <p:spPr>
            <a:xfrm>
              <a:off x="162539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13"/>
            <p:cNvCxnSpPr/>
            <p:nvPr/>
          </p:nvCxnSpPr>
          <p:spPr>
            <a:xfrm>
              <a:off x="164027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13"/>
            <p:cNvCxnSpPr/>
            <p:nvPr/>
          </p:nvCxnSpPr>
          <p:spPr>
            <a:xfrm>
              <a:off x="165516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13"/>
            <p:cNvCxnSpPr/>
            <p:nvPr/>
          </p:nvCxnSpPr>
          <p:spPr>
            <a:xfrm>
              <a:off x="167005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13"/>
            <p:cNvCxnSpPr/>
            <p:nvPr/>
          </p:nvCxnSpPr>
          <p:spPr>
            <a:xfrm>
              <a:off x="168493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13"/>
            <p:cNvCxnSpPr/>
            <p:nvPr/>
          </p:nvCxnSpPr>
          <p:spPr>
            <a:xfrm>
              <a:off x="169982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13"/>
            <p:cNvCxnSpPr/>
            <p:nvPr/>
          </p:nvCxnSpPr>
          <p:spPr>
            <a:xfrm>
              <a:off x="171471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13"/>
            <p:cNvCxnSpPr/>
            <p:nvPr/>
          </p:nvCxnSpPr>
          <p:spPr>
            <a:xfrm>
              <a:off x="172959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13"/>
            <p:cNvCxnSpPr/>
            <p:nvPr/>
          </p:nvCxnSpPr>
          <p:spPr>
            <a:xfrm>
              <a:off x="174448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175937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177425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13"/>
            <p:cNvCxnSpPr/>
            <p:nvPr/>
          </p:nvCxnSpPr>
          <p:spPr>
            <a:xfrm>
              <a:off x="178914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13"/>
            <p:cNvCxnSpPr/>
            <p:nvPr/>
          </p:nvCxnSpPr>
          <p:spPr>
            <a:xfrm>
              <a:off x="180403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13"/>
            <p:cNvCxnSpPr/>
            <p:nvPr/>
          </p:nvCxnSpPr>
          <p:spPr>
            <a:xfrm>
              <a:off x="181891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13"/>
            <p:cNvCxnSpPr/>
            <p:nvPr/>
          </p:nvCxnSpPr>
          <p:spPr>
            <a:xfrm>
              <a:off x="183380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184869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p13"/>
            <p:cNvCxnSpPr/>
            <p:nvPr/>
          </p:nvCxnSpPr>
          <p:spPr>
            <a:xfrm>
              <a:off x="186357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13"/>
            <p:cNvCxnSpPr/>
            <p:nvPr/>
          </p:nvCxnSpPr>
          <p:spPr>
            <a:xfrm>
              <a:off x="187846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134;p13"/>
            <p:cNvCxnSpPr/>
            <p:nvPr/>
          </p:nvCxnSpPr>
          <p:spPr>
            <a:xfrm>
              <a:off x="189334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5" name="Google Shape;135;p13" descr="Y:\IMMAGINE _COORDINATA_2014\PPT\loghi_PNG\01_polimi_centrato_BN_negativo_out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76345" y="274003"/>
            <a:ext cx="1442830" cy="110617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272715" y="6008488"/>
            <a:ext cx="8418095" cy="61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800"/>
              <a:buFont typeface="Arial Black"/>
              <a:buNone/>
            </a:pPr>
            <a:r>
              <a:rPr lang="it-IT" sz="1800" b="1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057233 – Aerodynamics of Transport Vehicles</a:t>
            </a:r>
            <a:endParaRPr sz="1800" b="1" i="0" u="none" strike="noStrike" cap="small" dirty="0">
              <a:solidFill>
                <a:srgbClr val="1A415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800"/>
              <a:buFont typeface="Arial Black"/>
              <a:buNone/>
            </a:pPr>
            <a:r>
              <a:rPr lang="it-IT" sz="1800" b="1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062181 – Vehicle Aerodynamics</a:t>
            </a:r>
            <a:endParaRPr sz="1800" b="1" i="0" u="none" strike="noStrike" cap="small" dirty="0">
              <a:solidFill>
                <a:srgbClr val="1A415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400"/>
              <a:buFont typeface="Arial Black"/>
              <a:buNone/>
            </a:pPr>
            <a:r>
              <a:rPr lang="it-IT" sz="1400" b="0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	Prof. Zanotti – Prof. Schito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272717" y="6426200"/>
            <a:ext cx="11646568" cy="33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it-IT" sz="1400" b="1" i="0" u="none" strike="noStrike" cap="small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Academic Year 2024/2025</a:t>
            </a:r>
            <a:endParaRPr sz="11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contenuto">
  <p:cSld name="1_Titolo e contenuto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10983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0" y="6229351"/>
            <a:ext cx="12192000" cy="638175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161506" y="6511432"/>
            <a:ext cx="3664580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Name</a:t>
            </a:r>
            <a:endParaRPr dirty="0"/>
          </a:p>
        </p:txBody>
      </p:sp>
      <p:sp>
        <p:nvSpPr>
          <p:cNvPr id="143" name="Google Shape;143;p14"/>
          <p:cNvSpPr txBox="1"/>
          <p:nvPr/>
        </p:nvSpPr>
        <p:spPr>
          <a:xfrm>
            <a:off x="4393324" y="6236938"/>
            <a:ext cx="3405352" cy="6232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Aerodynamics of Transport Vehicles</a:t>
            </a:r>
            <a:endParaRPr sz="1200" b="1" i="0" u="none" strike="noStrike" cap="small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Vehicle Aerodynamics</a:t>
            </a:r>
            <a:endParaRPr sz="1200" b="1" i="0" u="none" strike="noStrike" cap="small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lang="it-IT" sz="105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2024/2025</a:t>
            </a:r>
            <a:endParaRPr dirty="0"/>
          </a:p>
        </p:txBody>
      </p:sp>
      <p:sp>
        <p:nvSpPr>
          <p:cNvPr id="144" name="Google Shape;144;p14"/>
          <p:cNvSpPr txBox="1"/>
          <p:nvPr/>
        </p:nvSpPr>
        <p:spPr>
          <a:xfrm>
            <a:off x="11041653" y="35979"/>
            <a:ext cx="1102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i="0" u="none" strike="noStrike" cap="non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fld id="{00000000-1234-1234-1234-123412341234}" type="slidenum">
              <a:rPr lang="it-IT" sz="1600" b="0" i="0" u="none" strike="noStrike" cap="non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600" b="0" i="0" u="none" strike="noStrike" cap="none" dirty="0">
              <a:solidFill>
                <a:srgbClr val="003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4" descr="Y:\IMMAGINE _COORDINATA_2014\PPT\loghi_PNG\03_Polimi_bandiera-1riga_BN_negativo_out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642" y="6294425"/>
            <a:ext cx="2715128" cy="512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85793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/>
          <p:nvPr/>
        </p:nvSpPr>
        <p:spPr>
          <a:xfrm>
            <a:off x="272725" y="2286804"/>
            <a:ext cx="11646600" cy="1278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Adaptative and Nonlinear Control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Individual Project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E57E00-F026-F8F5-CAA0-18880DD30626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CD727E-F924-0E96-A343-E78B31EB54C0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41ECA46-9B1C-653A-FF1F-CBAE71C7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>
            <a:extLst>
              <a:ext uri="{FF2B5EF4-FFF2-40B4-BE49-F238E27FC236}">
                <a16:creationId xmlns:a16="http://schemas.microsoft.com/office/drawing/2014/main" id="{DB3074AD-3F3B-3943-9FA4-BD41EBA9F7D5}"/>
              </a:ext>
            </a:extLst>
          </p:cNvPr>
          <p:cNvSpPr txBox="1"/>
          <p:nvPr/>
        </p:nvSpPr>
        <p:spPr>
          <a:xfrm>
            <a:off x="272715" y="2326125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1. Introduction</a:t>
            </a:r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5A84B0-BD95-A6B7-1F0C-46EC45D90329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FDD7D4-D7EA-6B10-5E3D-496687AB7A2D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4289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A0738D5-ED50-9023-8DD3-3A68DC1A9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5F1B4B3-F422-17D8-FF7A-1A8C50D4BF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1.1 Introduction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Path Planning – Context &amp; Architecture integration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DD55816A-3FE8-C424-2D33-6A0F5C56C32D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2AB3CC78-C479-A919-2ACF-9C772E06F57C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1B07AA-7019-4F8C-6540-14FCA829A41B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7A7AE3B-0729-73C5-C836-749B384F2499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EEBFAA-27F7-C525-C832-2CA1F734CF97}"/>
              </a:ext>
            </a:extLst>
          </p:cNvPr>
          <p:cNvSpPr txBox="1"/>
          <p:nvPr/>
        </p:nvSpPr>
        <p:spPr>
          <a:xfrm>
            <a:off x="585020" y="1257189"/>
            <a:ext cx="74872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u="sng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Autonomous: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noProof="0" dirty="0"/>
              <a:t>the ability of a system to </a:t>
            </a:r>
            <a:r>
              <a:rPr lang="en-US" sz="1800" b="1" noProof="0" dirty="0"/>
              <a:t>achieve its goals</a:t>
            </a:r>
            <a:r>
              <a:rPr lang="en-US" sz="1800" noProof="0" dirty="0"/>
              <a:t> while </a:t>
            </a:r>
            <a:r>
              <a:rPr lang="en-US" sz="1800" b="1" noProof="0" dirty="0"/>
              <a:t>operating independently of external</a:t>
            </a:r>
            <a:r>
              <a:rPr lang="en-US" sz="1800" noProof="0" dirty="0"/>
              <a:t> controls, so itself is capable of these 3 fundamental actions:</a:t>
            </a:r>
          </a:p>
          <a:p>
            <a:pPr marL="342900" lvl="5" indent="-342900" algn="just">
              <a:buFont typeface="+mj-lt"/>
              <a:buAutoNum type="arabicPeriod"/>
            </a:pPr>
            <a:endParaRPr lang="en-US" sz="1800" b="1" u="sng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5" algn="just"/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Perception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extract information from the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(both exteroceptive and </a:t>
            </a:r>
            <a:r>
              <a:rPr lang="en-US" sz="1800" noProof="0" dirty="0"/>
              <a:t>proprioceptive) and 	</a:t>
            </a:r>
            <a:r>
              <a:rPr lang="en-US" sz="1800" b="1" noProof="0" dirty="0"/>
              <a:t>update the map and location</a:t>
            </a:r>
            <a:r>
              <a:rPr lang="en-US" sz="1800" noProof="0" dirty="0"/>
              <a:t> of the system (performed by the SLAM).</a:t>
            </a:r>
          </a:p>
          <a:p>
            <a:pPr lvl="5" algn="just"/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2.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Cognition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by considering its state, the goal and additional parameters (environmental 	variables, performance constrains, etc.),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obtaining a plan to follow 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(path, orientation &amp; trajectory).</a:t>
            </a:r>
          </a:p>
          <a:p>
            <a:pPr lvl="5" algn="just"/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3.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given the desired maneuver, the system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commands the inputs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 properly follow it.</a:t>
            </a:r>
          </a:p>
          <a:p>
            <a:pPr lvl="5" algn="just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5" algn="just"/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previous project, the focus was made into the high-frequency action phase, while now the cognition process is the highlighted one. In particular, the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 planning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going to be the main topic of the presentation.</a:t>
            </a:r>
          </a:p>
          <a:p>
            <a:pPr lvl="5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29D593-D6B2-497E-6A68-63F983CCF8AB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6E66550C-823B-873A-B5E6-709AC936DA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4323673"/>
              </p:ext>
            </p:extLst>
          </p:nvPr>
        </p:nvGraphicFramePr>
        <p:xfrm>
          <a:off x="7095613" y="1748302"/>
          <a:ext cx="5981290" cy="3361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200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5A748174-B62B-4930-4C30-35949B94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2AA30345-029A-84D5-54EA-80407ABF0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1.1 Introduction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Path Planning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E2EFB4C9-BC52-0C8B-741F-2BC61A2D0436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8DCB1AC3-CBBD-C1F8-972E-FF0F675E0CC7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4F1369-F08A-ADD5-6D53-0E6D7A42C9CD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806989-8FC0-74ED-53FC-4302AE2CF134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3E2240D-37D6-61AB-3CA2-ECFB64F4B604}"/>
                  </a:ext>
                </a:extLst>
              </p:cNvPr>
              <p:cNvSpPr txBox="1"/>
              <p:nvPr/>
            </p:nvSpPr>
            <p:spPr>
              <a:xfrm>
                <a:off x="585020" y="1257189"/>
                <a:ext cx="10682748" cy="5100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motion planning problem is about finding a sequence of valid configurations (a geometric path) that moves a robot from an initial start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a specified goal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But this path needs to satisfy some fundamental conditions, listing: </a:t>
                </a:r>
              </a:p>
              <a:p>
                <a:pPr lvl="2" algn="just"/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lvl="2" algn="just"/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1.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Safety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must be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collision-free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both for expected and unexpected obstacles.</a:t>
                </a:r>
              </a:p>
              <a:p>
                <a:pPr lvl="2" algn="just"/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lvl="2" algn="just"/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2.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Feasible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must satisfy the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physical constrains 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the UAV. </a:t>
                </a:r>
              </a:p>
              <a:p>
                <a:pPr lvl="2" algn="just"/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 algn="just"/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3. </a:t>
                </a:r>
                <a:r>
                  <a:rPr lang="en-US" sz="1800" b="1" noProof="0" dirty="0"/>
                  <a:t>Completeness:</a:t>
                </a:r>
                <a:r>
                  <a:rPr lang="en-US" sz="1800" noProof="0" dirty="0"/>
                  <a:t> it is </a:t>
                </a:r>
                <a:r>
                  <a:rPr lang="en-US" sz="1800" b="1" noProof="0" dirty="0"/>
                  <a:t>guaranteed</a:t>
                </a:r>
                <a:r>
                  <a:rPr lang="en-US" sz="1800" noProof="0" dirty="0"/>
                  <a:t> to return a </a:t>
                </a:r>
                <a:r>
                  <a:rPr lang="en-US" sz="1800" b="1" noProof="0" dirty="0"/>
                  <a:t>feasible solution </a:t>
                </a:r>
                <a:r>
                  <a:rPr lang="en-US" sz="1800" noProof="0" dirty="0"/>
                  <a:t>if one exists, and crucially, it 	will return "</a:t>
                </a:r>
                <a:r>
                  <a:rPr lang="en-US" sz="1800" b="1" noProof="0" dirty="0"/>
                  <a:t>FAIL</a:t>
                </a:r>
                <a:r>
                  <a:rPr lang="en-US" sz="1800" noProof="0" dirty="0"/>
                  <a:t>" in a finite amount of time </a:t>
                </a:r>
                <a:r>
                  <a:rPr lang="en-US" sz="1800" b="1" noProof="0" dirty="0"/>
                  <a:t>if no such solution exists</a:t>
                </a:r>
                <a:r>
                  <a:rPr lang="en-US" sz="1800" noProof="0" dirty="0"/>
                  <a:t>.</a:t>
                </a:r>
              </a:p>
              <a:p>
                <a:pPr lvl="2" algn="just"/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 algn="just"/>
                <a:r>
                  <a:rPr lang="en-US" sz="1800" b="1" noProof="0" dirty="0"/>
                  <a:t>	</a:t>
                </a:r>
                <a:r>
                  <a:rPr lang="en-US" sz="1800" noProof="0" dirty="0"/>
                  <a:t>4. </a:t>
                </a:r>
                <a:r>
                  <a:rPr lang="en-US" sz="1800" b="1" noProof="0" dirty="0"/>
                  <a:t>Optimality:</a:t>
                </a:r>
                <a:r>
                  <a:rPr lang="en-US" sz="1800" noProof="0" dirty="0"/>
                  <a:t> it doesn't just find </a:t>
                </a:r>
                <a:r>
                  <a:rPr lang="en-US" sz="1800" i="1" noProof="0" dirty="0"/>
                  <a:t>any</a:t>
                </a:r>
                <a:r>
                  <a:rPr lang="en-US" sz="1800" noProof="0" dirty="0"/>
                  <a:t> path, but it finds the </a:t>
                </a:r>
                <a:r>
                  <a:rPr lang="en-US" sz="1800" b="1" noProof="0" dirty="0"/>
                  <a:t>path with </a:t>
                </a:r>
                <a:r>
                  <a:rPr lang="en-US" sz="1800" noProof="0" dirty="0"/>
                  <a:t>the absolute </a:t>
                </a:r>
                <a:r>
                  <a:rPr lang="en-US" sz="1800" b="1" noProof="0" dirty="0"/>
                  <a:t>minimum 	cost </a:t>
                </a:r>
                <a:r>
                  <a:rPr lang="en-US" sz="1800" noProof="0" dirty="0"/>
                  <a:t>among all possible paths from start to goal.</a:t>
                </a:r>
              </a:p>
              <a:p>
                <a:pPr lvl="2" algn="just"/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 algn="just"/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Efficiency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for the path planning to not be the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bottleneck of UAV performance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it needs to use the least amount possible of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computer resources 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work at desired frequency.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5"/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3E2240D-37D6-61AB-3CA2-ECFB64F4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20" y="1257189"/>
                <a:ext cx="10682748" cy="5100563"/>
              </a:xfrm>
              <a:prstGeom prst="rect">
                <a:avLst/>
              </a:prstGeom>
              <a:blipFill>
                <a:blip r:embed="rId3"/>
                <a:stretch>
                  <a:fillRect l="-514" t="-597" r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79E4C5BE-FBDD-A468-B27E-AB5B2485C7F4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859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703F2F5C-A8B3-3025-5C7D-6345A508A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57074B87-E4AE-036F-B686-E1CCF2F866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258119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1.1 Introduction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Path Planning – Different Methods 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CE6BE44D-054B-08D2-0A35-6C7F420F2567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0B32F3F7-2FB8-C8B4-1927-CC1D386E8E1B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C71841-0197-B426-11A1-8BDBE947C51C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9C7DA0C-5DF8-DD56-0175-7F69AB83A1A9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2DFB3A-D1AE-B7D3-4016-F4281C81F10A}"/>
              </a:ext>
            </a:extLst>
          </p:cNvPr>
          <p:cNvSpPr txBox="1"/>
          <p:nvPr/>
        </p:nvSpPr>
        <p:spPr>
          <a:xfrm>
            <a:off x="585019" y="1101368"/>
            <a:ext cx="1102196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first two algorithms developed for path planning are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Dijkstra's and A*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They will serve as a basis for explaining the behavior of more advanced ones, and the main topic of this presentation, D* lite and AI powered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8"/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Dijkstra's method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8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8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8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8"/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lvl="8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8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8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8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8"/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While this method is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and optimal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there are two main disadvantages that makes it 	obsolete: need to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perfectly know the environment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any modification in it make necessary the 	complete re-computation of the path, and because it performs the evaluation in the full grid, its 	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cost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high order systems really limits its applications.</a:t>
            </a:r>
          </a:p>
          <a:p>
            <a:pPr lvl="8"/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AAA48B2-16CF-F11D-8338-747F83173191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E2ED0F4-BFEA-2E86-A8FE-577528BDA4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6337183"/>
              </p:ext>
            </p:extLst>
          </p:nvPr>
        </p:nvGraphicFramePr>
        <p:xfrm>
          <a:off x="460478" y="1750599"/>
          <a:ext cx="11323822" cy="344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045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B3D2732-1BAD-431A-8A84-E6715828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72BDA166-B5DF-F208-EDE8-65C2624A5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258119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1.1 Introduction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Path Planning – Different Methods 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B751EFC9-A609-135C-D867-CA33A2F617A1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6524002B-D222-26A7-69F3-07E6CECF2888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BDB2FC-1321-F6D0-AE57-F7AB016DE3A5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28B743-0E00-6A05-7ABC-EAD95F394A61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C278E08-1B3F-086A-36FD-DFA298A37CBE}"/>
                  </a:ext>
                </a:extLst>
              </p:cNvPr>
              <p:cNvSpPr txBox="1"/>
              <p:nvPr/>
            </p:nvSpPr>
            <p:spPr>
              <a:xfrm>
                <a:off x="437535" y="1120676"/>
                <a:ext cx="11021961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8" indent="-285750" algn="just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A* method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by using a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heuristic modification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the evaluation function, the algorithm rewards the points that closes distance with the goal (with more or less intensity depending on the weighting of this function). </a:t>
                </a:r>
              </a:p>
              <a:p>
                <a:pPr marL="285750" lvl="8" indent="-285750" algn="just">
                  <a:buFont typeface="Arial" panose="020B0604020202020204" pitchFamily="34" charset="0"/>
                  <a:buChar char="•"/>
                </a:pPr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8" indent="-285750" algn="just">
                  <a:buFont typeface="Arial" panose="020B0604020202020204" pitchFamily="34" charset="0"/>
                  <a:buChar char="•"/>
                </a:pPr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8" algn="ctr"/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f being the total cost function of a node, g is Dijkstra’s cost function, h is the heuristic function (contains, for example, the straight distance to the goal)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</m:oMath>
                </a14:m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weighting parameter. </a:t>
                </a:r>
              </a:p>
              <a:p>
                <a:pPr lvl="8" algn="ctr"/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8" indent="-285750" algn="just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Same problem with environment modification as Dijkstra, but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more computationally effective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lvl="8" indent="-285750" algn="just">
                  <a:buFont typeface="Arial" panose="020B0604020202020204" pitchFamily="34" charset="0"/>
                  <a:buChar char="•"/>
                </a:pPr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8" indent="-285750" algn="just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an autonomous UAV to have a decent performance, it needs an algorithm that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resolves faster unexpected changes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the environment. For urban zones specially, where numerous variables and events are common, but also for non previously explored regions. For this matter the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D*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D* lite 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algorithm exist.</a:t>
                </a:r>
              </a:p>
              <a:p>
                <a:pPr marL="285750" lvl="8" indent="-285750" algn="just">
                  <a:buFont typeface="Arial" panose="020B0604020202020204" pitchFamily="34" charset="0"/>
                  <a:buChar char="•"/>
                </a:pPr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C278E08-1B3F-086A-36FD-DFA298A37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35" y="1120676"/>
                <a:ext cx="11021961" cy="4247317"/>
              </a:xfrm>
              <a:prstGeom prst="rect">
                <a:avLst/>
              </a:prstGeom>
              <a:blipFill>
                <a:blip r:embed="rId3"/>
                <a:stretch>
                  <a:fillRect l="-387" t="-861" r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9E9991F4-CCA9-F87B-0087-081753CA73F4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2D9D2F9-46D7-631D-37D8-BAB325B24F14}"/>
                  </a:ext>
                </a:extLst>
              </p:cNvPr>
              <p:cNvSpPr txBox="1"/>
              <p:nvPr/>
            </p:nvSpPr>
            <p:spPr>
              <a:xfrm>
                <a:off x="5109538" y="2072364"/>
                <a:ext cx="147316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ωh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2D9D2F9-46D7-631D-37D8-BAB325B24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538" y="2072364"/>
                <a:ext cx="1473160" cy="307777"/>
              </a:xfrm>
              <a:prstGeom prst="rect">
                <a:avLst/>
              </a:prstGeom>
              <a:blipFill>
                <a:blip r:embed="rId4"/>
                <a:stretch>
                  <a:fillRect l="-3306" r="-3306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10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272715" y="2326125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2. D* method for path planning </a:t>
            </a:r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85C10A3-D572-F591-4813-1AC4A00BEB9A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64D6831-C1C7-D061-347B-8EEB9D754CFD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984B3AB-5C59-2FB2-6FA1-0520D568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CD97CDEA-C980-0494-BCEC-0562A6A04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2.1 D* method for path planning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Overview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3540FFA7-0137-52BA-B67B-2D6DB966C376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B0984386-C9F6-C39D-A3C4-B348EC271D8F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D6E666-FE27-B5AA-A2FF-BA7B7CC0E200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33D6E04-A604-21B1-65CF-F7CF12A3A9E4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819FDEE-BDBC-FCA5-B30C-A0F556EF4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44" y="1287553"/>
            <a:ext cx="11159920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Static Planners (A*/Dijkstra):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When an environment changes (e.g., a moving obstacle appears), static planners must discard the old path and </a:t>
            </a: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solve the entire search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task from scratch. This is extremely </a:t>
            </a: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inefficient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computationally intractable in very large or dynamic environments.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D* (Dynamic A*): 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solving again the entire path, 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D* reuses information 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previous searches, reducing significantly the number of operations needed for each iteration of path planning.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Therefore, when an unexpected obstacle is detected, it only updates the part of the </a:t>
            </a: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that is </a:t>
            </a: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affected by its presence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reducing again the computations needed for solving the problem.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D* Lite: </a:t>
            </a:r>
            <a:r>
              <a:rPr kumimoji="0" lang="en-US" sz="18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 having 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same navigational behavior as D*, its algorithm is simpler (based on another algorithm called </a:t>
            </a:r>
            <a:r>
              <a:rPr lang="en-US" sz="18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Lifelon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 Planning A*) 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optimized significantly, but sticking to the same principles as its base one [1].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00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25608F8D-C2C3-C263-6D8B-F2795677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040602CC-ECB5-0519-9855-AFB82B26D6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2.1 D* method for path planning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Behavior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D73CC2A5-5216-354E-9B60-AAF040747B09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E27299FB-37E7-5B5F-C650-75B4B155196F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2BFD51C-5F7D-4649-00A4-19E998E709C7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7DFCB2-6EC9-77E0-67A9-E6AA97C1E080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06EA9F-4202-0C30-6AAA-06600CFFB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10" y="1388678"/>
            <a:ext cx="11304843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D* lite </a:t>
            </a:r>
            <a:r>
              <a:rPr kumimoji="0" lang="en-US" sz="18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utilizes two new metrics for each cell, where </a:t>
            </a:r>
            <a:r>
              <a:rPr kumimoji="0" lang="en-US" sz="1800" i="1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0" lang="en-US" sz="18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represents the cost from the previous search </a:t>
            </a:r>
            <a:r>
              <a:rPr kumimoji="0" lang="en-US" sz="180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kumimoji="0" lang="en-US" sz="1800" i="1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rhs</a:t>
            </a:r>
            <a:r>
              <a:rPr kumimoji="0" lang="en-US" sz="1800" i="1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current iteration one.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E1E663-6CA1-7251-9B88-BDCE3A34937B}"/>
                  </a:ext>
                </a:extLst>
              </p:cNvPr>
              <p:cNvSpPr txBox="1"/>
              <p:nvPr/>
            </p:nvSpPr>
            <p:spPr>
              <a:xfrm>
                <a:off x="342909" y="2206661"/>
                <a:ext cx="1074871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𝑟h𝑠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𝐶𝑜𝑛𝑠𝑖𝑠𝑡𝑒𝑛𝑡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latin typeface="Cambria Math" panose="02040503050406030204" pitchFamily="18" charset="0"/>
                      </a:rPr>
                      <m:t>Save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latin typeface="Cambria Math" panose="02040503050406030204" pitchFamily="18" charset="0"/>
                      </a:rPr>
                      <m:t>next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latin typeface="Cambria Math" panose="02040503050406030204" pitchFamily="18" charset="0"/>
                      </a:rPr>
                      <m:t>iteration</m:t>
                    </m:r>
                  </m:oMath>
                </a14:m>
                <a:r>
                  <a:rPr lang="en-US" b="0" noProof="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𝑟h𝑠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𝐼𝑛𝑐𝑜𝑛𝑠𝑖𝑠𝑡𝑒𝑛𝑡</m:t>
                      </m:r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r>
                        <m:rPr>
                          <m:lit/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Update</m:t>
                      </m:r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queue</m:t>
                      </m:r>
                    </m:oMath>
                  </m:oMathPara>
                </a14:m>
                <a:endParaRPr lang="en-US" i="1" noProof="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AE1E663-6CA1-7251-9B88-BDCE3A349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9" y="2206661"/>
                <a:ext cx="10748713" cy="615553"/>
              </a:xfrm>
              <a:prstGeom prst="rect">
                <a:avLst/>
              </a:prstGeom>
              <a:blipFill>
                <a:blip r:embed="rId3"/>
                <a:stretch>
                  <a:fillRect b="-15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>
                <a:extLst>
                  <a:ext uri="{FF2B5EF4-FFF2-40B4-BE49-F238E27FC236}">
                    <a16:creationId xmlns:a16="http://schemas.microsoft.com/office/drawing/2014/main" id="{4D54A4DF-B308-41F6-7478-D12927B5F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457" y="2999832"/>
                <a:ext cx="11304843" cy="22621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When updating new values of the nodes, it checks if the addition of the obstacle is affecting at all that node. In the negative case, the algorithm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doesn’t update it 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that’s the limit point that remains the same as the previous iteration.  This effects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limits the search 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the points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only to surroundings 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the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obstacle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reducing computations as said. </a:t>
                </a:r>
              </a:p>
              <a:p>
                <a:pPr marL="285750" lvl="0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endParaRPr lang="en-US" sz="18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Another variable used to increase efficiency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</m:e>
                      <m:sub>
                        <m:r>
                          <a:rPr lang="en-US" sz="18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that reduces the </a:t>
                </a:r>
                <a:r>
                  <a:rPr lang="en-US" sz="18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re-sorting </a:t>
                </a:r>
                <a:r>
                  <a:rPr lang="en-US" sz="18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the update queue that would be produced in each iteration because of new values of heuristic.</a:t>
                </a: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kumimoji="0" lang="en-US" sz="180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2">
                <a:extLst>
                  <a:ext uri="{FF2B5EF4-FFF2-40B4-BE49-F238E27FC236}">
                    <a16:creationId xmlns:a16="http://schemas.microsoft.com/office/drawing/2014/main" id="{4D54A4DF-B308-41F6-7478-D12927B5F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457" y="2999832"/>
                <a:ext cx="11304843" cy="2262158"/>
              </a:xfrm>
              <a:prstGeom prst="rect">
                <a:avLst/>
              </a:prstGeom>
              <a:blipFill>
                <a:blip r:embed="rId4"/>
                <a:stretch>
                  <a:fillRect l="-378" t="-2965" r="-4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44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7C9B5EC6-9F65-26B5-29C5-30F929BB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2E55291B-8D49-00F3-BD88-82781E4FE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2.2 D* method for path planning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D* lite risk-aware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EF7B96E0-B8CE-272B-0F27-6BD6281B5765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EA4B5FCC-A806-311D-4657-C496162FFB0C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BA49727-02D0-7F4D-DE4B-FEE318DC0A91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5C2146-4A6E-DA68-116E-D80578F9C49F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75407A5-D6D8-9FD4-B832-9578D70F8D69}"/>
                  </a:ext>
                </a:extLst>
              </p:cNvPr>
              <p:cNvSpPr txBox="1"/>
              <p:nvPr/>
            </p:nvSpPr>
            <p:spPr>
              <a:xfrm>
                <a:off x="501445" y="1149050"/>
                <a:ext cx="1114977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1" noProof="0" dirty="0"/>
                  <a:t>D* lite risk-aware</a:t>
                </a:r>
                <a:r>
                  <a:rPr lang="en-US" sz="1800" noProof="0" dirty="0"/>
                  <a:t> algorithm [2] is a modification of the D* lite that takes </a:t>
                </a:r>
                <a:r>
                  <a:rPr lang="en-US" sz="1800" b="1" noProof="0" dirty="0"/>
                  <a:t>risk </a:t>
                </a:r>
                <a:r>
                  <a:rPr lang="en-US" sz="1800" noProof="0" dirty="0"/>
                  <a:t>into account</a:t>
                </a:r>
                <a:r>
                  <a:rPr lang="en-US" sz="1800" b="1" noProof="0" dirty="0"/>
                  <a:t>. </a:t>
                </a:r>
                <a:r>
                  <a:rPr lang="en-US" sz="1800" noProof="0" dirty="0"/>
                  <a:t>This is introduced mathematically in the cost 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b="1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b="1" noProof="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1" i="1" noProof="0" smtClean="0">
                          <a:latin typeface="Cambria Math" panose="02040503050406030204" pitchFamily="18" charset="0"/>
                        </a:rPr>
                        <m:t>Cost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 b="1" i="1" noProof="0" smtClean="0">
                          <a:latin typeface="Cambria Math" panose="02040503050406030204" pitchFamily="18" charset="0"/>
                        </a:rPr>
                        <m:t>Distance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1800" b="1" i="1" noProof="0" smtClean="0">
                          <a:latin typeface="Cambria Math" panose="02040503050406030204" pitchFamily="18" charset="0"/>
                        </a:rPr>
                        <m:t>both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1" i="1" noProof="0" smtClean="0">
                          <a:latin typeface="Cambria Math" panose="02040503050406030204" pitchFamily="18" charset="0"/>
                        </a:rPr>
                        <m:t>real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1" i="1" noProof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1" i="1" noProof="0" smtClean="0">
                          <a:latin typeface="Cambria Math" panose="02040503050406030204" pitchFamily="18" charset="0"/>
                        </a:rPr>
                        <m:t>heuristic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)+ </m:t>
                      </m:r>
                      <m:r>
                        <m:rPr>
                          <m:sty m:val="p"/>
                        </m:rPr>
                        <a:rPr lang="en-US" sz="1800" b="1" i="1" noProof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 b="1" i="1" noProof="0" smtClean="0">
                          <a:latin typeface="Cambria Math" panose="02040503050406030204" pitchFamily="18" charset="0"/>
                        </a:rPr>
                        <m:t>risk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noProof="0" dirty="0"/>
              </a:p>
              <a:p>
                <a:pPr lvl="1"/>
                <a:endParaRPr lang="en-US" sz="1800" b="1" noProof="0" dirty="0"/>
              </a:p>
              <a:p>
                <a:pPr lvl="1"/>
                <a:endParaRPr lang="en-US" sz="1800" b="1" noProof="0" dirty="0"/>
              </a:p>
              <a:p>
                <a:pPr lvl="1"/>
                <a:endParaRPr lang="en-US" sz="1800" b="1" noProof="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/>
                  <a:t>This risk is increased in points </a:t>
                </a:r>
                <a:r>
                  <a:rPr lang="en-US" sz="1800" b="1" noProof="0" dirty="0"/>
                  <a:t>too close to obstacles </a:t>
                </a:r>
                <a:r>
                  <a:rPr lang="en-US" sz="1800" noProof="0" dirty="0"/>
                  <a:t>and unknown/</a:t>
                </a:r>
                <a:r>
                  <a:rPr lang="en-US" sz="1800" b="1" noProof="0" dirty="0"/>
                  <a:t>unexplored points</a:t>
                </a:r>
                <a:r>
                  <a:rPr lang="en-US" sz="1800" noProof="0" dirty="0"/>
                  <a:t>, contrary to D* lite algorithm, which is optimistic with respect to that points.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800" noProof="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/>
                  <a:t>Despite all this, due to possible appearance of sudden obstacles and reaction time of the algorithm not being suited for certain speeds, it is recommended [2] to incorporate in the UAV a </a:t>
                </a:r>
                <a:r>
                  <a:rPr lang="en-US" sz="1800" b="1" noProof="0" dirty="0"/>
                  <a:t>reactive system</a:t>
                </a:r>
                <a:r>
                  <a:rPr lang="en-US" sz="1800" noProof="0" dirty="0"/>
                  <a:t> to avoid collisions.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75407A5-D6D8-9FD4-B832-9578D70F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45" y="1149050"/>
                <a:ext cx="11149779" cy="3970318"/>
              </a:xfrm>
              <a:prstGeom prst="rect">
                <a:avLst/>
              </a:prstGeom>
              <a:blipFill>
                <a:blip r:embed="rId3"/>
                <a:stretch>
                  <a:fillRect l="-328" t="-767" b="-1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46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F473E7E2-848B-0D5D-A0D8-93F29638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F9B2C301-5EBA-0B38-73D9-BA3E25E47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2.2 D* method for path planning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D* lite risk-aware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488CDA2C-4999-0C9B-0503-C6B1A10F1B5A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57D47B45-CCC2-F358-3E77-CEA2678F5D94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1F5930-F126-7C31-0B31-46B06A39EE98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CCDD98B-A17E-A2E4-1D5C-CDF6F4A02531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BC0A083-99EE-E2BC-7486-67DDD60AC878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39BB68FF-1189-1536-C9DF-E091476A3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348" y="1149050"/>
            <a:ext cx="4635909" cy="483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77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7BA7ED8-2511-3CBF-FCD8-43050FA9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6EDDCF87-8A05-1562-2E21-99BFEC20A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2.3 D* method for path planning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D* lite with neural heuristic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7B246B5A-2435-2D40-711C-1EAD56CF10F6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F03E4DFB-7C4C-22A0-10E1-77FB559162DC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4D2C7BA-B265-AA3D-DA28-558F26ADE78D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024E60-1E33-4E47-23E2-644587C32E8C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256536-24F8-CD35-CA4C-46ECD9E10FEA}"/>
              </a:ext>
            </a:extLst>
          </p:cNvPr>
          <p:cNvSpPr txBox="1"/>
          <p:nvPr/>
        </p:nvSpPr>
        <p:spPr>
          <a:xfrm>
            <a:off x="580103" y="1149050"/>
            <a:ext cx="11071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/>
              <a:t>This </a:t>
            </a:r>
            <a:r>
              <a:rPr lang="en-US" sz="1800" b="1" noProof="0" dirty="0"/>
              <a:t>D* lite </a:t>
            </a:r>
            <a:r>
              <a:rPr lang="en-US" sz="1800" noProof="0" dirty="0"/>
              <a:t>modification changes the traditional heuristic of Euclidean distance from that node to the goal/UAV with </a:t>
            </a:r>
            <a:r>
              <a:rPr lang="en-US" sz="1800" b="1" dirty="0"/>
              <a:t>Guidance Map</a:t>
            </a:r>
            <a:r>
              <a:rPr lang="en-US" sz="1800" dirty="0"/>
              <a:t> generated by a Convolutional Neural Network (CNN).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Drastically reduces </a:t>
            </a:r>
            <a:r>
              <a:rPr lang="en-US" sz="1800" b="1" dirty="0"/>
              <a:t>node exploration</a:t>
            </a:r>
            <a:r>
              <a:rPr lang="en-US" sz="1800" dirty="0"/>
              <a:t> (up to 90%), allowing the UAV to find optimal paths with significantly less CPU power [3]. </a:t>
            </a:r>
            <a:endParaRPr lang="en-US" sz="1800" noProof="0" dirty="0"/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9D0CFF5D-7D86-4391-F655-31D065B32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734" y="3071991"/>
            <a:ext cx="7112531" cy="263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37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DC5CFA-C023-AE01-D351-2ADC375D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>
            <a:extLst>
              <a:ext uri="{FF2B5EF4-FFF2-40B4-BE49-F238E27FC236}">
                <a16:creationId xmlns:a16="http://schemas.microsoft.com/office/drawing/2014/main" id="{9328AB91-FCBD-14EF-348D-1766BEE7B812}"/>
              </a:ext>
            </a:extLst>
          </p:cNvPr>
          <p:cNvSpPr txBox="1"/>
          <p:nvPr/>
        </p:nvSpPr>
        <p:spPr>
          <a:xfrm>
            <a:off x="272715" y="2326125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. Conclusions</a:t>
            </a:r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19C32B-C438-5BBF-F410-2021A97E727C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3E6124-744A-42DB-ACBC-AD91054B1279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0059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AB87BFF-ED6B-B1C2-1A9C-F48A512C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19E4C2D5-8473-2F8D-F398-991DA6A0AC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3.1. Conclusions</a:t>
            </a:r>
            <a:b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CBDA0707-0B27-D30A-0482-C04A72971AFA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00FA0548-FF21-FED1-340F-9DDCF15CD48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CA25FE-3773-F317-C4D2-55A89A236334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13ABDBC-BDD7-263A-1352-3207C220EECC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AC90D-13C4-BD80-9ECF-C387E3E01DF1}"/>
              </a:ext>
            </a:extLst>
          </p:cNvPr>
          <p:cNvSpPr txBox="1"/>
          <p:nvPr/>
        </p:nvSpPr>
        <p:spPr>
          <a:xfrm>
            <a:off x="585019" y="1257189"/>
            <a:ext cx="110219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Computational Efficiency via Incremental Planning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D* Lite remains the industry standard for dynamic environments because it only updates the "inconsistent" nodes affected by new obstacles, avoiding recalculating the entire map.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Through Risk-Awareness (D+*)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Modern field-resilient navigation requires more than just avoiding obstacles; by treating unknown spaces and proximity to walls as "Risk Costs," we can ensure UAVs maintain a safety buffer and avoid the "optimistic" shortcuts that lead to dead 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Guidance as the Future of Search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integration of Deep Learning (Neural A*/D*) allows search-based algorithms to include visual "intuition." This drastically reduces node exploration—often by over 80%—while guaranteeing optimality and success that are missing from pure AI models.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B1E72C-128F-A95D-771D-955420EEF093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8784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B2C0FBC-C137-963F-2878-91D63B4B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3177413E-F769-0B9E-744D-43E379FA7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Sources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153818DC-037A-9397-6992-9BB6950C08D9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965096B1-F4B7-1E32-3CD7-CF8125B093D7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FD0B5A-51BB-2C52-8554-185FA97B2D39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916C0A9-392D-86AC-C473-19EC0E60BAB8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2A4C66-51E3-E56A-4E62-B6D3E2502B19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9E1B9F-FB3A-054E-E519-AA909D591BAD}"/>
              </a:ext>
            </a:extLst>
          </p:cNvPr>
          <p:cNvSpPr txBox="1"/>
          <p:nvPr/>
        </p:nvSpPr>
        <p:spPr>
          <a:xfrm>
            <a:off x="552623" y="1366869"/>
            <a:ext cx="110219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/>
              <a:t>[1] S. Koenig and M. Likhachev, "D* lite," in </a:t>
            </a:r>
            <a:r>
              <a:rPr lang="en-US" sz="1800" i="1" noProof="0" dirty="0"/>
              <a:t>Proceedings of the Eighteenth National Conference on Artificial Intelligence (AAAI)</a:t>
            </a:r>
            <a:r>
              <a:rPr lang="en-US" sz="1800" noProof="0" dirty="0"/>
              <a:t>, 2002, pp. 476-483.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S. Karlsson, A. Koval, C. </a:t>
            </a:r>
            <a:r>
              <a:rPr lang="en-US" sz="18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Kanellakis</a:t>
            </a:r>
            <a:r>
              <a:rPr lang="en-US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G. Nikolakopoulos, "D+*: A risk aware platform agnostic heterogeneous path planner," Expert Systems with Applications, vol. 215, p. 119408,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R. Yonetani, T.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Taniai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Barekatain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 Nishimura, and A.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Kanezaki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"Path planning using Neural A* search,"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preprint arXiv:2009.07476v3, Jul. 2021.</a:t>
            </a:r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71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2F7EF2F5-44CA-5AFA-B017-BD3CD91C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">
            <a:extLst>
              <a:ext uri="{FF2B5EF4-FFF2-40B4-BE49-F238E27FC236}">
                <a16:creationId xmlns:a16="http://schemas.microsoft.com/office/drawing/2014/main" id="{B769321E-ABC7-FD2D-F3A8-0ACC73865603}"/>
              </a:ext>
            </a:extLst>
          </p:cNvPr>
          <p:cNvSpPr txBox="1"/>
          <p:nvPr/>
        </p:nvSpPr>
        <p:spPr>
          <a:xfrm>
            <a:off x="272715" y="2286796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Thanks for your attention</a:t>
            </a:r>
            <a:endParaRPr lang="en-US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FE8A69-16B9-C586-2BB9-293AE1E1E658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186E5F-F4DB-23F8-5D68-9545A341223B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1522534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4030CE45C36B4A83D9CDC536671415" ma:contentTypeVersion="17" ma:contentTypeDescription="Crear nuevo documento." ma:contentTypeScope="" ma:versionID="f60326b8b4c25fa41f58c61f6e0f6e64">
  <xsd:schema xmlns:xsd="http://www.w3.org/2001/XMLSchema" xmlns:xs="http://www.w3.org/2001/XMLSchema" xmlns:p="http://schemas.microsoft.com/office/2006/metadata/properties" xmlns:ns3="1278d7d4-dd0b-4055-b1a9-17fe5d740a4d" xmlns:ns4="5ee1f9d4-7756-44e8-a52d-17df586bfe7e" targetNamespace="http://schemas.microsoft.com/office/2006/metadata/properties" ma:root="true" ma:fieldsID="540dfc212b133c32cb979f5817de94c4" ns3:_="" ns4:_="">
    <xsd:import namespace="1278d7d4-dd0b-4055-b1a9-17fe5d740a4d"/>
    <xsd:import namespace="5ee1f9d4-7756-44e8-a52d-17df586bfe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78d7d4-dd0b-4055-b1a9-17fe5d740a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1f9d4-7756-44e8-a52d-17df586bfe7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78d7d4-dd0b-4055-b1a9-17fe5d740a4d" xsi:nil="true"/>
  </documentManagement>
</p:properties>
</file>

<file path=customXml/itemProps1.xml><?xml version="1.0" encoding="utf-8"?>
<ds:datastoreItem xmlns:ds="http://schemas.openxmlformats.org/officeDocument/2006/customXml" ds:itemID="{1D8E9DC8-A8C7-4E46-8642-F4F793EE9D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74F291-9728-4788-A539-8BFDC5F28A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78d7d4-dd0b-4055-b1a9-17fe5d740a4d"/>
    <ds:schemaRef ds:uri="5ee1f9d4-7756-44e8-a52d-17df586bfe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1EDDED-CDCD-4B2F-BCED-5C86DCD8D7A9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5ee1f9d4-7756-44e8-a52d-17df586bfe7e"/>
    <ds:schemaRef ds:uri="http://purl.org/dc/terms/"/>
    <ds:schemaRef ds:uri="http://purl.org/dc/dcmitype/"/>
    <ds:schemaRef ds:uri="http://schemas.microsoft.com/office/infopath/2007/PartnerControls"/>
    <ds:schemaRef ds:uri="1278d7d4-dd0b-4055-b1a9-17fe5d740a4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1628</Words>
  <Application>Microsoft Office PowerPoint</Application>
  <PresentationFormat>Panorámica</PresentationFormat>
  <Paragraphs>121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Cambria Math</vt:lpstr>
      <vt:lpstr>Noto Sans Symbols</vt:lpstr>
      <vt:lpstr>Calibri</vt:lpstr>
      <vt:lpstr>Arial Black</vt:lpstr>
      <vt:lpstr>POLI</vt:lpstr>
      <vt:lpstr>Presentación de PowerPoint</vt:lpstr>
      <vt:lpstr>Presentación de PowerPoint</vt:lpstr>
      <vt:lpstr>1.1 Introduction  Path Planning – Context &amp; Architecture integration    </vt:lpstr>
      <vt:lpstr>1.1 Introduction  Path Planning    </vt:lpstr>
      <vt:lpstr>1.1 Introduction  Path Planning – Different Methods     </vt:lpstr>
      <vt:lpstr>1.1 Introduction  Path Planning – Different Methods     </vt:lpstr>
      <vt:lpstr>Presentación de PowerPoint</vt:lpstr>
      <vt:lpstr>2.1 D* method for path planning  Overview    </vt:lpstr>
      <vt:lpstr>2.1 D* method for path planning  Behavior    </vt:lpstr>
      <vt:lpstr>2.2 D* method for path planning  D* lite risk-aware    </vt:lpstr>
      <vt:lpstr>2.2 D* method for path planning  D* lite risk-aware      </vt:lpstr>
      <vt:lpstr>2.3 D* method for path planning  D* lite with neural heuristic    </vt:lpstr>
      <vt:lpstr>Presentación de PowerPoint</vt:lpstr>
      <vt:lpstr>3.1. Conclusions      </vt:lpstr>
      <vt:lpstr>Sources   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Alessandro Colleoni</dc:creator>
  <cp:lastModifiedBy>FRANCISCO JAVIER MARTIN LOPEZ</cp:lastModifiedBy>
  <cp:revision>20</cp:revision>
  <dcterms:created xsi:type="dcterms:W3CDTF">2015-05-26T12:27:57Z</dcterms:created>
  <dcterms:modified xsi:type="dcterms:W3CDTF">2026-02-25T11:55:00Z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0x0101005E4030CE45C36B4A83D9CDC536671415</vt:lpwstr>
  </property>
</Properties>
</file>